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f58c6403a1_4_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g3f58c6403a1_4_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 name="Google Shape;55;g3f58c6403a1_4_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f58c6403a1_4_11: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 name="Google Shape;66;g3f58c6403a1_4_11: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 name="Google Shape;67;g3f58c6403a1_4_11: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f58c6403a1_8_31: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g3f58c6403a1_8_31: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 name="Google Shape;89;g3f58c6403a1_8_31: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f58c6403a1_8_54: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 name="Google Shape;112;g3f58c6403a1_8_54: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g3f58c6403a1_8_54: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f58c6403a1_4_203: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 name="Google Shape;129;g3f58c6403a1_4_203: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g3f58c6403a1_4_203: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f58c6403a1_4_213: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 name="Google Shape;141;g3f58c6403a1_4_213: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g3f58c6403a1_4_213: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f58c6403a1_4_223: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 name="Google Shape;152;g3f58c6403a1_4_223: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g3f58c6403a1_4_223: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f58c6403a1_4_233: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 name="Google Shape;163;g3f58c6403a1_4_233: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g3f58c6403a1_4_233: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f58c6403a1_4_243: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g3f58c6403a1_4_243: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g3f58c6403a1_4_243: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f58c6403a1_4_255: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g3f58c6403a1_4_255: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g3f58c6403a1_4_255: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f58c6403a1_0_75: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 name="Google Shape;201;g3f58c6403a1_0_75: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g3f58c6403a1_0_75: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f58c6403a1_4_307: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3" name="Google Shape;213;g3f58c6403a1_4_307: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g3f58c6403a1_4_307: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f58c6403a1_4_337: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 name="Google Shape;244;g3f58c6403a1_4_337: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g3f58c6403a1_4_337: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f58c6403a1_4_294: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6" name="Google Shape;266;g3f58c6403a1_4_294: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 name="Google Shape;267;g3f58c6403a1_4_294: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f58c6403a1_4_377: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9" name="Google Shape;279;g3f58c6403a1_4_377: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 name="Google Shape;280;g3f58c6403a1_4_377: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f58c6403a1_4_404: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0" name="Google Shape;290;g3f58c6403a1_4_404: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 name="Google Shape;291;g3f58c6403a1_4_404: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f58c6403a1_4_425: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9" name="Google Shape;309;g3f58c6403a1_4_425: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0" name="Google Shape;310;g3f58c6403a1_4_425: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f58c6403a1_4_458: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9" name="Google Shape;329;g3f58c6403a1_4_458: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0" name="Google Shape;330;g3f58c6403a1_4_458: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f58c6403a1_4_494: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7" name="Google Shape;347;g3f58c6403a1_4_494: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8" name="Google Shape;348;g3f58c6403a1_4_494: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f58c6403a1_4_507: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1" name="Google Shape;361;g3f58c6403a1_4_507: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2" name="Google Shape;362;g3f58c6403a1_4_507: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2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2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31.png"/><Relationship Id="rId6"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28FF"/>
        </a:solidFill>
      </p:bgPr>
    </p:bg>
    <p:spTree>
      <p:nvGrpSpPr>
        <p:cNvPr id="56" name="Shape 56"/>
        <p:cNvGrpSpPr/>
        <p:nvPr/>
      </p:nvGrpSpPr>
      <p:grpSpPr>
        <a:xfrm>
          <a:off x="0" y="0"/>
          <a:ext cx="0" cy="0"/>
          <a:chOff x="0" y="0"/>
          <a:chExt cx="0" cy="0"/>
        </a:xfrm>
      </p:grpSpPr>
      <p:sp>
        <p:nvSpPr>
          <p:cNvPr id="57" name="Google Shape;57;p15"/>
          <p:cNvSpPr/>
          <p:nvPr/>
        </p:nvSpPr>
        <p:spPr>
          <a:xfrm>
            <a:off x="7475220" y="-891540"/>
            <a:ext cx="2880300" cy="2880300"/>
          </a:xfrm>
          <a:prstGeom prst="ellipse">
            <a:avLst/>
          </a:prstGeom>
          <a:solidFill>
            <a:srgbClr val="1A1A1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8" name="Google Shape;58;p15"/>
          <p:cNvSpPr/>
          <p:nvPr/>
        </p:nvSpPr>
        <p:spPr>
          <a:xfrm>
            <a:off x="-685800" y="4046220"/>
            <a:ext cx="2057400" cy="2057400"/>
          </a:xfrm>
          <a:prstGeom prst="ellipse">
            <a:avLst/>
          </a:prstGeom>
          <a:solidFill>
            <a:schemeClr val="lt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preencoded.png" id="59" name="Google Shape;59;p15"/>
          <p:cNvPicPr preferRelativeResize="0"/>
          <p:nvPr/>
        </p:nvPicPr>
        <p:blipFill rotWithShape="1">
          <a:blip r:embed="rId3">
            <a:alphaModFix/>
          </a:blip>
          <a:srcRect b="0" l="0" r="0" t="0"/>
          <a:stretch/>
        </p:blipFill>
        <p:spPr>
          <a:xfrm>
            <a:off x="8066644" y="4442545"/>
            <a:ext cx="925832" cy="152029"/>
          </a:xfrm>
          <a:prstGeom prst="rect">
            <a:avLst/>
          </a:prstGeom>
          <a:noFill/>
          <a:ln>
            <a:noFill/>
          </a:ln>
        </p:spPr>
      </p:pic>
      <p:sp>
        <p:nvSpPr>
          <p:cNvPr id="60" name="Google Shape;60;p15"/>
          <p:cNvSpPr/>
          <p:nvPr/>
        </p:nvSpPr>
        <p:spPr>
          <a:xfrm>
            <a:off x="617224" y="1370325"/>
            <a:ext cx="8036700" cy="1508700"/>
          </a:xfrm>
          <a:prstGeom prst="rect">
            <a:avLst/>
          </a:prstGeom>
          <a:noFill/>
          <a:ln>
            <a:noFill/>
          </a:ln>
        </p:spPr>
        <p:txBody>
          <a:bodyPr anchorCtr="0" anchor="ctr" bIns="34275" lIns="68575" spcFirstLastPara="1" rIns="68575" wrap="square" tIns="34275">
            <a:noAutofit/>
          </a:bodyPr>
          <a:lstStyle/>
          <a:p>
            <a:pPr indent="0" lvl="0" marL="0" marR="0" rtl="0" algn="l">
              <a:lnSpc>
                <a:spcPct val="102000"/>
              </a:lnSpc>
              <a:spcBef>
                <a:spcPts val="0"/>
              </a:spcBef>
              <a:spcAft>
                <a:spcPts val="0"/>
              </a:spcAft>
              <a:buClr>
                <a:srgbClr val="FFFFFF"/>
              </a:buClr>
              <a:buSzPts val="3900"/>
              <a:buFont typeface="Cambria"/>
              <a:buNone/>
            </a:pPr>
            <a:r>
              <a:rPr b="1" i="0" lang="fr" sz="3900" u="none" cap="none" strike="noStrike">
                <a:solidFill>
                  <a:srgbClr val="FFFFFF"/>
                </a:solidFill>
                <a:latin typeface="Cambria"/>
                <a:ea typeface="Cambria"/>
                <a:cs typeface="Cambria"/>
                <a:sym typeface="Cambria"/>
              </a:rPr>
              <a:t>Estimating Paris</a:t>
            </a:r>
            <a:endParaRPr b="0" i="0" sz="3900" u="none" cap="none" strike="noStrike">
              <a:solidFill>
                <a:schemeClr val="dk1"/>
              </a:solidFill>
              <a:latin typeface="Calibri"/>
              <a:ea typeface="Calibri"/>
              <a:cs typeface="Calibri"/>
              <a:sym typeface="Calibri"/>
            </a:endParaRPr>
          </a:p>
          <a:p>
            <a:pPr indent="0" lvl="0" marL="0" marR="0" rtl="0" algn="l">
              <a:lnSpc>
                <a:spcPct val="102000"/>
              </a:lnSpc>
              <a:spcBef>
                <a:spcPts val="0"/>
              </a:spcBef>
              <a:spcAft>
                <a:spcPts val="0"/>
              </a:spcAft>
              <a:buClr>
                <a:srgbClr val="FFFFFF"/>
              </a:buClr>
              <a:buSzPts val="3900"/>
              <a:buFont typeface="Cambria"/>
              <a:buNone/>
            </a:pPr>
            <a:r>
              <a:rPr b="1" i="0" lang="fr" sz="3900" u="none" cap="none" strike="noStrike">
                <a:solidFill>
                  <a:srgbClr val="FFFFFF"/>
                </a:solidFill>
                <a:latin typeface="Cambria"/>
                <a:ea typeface="Cambria"/>
                <a:cs typeface="Cambria"/>
                <a:sym typeface="Cambria"/>
              </a:rPr>
              <a:t>Property Prices</a:t>
            </a:r>
            <a:endParaRPr b="0" i="0" sz="3900" u="none" cap="none" strike="noStrike">
              <a:solidFill>
                <a:schemeClr val="dk1"/>
              </a:solidFill>
              <a:latin typeface="Calibri"/>
              <a:ea typeface="Calibri"/>
              <a:cs typeface="Calibri"/>
              <a:sym typeface="Calibri"/>
            </a:endParaRPr>
          </a:p>
        </p:txBody>
      </p:sp>
      <p:sp>
        <p:nvSpPr>
          <p:cNvPr id="61" name="Google Shape;61;p15"/>
          <p:cNvSpPr/>
          <p:nvPr/>
        </p:nvSpPr>
        <p:spPr>
          <a:xfrm>
            <a:off x="617225" y="3081025"/>
            <a:ext cx="6210000" cy="763200"/>
          </a:xfrm>
          <a:prstGeom prst="rect">
            <a:avLst/>
          </a:prstGeom>
          <a:noFill/>
          <a:ln>
            <a:noFill/>
          </a:ln>
        </p:spPr>
        <p:txBody>
          <a:bodyPr anchorCtr="0" anchor="ctr" bIns="34275" lIns="68575" spcFirstLastPara="1" rIns="68575" wrap="square" tIns="34275">
            <a:noAutofit/>
          </a:bodyPr>
          <a:lstStyle/>
          <a:p>
            <a:pPr indent="0" lvl="0" marL="0" rtl="0" algn="l">
              <a:lnSpc>
                <a:spcPct val="150000"/>
              </a:lnSpc>
              <a:spcBef>
                <a:spcPts val="0"/>
              </a:spcBef>
              <a:spcAft>
                <a:spcPts val="0"/>
              </a:spcAft>
              <a:buClr>
                <a:srgbClr val="D9D9D9"/>
              </a:buClr>
              <a:buSzPts val="1000"/>
              <a:buFont typeface="Calibri"/>
              <a:buNone/>
            </a:pPr>
            <a:r>
              <a:rPr b="1" lang="fr" sz="1200">
                <a:solidFill>
                  <a:srgbClr val="D9D9D9"/>
                </a:solidFill>
                <a:latin typeface="Calibri"/>
                <a:ea typeface="Calibri"/>
                <a:cs typeface="Calibri"/>
                <a:sym typeface="Calibri"/>
              </a:rPr>
              <a:t>Prepared by: </a:t>
            </a:r>
            <a:r>
              <a:rPr lang="fr" sz="1200">
                <a:solidFill>
                  <a:srgbClr val="FFFFFF"/>
                </a:solidFill>
                <a:latin typeface="Calibri"/>
                <a:ea typeface="Calibri"/>
                <a:cs typeface="Calibri"/>
                <a:sym typeface="Calibri"/>
              </a:rPr>
              <a:t>Yoser Bichiou</a:t>
            </a:r>
            <a:br>
              <a:rPr lang="fr" sz="1200">
                <a:solidFill>
                  <a:srgbClr val="FFFFFF"/>
                </a:solidFill>
                <a:latin typeface="Calibri"/>
                <a:ea typeface="Calibri"/>
                <a:cs typeface="Calibri"/>
                <a:sym typeface="Calibri"/>
              </a:rPr>
            </a:br>
            <a:r>
              <a:rPr b="1" lang="fr" sz="1200">
                <a:solidFill>
                  <a:srgbClr val="D9D9D9"/>
                </a:solidFill>
                <a:latin typeface="Calibri"/>
                <a:ea typeface="Calibri"/>
                <a:cs typeface="Calibri"/>
                <a:sym typeface="Calibri"/>
              </a:rPr>
              <a:t>Case study: </a:t>
            </a:r>
            <a:r>
              <a:rPr lang="fr" sz="1200">
                <a:solidFill>
                  <a:srgbClr val="FFFFFF"/>
                </a:solidFill>
                <a:latin typeface="Calibri"/>
                <a:ea typeface="Calibri"/>
                <a:cs typeface="Calibri"/>
                <a:sym typeface="Calibri"/>
              </a:rPr>
              <a:t>Automated Valuation Model</a:t>
            </a:r>
            <a:endParaRPr sz="1200">
              <a:solidFill>
                <a:srgbClr val="FFFFFF"/>
              </a:solidFill>
              <a:latin typeface="Calibri"/>
              <a:ea typeface="Calibri"/>
              <a:cs typeface="Calibri"/>
              <a:sym typeface="Calibri"/>
            </a:endParaRPr>
          </a:p>
          <a:p>
            <a:pPr indent="0" lvl="0" marL="0" rtl="0" algn="l">
              <a:lnSpc>
                <a:spcPct val="150000"/>
              </a:lnSpc>
              <a:spcBef>
                <a:spcPts val="0"/>
              </a:spcBef>
              <a:spcAft>
                <a:spcPts val="0"/>
              </a:spcAft>
              <a:buClr>
                <a:srgbClr val="D9D9D9"/>
              </a:buClr>
              <a:buSzPts val="1000"/>
              <a:buFont typeface="Calibri"/>
              <a:buNone/>
            </a:pPr>
            <a:r>
              <a:rPr b="1" lang="fr" sz="1200">
                <a:solidFill>
                  <a:srgbClr val="D9D9D9"/>
                </a:solidFill>
                <a:latin typeface="Calibri"/>
                <a:ea typeface="Calibri"/>
                <a:cs typeface="Calibri"/>
                <a:sym typeface="Calibri"/>
              </a:rPr>
              <a:t>Date: </a:t>
            </a:r>
            <a:r>
              <a:rPr lang="fr" sz="1200">
                <a:solidFill>
                  <a:srgbClr val="FFFFFF"/>
                </a:solidFill>
                <a:latin typeface="Calibri"/>
                <a:ea typeface="Calibri"/>
                <a:cs typeface="Calibri"/>
                <a:sym typeface="Calibri"/>
              </a:rPr>
              <a:t>July 2026</a:t>
            </a:r>
            <a:endParaRPr b="1" sz="1200">
              <a:solidFill>
                <a:srgbClr val="FFFFFF"/>
              </a:solidFill>
              <a:latin typeface="Calibri"/>
              <a:ea typeface="Calibri"/>
              <a:cs typeface="Calibri"/>
              <a:sym typeface="Calibri"/>
            </a:endParaRPr>
          </a:p>
        </p:txBody>
      </p:sp>
      <p:sp>
        <p:nvSpPr>
          <p:cNvPr id="62" name="Google Shape;62;p15"/>
          <p:cNvSpPr/>
          <p:nvPr/>
        </p:nvSpPr>
        <p:spPr>
          <a:xfrm>
            <a:off x="617220" y="1028700"/>
            <a:ext cx="6858000" cy="2742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000FF"/>
              </a:buClr>
              <a:buSzPts val="1000"/>
              <a:buFont typeface="Calibri"/>
              <a:buNone/>
            </a:pPr>
            <a:r>
              <a:rPr b="1" i="0" lang="fr" sz="1100" u="none" cap="none" strike="noStrike">
                <a:solidFill>
                  <a:schemeClr val="lt1"/>
                </a:solidFill>
                <a:latin typeface="Calibri"/>
                <a:ea typeface="Calibri"/>
                <a:cs typeface="Calibri"/>
                <a:sym typeface="Calibri"/>
              </a:rPr>
              <a:t>HOUSING MARKET DATA SCIENCE</a:t>
            </a:r>
            <a:endParaRPr b="0" i="0" sz="1100" u="none" cap="none" strike="noStrike">
              <a:solidFill>
                <a:schemeClr val="lt1"/>
              </a:solidFill>
              <a:latin typeface="Calibri"/>
              <a:ea typeface="Calibri"/>
              <a:cs typeface="Calibri"/>
              <a:sym typeface="Calibri"/>
            </a:endParaRPr>
          </a:p>
        </p:txBody>
      </p:sp>
      <p:cxnSp>
        <p:nvCxnSpPr>
          <p:cNvPr id="63" name="Google Shape;63;p15"/>
          <p:cNvCxnSpPr/>
          <p:nvPr/>
        </p:nvCxnSpPr>
        <p:spPr>
          <a:xfrm>
            <a:off x="698620" y="1302895"/>
            <a:ext cx="754500" cy="0"/>
          </a:xfrm>
          <a:prstGeom prst="straightConnector1">
            <a:avLst/>
          </a:prstGeom>
          <a:noFill/>
          <a:ln cap="flat" cmpd="sng" w="31750">
            <a:solidFill>
              <a:schemeClr val="lt1"/>
            </a:solidFill>
            <a:prstDash val="solid"/>
            <a:round/>
            <a:headEnd len="sm" w="sm" type="none"/>
            <a:tailEnd len="sm" w="sm"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8" name="Shape 68"/>
        <p:cNvGrpSpPr/>
        <p:nvPr/>
      </p:nvGrpSpPr>
      <p:grpSpPr>
        <a:xfrm>
          <a:off x="0" y="0"/>
          <a:ext cx="0" cy="0"/>
          <a:chOff x="0" y="0"/>
          <a:chExt cx="0" cy="0"/>
        </a:xfrm>
      </p:grpSpPr>
      <p:pic>
        <p:nvPicPr>
          <p:cNvPr descr="preencoded.png" id="69" name="Google Shape;69;p16"/>
          <p:cNvPicPr preferRelativeResize="0"/>
          <p:nvPr/>
        </p:nvPicPr>
        <p:blipFill rotWithShape="1">
          <a:blip r:embed="rId3">
            <a:alphaModFix/>
          </a:blip>
          <a:srcRect b="0" l="0" r="0" t="0"/>
          <a:stretch/>
        </p:blipFill>
        <p:spPr>
          <a:xfrm>
            <a:off x="7838694" y="274320"/>
            <a:ext cx="925830" cy="152029"/>
          </a:xfrm>
          <a:prstGeom prst="rect">
            <a:avLst/>
          </a:prstGeom>
          <a:noFill/>
          <a:ln>
            <a:noFill/>
          </a:ln>
        </p:spPr>
      </p:pic>
      <p:sp>
        <p:nvSpPr>
          <p:cNvPr id="70" name="Google Shape;70;p16"/>
          <p:cNvSpPr/>
          <p:nvPr/>
        </p:nvSpPr>
        <p:spPr>
          <a:xfrm>
            <a:off x="480060" y="651510"/>
            <a:ext cx="7818120" cy="65151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7181C"/>
              </a:buClr>
              <a:buSzPts val="2000"/>
              <a:buFont typeface="Cambria"/>
              <a:buNone/>
            </a:pPr>
            <a:r>
              <a:rPr b="1" lang="fr" sz="2000">
                <a:solidFill>
                  <a:srgbClr val="17181C"/>
                </a:solidFill>
                <a:latin typeface="Cambria"/>
                <a:ea typeface="Cambria"/>
                <a:cs typeface="Cambria"/>
                <a:sym typeface="Cambria"/>
              </a:rPr>
              <a:t>Table of Contents</a:t>
            </a:r>
            <a:endParaRPr b="0" i="0" sz="2000" u="none" cap="none" strike="noStrike">
              <a:solidFill>
                <a:schemeClr val="dk1"/>
              </a:solidFill>
              <a:latin typeface="Calibri"/>
              <a:ea typeface="Calibri"/>
              <a:cs typeface="Calibri"/>
              <a:sym typeface="Calibri"/>
            </a:endParaRPr>
          </a:p>
        </p:txBody>
      </p:sp>
      <p:sp>
        <p:nvSpPr>
          <p:cNvPr id="71" name="Google Shape;71;p16"/>
          <p:cNvSpPr/>
          <p:nvPr/>
        </p:nvSpPr>
        <p:spPr>
          <a:xfrm>
            <a:off x="8558784" y="4855464"/>
            <a:ext cx="274320"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9CA0A8"/>
              </a:buClr>
              <a:buSzPts val="800"/>
              <a:buFont typeface="Calibri"/>
              <a:buNone/>
            </a:pPr>
            <a:r>
              <a:rPr b="0" i="0" lang="fr" sz="800" u="none" cap="none" strike="noStrike">
                <a:solidFill>
                  <a:srgbClr val="9CA0A8"/>
                </a:solidFill>
                <a:latin typeface="Calibri"/>
                <a:ea typeface="Calibri"/>
                <a:cs typeface="Calibri"/>
                <a:sym typeface="Calibri"/>
              </a:rPr>
              <a:t>2</a:t>
            </a:r>
            <a:endParaRPr b="0" i="0" sz="800" u="none" cap="none" strike="noStrike">
              <a:solidFill>
                <a:schemeClr val="dk1"/>
              </a:solidFill>
              <a:latin typeface="Calibri"/>
              <a:ea typeface="Calibri"/>
              <a:cs typeface="Calibri"/>
              <a:sym typeface="Calibri"/>
            </a:endParaRPr>
          </a:p>
        </p:txBody>
      </p:sp>
      <p:sp>
        <p:nvSpPr>
          <p:cNvPr id="72" name="Google Shape;72;p16"/>
          <p:cNvSpPr/>
          <p:nvPr/>
        </p:nvSpPr>
        <p:spPr>
          <a:xfrm>
            <a:off x="480060" y="2057400"/>
            <a:ext cx="1028700" cy="3771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D8D7D2"/>
              </a:buClr>
              <a:buSzPts val="1800"/>
              <a:buFont typeface="Cambria"/>
              <a:buNone/>
            </a:pPr>
            <a:r>
              <a:rPr b="1" i="0" lang="fr" sz="1900" u="none" cap="none" strike="noStrike">
                <a:solidFill>
                  <a:srgbClr val="1428FF"/>
                </a:solidFill>
                <a:latin typeface="Cambria"/>
                <a:ea typeface="Cambria"/>
                <a:cs typeface="Cambria"/>
                <a:sym typeface="Cambria"/>
              </a:rPr>
              <a:t>01</a:t>
            </a:r>
            <a:endParaRPr b="0" i="0" sz="1900" u="none" cap="none" strike="noStrike">
              <a:solidFill>
                <a:srgbClr val="1428FF"/>
              </a:solidFill>
              <a:latin typeface="Calibri"/>
              <a:ea typeface="Calibri"/>
              <a:cs typeface="Calibri"/>
              <a:sym typeface="Calibri"/>
            </a:endParaRPr>
          </a:p>
        </p:txBody>
      </p:sp>
      <p:sp>
        <p:nvSpPr>
          <p:cNvPr id="73" name="Google Shape;73;p16"/>
          <p:cNvSpPr/>
          <p:nvPr/>
        </p:nvSpPr>
        <p:spPr>
          <a:xfrm>
            <a:off x="480050" y="2468875"/>
            <a:ext cx="1165800" cy="617100"/>
          </a:xfrm>
          <a:prstGeom prst="rect">
            <a:avLst/>
          </a:prstGeom>
          <a:noFill/>
          <a:ln>
            <a:noFill/>
          </a:ln>
        </p:spPr>
        <p:txBody>
          <a:bodyPr anchorCtr="0" anchor="ctr" bIns="34275" lIns="68575" spcFirstLastPara="1" rIns="68575" wrap="square" tIns="34275">
            <a:noAutofit/>
          </a:bodyPr>
          <a:lstStyle/>
          <a:p>
            <a:pPr indent="0" lvl="0" marL="0" marR="0" rtl="0" algn="l">
              <a:lnSpc>
                <a:spcPct val="110000"/>
              </a:lnSpc>
              <a:spcBef>
                <a:spcPts val="0"/>
              </a:spcBef>
              <a:spcAft>
                <a:spcPts val="0"/>
              </a:spcAft>
              <a:buClr>
                <a:srgbClr val="17181C"/>
              </a:buClr>
              <a:buSzPts val="1100"/>
              <a:buFont typeface="Calibri"/>
              <a:buNone/>
            </a:pPr>
            <a:r>
              <a:rPr b="1" i="0" lang="fr" sz="1200" u="none" cap="none" strike="noStrike">
                <a:solidFill>
                  <a:srgbClr val="1428FF"/>
                </a:solidFill>
                <a:latin typeface="Cambria"/>
                <a:ea typeface="Cambria"/>
                <a:cs typeface="Cambria"/>
                <a:sym typeface="Cambria"/>
              </a:rPr>
              <a:t>Data</a:t>
            </a:r>
            <a:endParaRPr i="0" sz="1200" u="none" cap="none" strike="noStrike">
              <a:solidFill>
                <a:srgbClr val="1428FF"/>
              </a:solidFill>
              <a:latin typeface="Cambria"/>
              <a:ea typeface="Cambria"/>
              <a:cs typeface="Cambria"/>
              <a:sym typeface="Cambria"/>
            </a:endParaRPr>
          </a:p>
          <a:p>
            <a:pPr indent="0" lvl="0" marL="0" marR="0" rtl="0" algn="l">
              <a:lnSpc>
                <a:spcPct val="110000"/>
              </a:lnSpc>
              <a:spcBef>
                <a:spcPts val="0"/>
              </a:spcBef>
              <a:spcAft>
                <a:spcPts val="0"/>
              </a:spcAft>
              <a:buClr>
                <a:srgbClr val="17181C"/>
              </a:buClr>
              <a:buSzPts val="1100"/>
              <a:buFont typeface="Calibri"/>
              <a:buNone/>
            </a:pPr>
            <a:r>
              <a:rPr b="1" i="0" lang="fr" sz="1200" u="none" cap="none" strike="noStrike">
                <a:solidFill>
                  <a:srgbClr val="1428FF"/>
                </a:solidFill>
                <a:latin typeface="Cambria"/>
                <a:ea typeface="Cambria"/>
                <a:cs typeface="Cambria"/>
                <a:sym typeface="Cambria"/>
              </a:rPr>
              <a:t>Preprocessing</a:t>
            </a:r>
            <a:endParaRPr i="0" sz="1200" u="none" cap="none" strike="noStrike">
              <a:solidFill>
                <a:srgbClr val="1428FF"/>
              </a:solidFill>
              <a:latin typeface="Cambria"/>
              <a:ea typeface="Cambria"/>
              <a:cs typeface="Cambria"/>
              <a:sym typeface="Cambria"/>
            </a:endParaRPr>
          </a:p>
        </p:txBody>
      </p:sp>
      <p:sp>
        <p:nvSpPr>
          <p:cNvPr id="74" name="Google Shape;74;p16"/>
          <p:cNvSpPr/>
          <p:nvPr/>
        </p:nvSpPr>
        <p:spPr>
          <a:xfrm>
            <a:off x="1645920" y="2057400"/>
            <a:ext cx="1028700" cy="3771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D8D7D2"/>
              </a:buClr>
              <a:buSzPts val="1800"/>
              <a:buFont typeface="Cambria"/>
              <a:buNone/>
            </a:pPr>
            <a:r>
              <a:rPr b="1" i="0" lang="fr" sz="1900" u="none" cap="none" strike="noStrike">
                <a:solidFill>
                  <a:srgbClr val="1428FF"/>
                </a:solidFill>
                <a:latin typeface="Cambria"/>
                <a:ea typeface="Cambria"/>
                <a:cs typeface="Cambria"/>
                <a:sym typeface="Cambria"/>
              </a:rPr>
              <a:t>02</a:t>
            </a:r>
            <a:endParaRPr b="0" i="0" sz="1900" u="none" cap="none" strike="noStrike">
              <a:solidFill>
                <a:srgbClr val="1428FF"/>
              </a:solidFill>
              <a:latin typeface="Calibri"/>
              <a:ea typeface="Calibri"/>
              <a:cs typeface="Calibri"/>
              <a:sym typeface="Calibri"/>
            </a:endParaRPr>
          </a:p>
        </p:txBody>
      </p:sp>
      <p:sp>
        <p:nvSpPr>
          <p:cNvPr id="75" name="Google Shape;75;p16"/>
          <p:cNvSpPr/>
          <p:nvPr/>
        </p:nvSpPr>
        <p:spPr>
          <a:xfrm>
            <a:off x="1645920" y="2468880"/>
            <a:ext cx="1028700" cy="617100"/>
          </a:xfrm>
          <a:prstGeom prst="rect">
            <a:avLst/>
          </a:prstGeom>
          <a:noFill/>
          <a:ln>
            <a:noFill/>
          </a:ln>
        </p:spPr>
        <p:txBody>
          <a:bodyPr anchorCtr="0" anchor="ctr" bIns="34275" lIns="68575" spcFirstLastPara="1" rIns="68575" wrap="square" tIns="34275">
            <a:noAutofit/>
          </a:bodyPr>
          <a:lstStyle/>
          <a:p>
            <a:pPr indent="0" lvl="0" marL="0" marR="0" rtl="0" algn="l">
              <a:lnSpc>
                <a:spcPct val="110000"/>
              </a:lnSpc>
              <a:spcBef>
                <a:spcPts val="0"/>
              </a:spcBef>
              <a:spcAft>
                <a:spcPts val="0"/>
              </a:spcAft>
              <a:buClr>
                <a:srgbClr val="17181C"/>
              </a:buClr>
              <a:buSzPts val="1100"/>
              <a:buFont typeface="Calibri"/>
              <a:buNone/>
            </a:pPr>
            <a:r>
              <a:rPr b="1" i="0" lang="fr" sz="1200" u="none" cap="none" strike="noStrike">
                <a:solidFill>
                  <a:srgbClr val="1428FF"/>
                </a:solidFill>
                <a:latin typeface="Cambria"/>
                <a:ea typeface="Cambria"/>
                <a:cs typeface="Cambria"/>
                <a:sym typeface="Cambria"/>
              </a:rPr>
              <a:t>Exploratory</a:t>
            </a:r>
            <a:endParaRPr i="0" sz="1200" u="none" cap="none" strike="noStrike">
              <a:solidFill>
                <a:srgbClr val="1428FF"/>
              </a:solidFill>
              <a:latin typeface="Cambria"/>
              <a:ea typeface="Cambria"/>
              <a:cs typeface="Cambria"/>
              <a:sym typeface="Cambria"/>
            </a:endParaRPr>
          </a:p>
          <a:p>
            <a:pPr indent="0" lvl="0" marL="0" marR="0" rtl="0" algn="l">
              <a:lnSpc>
                <a:spcPct val="110000"/>
              </a:lnSpc>
              <a:spcBef>
                <a:spcPts val="0"/>
              </a:spcBef>
              <a:spcAft>
                <a:spcPts val="0"/>
              </a:spcAft>
              <a:buClr>
                <a:srgbClr val="17181C"/>
              </a:buClr>
              <a:buSzPts val="1100"/>
              <a:buFont typeface="Calibri"/>
              <a:buNone/>
            </a:pPr>
            <a:r>
              <a:rPr b="1" i="0" lang="fr" sz="1200" u="none" cap="none" strike="noStrike">
                <a:solidFill>
                  <a:srgbClr val="1428FF"/>
                </a:solidFill>
                <a:latin typeface="Cambria"/>
                <a:ea typeface="Cambria"/>
                <a:cs typeface="Cambria"/>
                <a:sym typeface="Cambria"/>
              </a:rPr>
              <a:t>Analysis</a:t>
            </a:r>
            <a:endParaRPr i="0" sz="1200" u="none" cap="none" strike="noStrike">
              <a:solidFill>
                <a:srgbClr val="1428FF"/>
              </a:solidFill>
              <a:latin typeface="Cambria"/>
              <a:ea typeface="Cambria"/>
              <a:cs typeface="Cambria"/>
              <a:sym typeface="Cambria"/>
            </a:endParaRPr>
          </a:p>
        </p:txBody>
      </p:sp>
      <p:sp>
        <p:nvSpPr>
          <p:cNvPr id="76" name="Google Shape;76;p16"/>
          <p:cNvSpPr/>
          <p:nvPr/>
        </p:nvSpPr>
        <p:spPr>
          <a:xfrm>
            <a:off x="2811780" y="2057400"/>
            <a:ext cx="1028700" cy="3771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D8D7D2"/>
              </a:buClr>
              <a:buSzPts val="1800"/>
              <a:buFont typeface="Cambria"/>
              <a:buNone/>
            </a:pPr>
            <a:r>
              <a:rPr b="1" i="0" lang="fr" sz="1900" u="none" cap="none" strike="noStrike">
                <a:solidFill>
                  <a:srgbClr val="1428FF"/>
                </a:solidFill>
                <a:latin typeface="Cambria"/>
                <a:ea typeface="Cambria"/>
                <a:cs typeface="Cambria"/>
                <a:sym typeface="Cambria"/>
              </a:rPr>
              <a:t>03</a:t>
            </a:r>
            <a:endParaRPr b="0" i="0" sz="1900" u="none" cap="none" strike="noStrike">
              <a:solidFill>
                <a:srgbClr val="1428FF"/>
              </a:solidFill>
              <a:latin typeface="Calibri"/>
              <a:ea typeface="Calibri"/>
              <a:cs typeface="Calibri"/>
              <a:sym typeface="Calibri"/>
            </a:endParaRPr>
          </a:p>
        </p:txBody>
      </p:sp>
      <p:sp>
        <p:nvSpPr>
          <p:cNvPr id="77" name="Google Shape;77;p16"/>
          <p:cNvSpPr/>
          <p:nvPr/>
        </p:nvSpPr>
        <p:spPr>
          <a:xfrm>
            <a:off x="2811780" y="2468880"/>
            <a:ext cx="1028700" cy="617100"/>
          </a:xfrm>
          <a:prstGeom prst="rect">
            <a:avLst/>
          </a:prstGeom>
          <a:noFill/>
          <a:ln>
            <a:noFill/>
          </a:ln>
        </p:spPr>
        <p:txBody>
          <a:bodyPr anchorCtr="0" anchor="ctr" bIns="34275" lIns="68575" spcFirstLastPara="1" rIns="68575" wrap="square" tIns="34275">
            <a:noAutofit/>
          </a:bodyPr>
          <a:lstStyle/>
          <a:p>
            <a:pPr indent="0" lvl="0" marL="0" marR="0" rtl="0" algn="l">
              <a:lnSpc>
                <a:spcPct val="110000"/>
              </a:lnSpc>
              <a:spcBef>
                <a:spcPts val="0"/>
              </a:spcBef>
              <a:spcAft>
                <a:spcPts val="0"/>
              </a:spcAft>
              <a:buClr>
                <a:srgbClr val="17181C"/>
              </a:buClr>
              <a:buSzPts val="1100"/>
              <a:buFont typeface="Calibri"/>
              <a:buNone/>
            </a:pPr>
            <a:r>
              <a:rPr b="1" i="0" lang="fr" sz="1200" u="none" cap="none" strike="noStrike">
                <a:solidFill>
                  <a:srgbClr val="1428FF"/>
                </a:solidFill>
                <a:latin typeface="Cambria"/>
                <a:ea typeface="Cambria"/>
                <a:cs typeface="Cambria"/>
                <a:sym typeface="Cambria"/>
              </a:rPr>
              <a:t>Baseline</a:t>
            </a:r>
            <a:endParaRPr i="0" sz="1200" u="none" cap="none" strike="noStrike">
              <a:solidFill>
                <a:srgbClr val="1428FF"/>
              </a:solidFill>
              <a:latin typeface="Cambria"/>
              <a:ea typeface="Cambria"/>
              <a:cs typeface="Cambria"/>
              <a:sym typeface="Cambria"/>
            </a:endParaRPr>
          </a:p>
          <a:p>
            <a:pPr indent="0" lvl="0" marL="0" marR="0" rtl="0" algn="l">
              <a:lnSpc>
                <a:spcPct val="110000"/>
              </a:lnSpc>
              <a:spcBef>
                <a:spcPts val="0"/>
              </a:spcBef>
              <a:spcAft>
                <a:spcPts val="0"/>
              </a:spcAft>
              <a:buClr>
                <a:srgbClr val="17181C"/>
              </a:buClr>
              <a:buSzPts val="1100"/>
              <a:buFont typeface="Calibri"/>
              <a:buNone/>
            </a:pPr>
            <a:r>
              <a:rPr b="1" i="0" lang="fr" sz="1200" u="none" cap="none" strike="noStrike">
                <a:solidFill>
                  <a:srgbClr val="1428FF"/>
                </a:solidFill>
                <a:latin typeface="Cambria"/>
                <a:ea typeface="Cambria"/>
                <a:cs typeface="Cambria"/>
                <a:sym typeface="Cambria"/>
              </a:rPr>
              <a:t>Models</a:t>
            </a:r>
            <a:endParaRPr i="0" sz="1200" u="none" cap="none" strike="noStrike">
              <a:solidFill>
                <a:srgbClr val="1428FF"/>
              </a:solidFill>
              <a:latin typeface="Cambria"/>
              <a:ea typeface="Cambria"/>
              <a:cs typeface="Cambria"/>
              <a:sym typeface="Cambria"/>
            </a:endParaRPr>
          </a:p>
        </p:txBody>
      </p:sp>
      <p:sp>
        <p:nvSpPr>
          <p:cNvPr id="78" name="Google Shape;78;p16"/>
          <p:cNvSpPr/>
          <p:nvPr/>
        </p:nvSpPr>
        <p:spPr>
          <a:xfrm>
            <a:off x="3977640" y="2057400"/>
            <a:ext cx="1028700" cy="3771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D8D7D2"/>
              </a:buClr>
              <a:buSzPts val="1800"/>
              <a:buFont typeface="Cambria"/>
              <a:buNone/>
            </a:pPr>
            <a:r>
              <a:rPr b="1" i="0" lang="fr" sz="1900" u="none" cap="none" strike="noStrike">
                <a:solidFill>
                  <a:srgbClr val="1428FF"/>
                </a:solidFill>
                <a:latin typeface="Cambria"/>
                <a:ea typeface="Cambria"/>
                <a:cs typeface="Cambria"/>
                <a:sym typeface="Cambria"/>
              </a:rPr>
              <a:t>04</a:t>
            </a:r>
            <a:endParaRPr b="0" i="0" sz="1900" u="none" cap="none" strike="noStrike">
              <a:solidFill>
                <a:srgbClr val="1428FF"/>
              </a:solidFill>
              <a:latin typeface="Calibri"/>
              <a:ea typeface="Calibri"/>
              <a:cs typeface="Calibri"/>
              <a:sym typeface="Calibri"/>
            </a:endParaRPr>
          </a:p>
        </p:txBody>
      </p:sp>
      <p:sp>
        <p:nvSpPr>
          <p:cNvPr id="79" name="Google Shape;79;p16"/>
          <p:cNvSpPr/>
          <p:nvPr/>
        </p:nvSpPr>
        <p:spPr>
          <a:xfrm>
            <a:off x="3977640" y="2468880"/>
            <a:ext cx="1028700" cy="617100"/>
          </a:xfrm>
          <a:prstGeom prst="rect">
            <a:avLst/>
          </a:prstGeom>
          <a:noFill/>
          <a:ln>
            <a:noFill/>
          </a:ln>
        </p:spPr>
        <p:txBody>
          <a:bodyPr anchorCtr="0" anchor="ctr" bIns="34275" lIns="68575" spcFirstLastPara="1" rIns="68575" wrap="square" tIns="34275">
            <a:noAutofit/>
          </a:bodyPr>
          <a:lstStyle/>
          <a:p>
            <a:pPr indent="0" lvl="0" marL="0" marR="0" rtl="0" algn="l">
              <a:lnSpc>
                <a:spcPct val="110000"/>
              </a:lnSpc>
              <a:spcBef>
                <a:spcPts val="0"/>
              </a:spcBef>
              <a:spcAft>
                <a:spcPts val="0"/>
              </a:spcAft>
              <a:buClr>
                <a:srgbClr val="17181C"/>
              </a:buClr>
              <a:buSzPts val="1100"/>
              <a:buFont typeface="Calibri"/>
              <a:buNone/>
            </a:pPr>
            <a:r>
              <a:rPr b="1" i="0" lang="fr" sz="1200" u="none" cap="none" strike="noStrike">
                <a:solidFill>
                  <a:srgbClr val="1428FF"/>
                </a:solidFill>
                <a:latin typeface="Cambria"/>
                <a:ea typeface="Cambria"/>
                <a:cs typeface="Cambria"/>
                <a:sym typeface="Cambria"/>
              </a:rPr>
              <a:t>Advanced</a:t>
            </a:r>
            <a:endParaRPr i="0" sz="1200" u="none" cap="none" strike="noStrike">
              <a:solidFill>
                <a:srgbClr val="1428FF"/>
              </a:solidFill>
              <a:latin typeface="Cambria"/>
              <a:ea typeface="Cambria"/>
              <a:cs typeface="Cambria"/>
              <a:sym typeface="Cambria"/>
            </a:endParaRPr>
          </a:p>
          <a:p>
            <a:pPr indent="0" lvl="0" marL="0" marR="0" rtl="0" algn="l">
              <a:lnSpc>
                <a:spcPct val="110000"/>
              </a:lnSpc>
              <a:spcBef>
                <a:spcPts val="0"/>
              </a:spcBef>
              <a:spcAft>
                <a:spcPts val="0"/>
              </a:spcAft>
              <a:buClr>
                <a:srgbClr val="17181C"/>
              </a:buClr>
              <a:buSzPts val="1100"/>
              <a:buFont typeface="Calibri"/>
              <a:buNone/>
            </a:pPr>
            <a:r>
              <a:rPr b="1" i="0" lang="fr" sz="1200" u="none" cap="none" strike="noStrike">
                <a:solidFill>
                  <a:srgbClr val="1428FF"/>
                </a:solidFill>
                <a:latin typeface="Cambria"/>
                <a:ea typeface="Cambria"/>
                <a:cs typeface="Cambria"/>
                <a:sym typeface="Cambria"/>
              </a:rPr>
              <a:t>Models</a:t>
            </a:r>
            <a:endParaRPr i="0" sz="1200" u="none" cap="none" strike="noStrike">
              <a:solidFill>
                <a:srgbClr val="1428FF"/>
              </a:solidFill>
              <a:latin typeface="Cambria"/>
              <a:ea typeface="Cambria"/>
              <a:cs typeface="Cambria"/>
              <a:sym typeface="Cambria"/>
            </a:endParaRPr>
          </a:p>
        </p:txBody>
      </p:sp>
      <p:sp>
        <p:nvSpPr>
          <p:cNvPr id="80" name="Google Shape;80;p16"/>
          <p:cNvSpPr/>
          <p:nvPr/>
        </p:nvSpPr>
        <p:spPr>
          <a:xfrm>
            <a:off x="5143500" y="2057400"/>
            <a:ext cx="1028700" cy="3771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D8D7D2"/>
              </a:buClr>
              <a:buSzPts val="1800"/>
              <a:buFont typeface="Cambria"/>
              <a:buNone/>
            </a:pPr>
            <a:r>
              <a:rPr b="1" i="0" lang="fr" sz="1900" u="none" cap="none" strike="noStrike">
                <a:solidFill>
                  <a:srgbClr val="1428FF"/>
                </a:solidFill>
                <a:latin typeface="Cambria"/>
                <a:ea typeface="Cambria"/>
                <a:cs typeface="Cambria"/>
                <a:sym typeface="Cambria"/>
              </a:rPr>
              <a:t>05</a:t>
            </a:r>
            <a:endParaRPr b="0" i="0" sz="1900" u="none" cap="none" strike="noStrike">
              <a:solidFill>
                <a:srgbClr val="1428FF"/>
              </a:solidFill>
              <a:latin typeface="Calibri"/>
              <a:ea typeface="Calibri"/>
              <a:cs typeface="Calibri"/>
              <a:sym typeface="Calibri"/>
            </a:endParaRPr>
          </a:p>
        </p:txBody>
      </p:sp>
      <p:sp>
        <p:nvSpPr>
          <p:cNvPr id="81" name="Google Shape;81;p16"/>
          <p:cNvSpPr/>
          <p:nvPr/>
        </p:nvSpPr>
        <p:spPr>
          <a:xfrm>
            <a:off x="5143500" y="2468875"/>
            <a:ext cx="1165800" cy="617100"/>
          </a:xfrm>
          <a:prstGeom prst="rect">
            <a:avLst/>
          </a:prstGeom>
          <a:noFill/>
          <a:ln>
            <a:noFill/>
          </a:ln>
        </p:spPr>
        <p:txBody>
          <a:bodyPr anchorCtr="0" anchor="ctr" bIns="34275" lIns="68575" spcFirstLastPara="1" rIns="68575" wrap="square" tIns="34275">
            <a:noAutofit/>
          </a:bodyPr>
          <a:lstStyle/>
          <a:p>
            <a:pPr indent="0" lvl="0" marL="0" marR="0" rtl="0" algn="l">
              <a:lnSpc>
                <a:spcPct val="110000"/>
              </a:lnSpc>
              <a:spcBef>
                <a:spcPts val="0"/>
              </a:spcBef>
              <a:spcAft>
                <a:spcPts val="0"/>
              </a:spcAft>
              <a:buClr>
                <a:srgbClr val="17181C"/>
              </a:buClr>
              <a:buSzPts val="1100"/>
              <a:buFont typeface="Calibri"/>
              <a:buNone/>
            </a:pPr>
            <a:r>
              <a:rPr b="1" i="0" lang="fr" sz="1200" u="none" cap="none" strike="noStrike">
                <a:solidFill>
                  <a:srgbClr val="1428FF"/>
                </a:solidFill>
                <a:latin typeface="Cambria"/>
                <a:ea typeface="Cambria"/>
                <a:cs typeface="Cambria"/>
                <a:sym typeface="Cambria"/>
              </a:rPr>
              <a:t>Model</a:t>
            </a:r>
            <a:endParaRPr i="0" sz="1200" u="none" cap="none" strike="noStrike">
              <a:solidFill>
                <a:srgbClr val="1428FF"/>
              </a:solidFill>
              <a:latin typeface="Cambria"/>
              <a:ea typeface="Cambria"/>
              <a:cs typeface="Cambria"/>
              <a:sym typeface="Cambria"/>
            </a:endParaRPr>
          </a:p>
          <a:p>
            <a:pPr indent="0" lvl="0" marL="0" marR="0" rtl="0" algn="l">
              <a:lnSpc>
                <a:spcPct val="110000"/>
              </a:lnSpc>
              <a:spcBef>
                <a:spcPts val="0"/>
              </a:spcBef>
              <a:spcAft>
                <a:spcPts val="0"/>
              </a:spcAft>
              <a:buClr>
                <a:srgbClr val="17181C"/>
              </a:buClr>
              <a:buSzPts val="1100"/>
              <a:buFont typeface="Calibri"/>
              <a:buNone/>
            </a:pPr>
            <a:r>
              <a:rPr b="1" i="0" lang="fr" sz="1200" u="none" cap="none" strike="noStrike">
                <a:solidFill>
                  <a:srgbClr val="1428FF"/>
                </a:solidFill>
                <a:latin typeface="Cambria"/>
                <a:ea typeface="Cambria"/>
                <a:cs typeface="Cambria"/>
                <a:sym typeface="Cambria"/>
              </a:rPr>
              <a:t>Interpretation</a:t>
            </a:r>
            <a:endParaRPr i="0" sz="1200" u="none" cap="none" strike="noStrike">
              <a:solidFill>
                <a:srgbClr val="1428FF"/>
              </a:solidFill>
              <a:latin typeface="Cambria"/>
              <a:ea typeface="Cambria"/>
              <a:cs typeface="Cambria"/>
              <a:sym typeface="Cambria"/>
            </a:endParaRPr>
          </a:p>
        </p:txBody>
      </p:sp>
      <p:sp>
        <p:nvSpPr>
          <p:cNvPr id="82" name="Google Shape;82;p16"/>
          <p:cNvSpPr/>
          <p:nvPr/>
        </p:nvSpPr>
        <p:spPr>
          <a:xfrm>
            <a:off x="6309360" y="2057400"/>
            <a:ext cx="1028700" cy="3771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D8D7D2"/>
              </a:buClr>
              <a:buSzPts val="1800"/>
              <a:buFont typeface="Cambria"/>
              <a:buNone/>
            </a:pPr>
            <a:r>
              <a:rPr b="1" i="0" lang="fr" sz="1900" u="none" cap="none" strike="noStrike">
                <a:solidFill>
                  <a:srgbClr val="1428FF"/>
                </a:solidFill>
                <a:latin typeface="Cambria"/>
                <a:ea typeface="Cambria"/>
                <a:cs typeface="Cambria"/>
                <a:sym typeface="Cambria"/>
              </a:rPr>
              <a:t>06</a:t>
            </a:r>
            <a:endParaRPr b="0" i="0" sz="1900" u="none" cap="none" strike="noStrike">
              <a:solidFill>
                <a:srgbClr val="1428FF"/>
              </a:solidFill>
              <a:latin typeface="Calibri"/>
              <a:ea typeface="Calibri"/>
              <a:cs typeface="Calibri"/>
              <a:sym typeface="Calibri"/>
            </a:endParaRPr>
          </a:p>
        </p:txBody>
      </p:sp>
      <p:sp>
        <p:nvSpPr>
          <p:cNvPr id="83" name="Google Shape;83;p16"/>
          <p:cNvSpPr/>
          <p:nvPr/>
        </p:nvSpPr>
        <p:spPr>
          <a:xfrm>
            <a:off x="6309360" y="2468880"/>
            <a:ext cx="1028700" cy="617100"/>
          </a:xfrm>
          <a:prstGeom prst="rect">
            <a:avLst/>
          </a:prstGeom>
          <a:noFill/>
          <a:ln>
            <a:noFill/>
          </a:ln>
        </p:spPr>
        <p:txBody>
          <a:bodyPr anchorCtr="0" anchor="ctr" bIns="34275" lIns="68575" spcFirstLastPara="1" rIns="68575" wrap="square" tIns="34275">
            <a:noAutofit/>
          </a:bodyPr>
          <a:lstStyle/>
          <a:p>
            <a:pPr indent="0" lvl="0" marL="0" marR="0" rtl="0" algn="l">
              <a:lnSpc>
                <a:spcPct val="110000"/>
              </a:lnSpc>
              <a:spcBef>
                <a:spcPts val="0"/>
              </a:spcBef>
              <a:spcAft>
                <a:spcPts val="0"/>
              </a:spcAft>
              <a:buClr>
                <a:srgbClr val="17181C"/>
              </a:buClr>
              <a:buSzPts val="1100"/>
              <a:buFont typeface="Calibri"/>
              <a:buNone/>
            </a:pPr>
            <a:r>
              <a:rPr b="1" i="0" lang="fr" sz="1200" u="none" cap="none" strike="noStrike">
                <a:solidFill>
                  <a:srgbClr val="1428FF"/>
                </a:solidFill>
                <a:latin typeface="Cambria"/>
                <a:ea typeface="Cambria"/>
                <a:cs typeface="Cambria"/>
                <a:sym typeface="Cambria"/>
              </a:rPr>
              <a:t>Deployment</a:t>
            </a:r>
            <a:endParaRPr i="0" sz="1200" u="none" cap="none" strike="noStrike">
              <a:solidFill>
                <a:srgbClr val="1428FF"/>
              </a:solidFill>
              <a:latin typeface="Cambria"/>
              <a:ea typeface="Cambria"/>
              <a:cs typeface="Cambria"/>
              <a:sym typeface="Cambria"/>
            </a:endParaRPr>
          </a:p>
          <a:p>
            <a:pPr indent="0" lvl="0" marL="0" marR="0" rtl="0" algn="l">
              <a:lnSpc>
                <a:spcPct val="110000"/>
              </a:lnSpc>
              <a:spcBef>
                <a:spcPts val="0"/>
              </a:spcBef>
              <a:spcAft>
                <a:spcPts val="0"/>
              </a:spcAft>
              <a:buClr>
                <a:srgbClr val="17181C"/>
              </a:buClr>
              <a:buSzPts val="1100"/>
              <a:buFont typeface="Calibri"/>
              <a:buNone/>
            </a:pPr>
            <a:r>
              <a:rPr b="1" i="0" lang="fr" sz="1200" u="none" cap="none" strike="noStrike">
                <a:solidFill>
                  <a:srgbClr val="1428FF"/>
                </a:solidFill>
                <a:latin typeface="Cambria"/>
                <a:ea typeface="Cambria"/>
                <a:cs typeface="Cambria"/>
                <a:sym typeface="Cambria"/>
              </a:rPr>
              <a:t>Scenario</a:t>
            </a:r>
            <a:endParaRPr i="0" sz="1200" u="none" cap="none" strike="noStrike">
              <a:solidFill>
                <a:srgbClr val="1428FF"/>
              </a:solidFill>
              <a:latin typeface="Cambria"/>
              <a:ea typeface="Cambria"/>
              <a:cs typeface="Cambria"/>
              <a:sym typeface="Cambria"/>
            </a:endParaRPr>
          </a:p>
        </p:txBody>
      </p:sp>
      <p:sp>
        <p:nvSpPr>
          <p:cNvPr id="84" name="Google Shape;84;p16"/>
          <p:cNvSpPr/>
          <p:nvPr/>
        </p:nvSpPr>
        <p:spPr>
          <a:xfrm>
            <a:off x="7475220" y="2057400"/>
            <a:ext cx="1028700" cy="3771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D8D7D2"/>
              </a:buClr>
              <a:buSzPts val="1800"/>
              <a:buFont typeface="Cambria"/>
              <a:buNone/>
            </a:pPr>
            <a:r>
              <a:rPr b="1" i="0" lang="fr" sz="1900" u="none" cap="none" strike="noStrike">
                <a:solidFill>
                  <a:srgbClr val="1428FF"/>
                </a:solidFill>
                <a:latin typeface="Cambria"/>
                <a:ea typeface="Cambria"/>
                <a:cs typeface="Cambria"/>
                <a:sym typeface="Cambria"/>
              </a:rPr>
              <a:t>07</a:t>
            </a:r>
            <a:endParaRPr b="0" i="0" sz="1900" u="none" cap="none" strike="noStrike">
              <a:solidFill>
                <a:srgbClr val="1428FF"/>
              </a:solidFill>
              <a:latin typeface="Calibri"/>
              <a:ea typeface="Calibri"/>
              <a:cs typeface="Calibri"/>
              <a:sym typeface="Calibri"/>
            </a:endParaRPr>
          </a:p>
        </p:txBody>
      </p:sp>
      <p:sp>
        <p:nvSpPr>
          <p:cNvPr id="85" name="Google Shape;85;p16"/>
          <p:cNvSpPr/>
          <p:nvPr/>
        </p:nvSpPr>
        <p:spPr>
          <a:xfrm>
            <a:off x="7475220" y="2468880"/>
            <a:ext cx="1028700" cy="617100"/>
          </a:xfrm>
          <a:prstGeom prst="rect">
            <a:avLst/>
          </a:prstGeom>
          <a:noFill/>
          <a:ln>
            <a:noFill/>
          </a:ln>
        </p:spPr>
        <p:txBody>
          <a:bodyPr anchorCtr="0" anchor="ctr" bIns="34275" lIns="68575" spcFirstLastPara="1" rIns="68575" wrap="square" tIns="34275">
            <a:noAutofit/>
          </a:bodyPr>
          <a:lstStyle/>
          <a:p>
            <a:pPr indent="0" lvl="0" marL="0" marR="0" rtl="0" algn="l">
              <a:lnSpc>
                <a:spcPct val="110000"/>
              </a:lnSpc>
              <a:spcBef>
                <a:spcPts val="0"/>
              </a:spcBef>
              <a:spcAft>
                <a:spcPts val="0"/>
              </a:spcAft>
              <a:buClr>
                <a:srgbClr val="17181C"/>
              </a:buClr>
              <a:buSzPts val="1100"/>
              <a:buFont typeface="Calibri"/>
              <a:buNone/>
            </a:pPr>
            <a:r>
              <a:rPr b="1" i="0" lang="fr" sz="1200" u="none" cap="none" strike="noStrike">
                <a:solidFill>
                  <a:srgbClr val="1428FF"/>
                </a:solidFill>
                <a:latin typeface="Cambria"/>
                <a:ea typeface="Cambria"/>
                <a:cs typeface="Cambria"/>
                <a:sym typeface="Cambria"/>
              </a:rPr>
              <a:t>Risks &amp;</a:t>
            </a:r>
            <a:endParaRPr i="0" sz="1200" u="none" cap="none" strike="noStrike">
              <a:solidFill>
                <a:srgbClr val="1428FF"/>
              </a:solidFill>
              <a:latin typeface="Cambria"/>
              <a:ea typeface="Cambria"/>
              <a:cs typeface="Cambria"/>
              <a:sym typeface="Cambria"/>
            </a:endParaRPr>
          </a:p>
          <a:p>
            <a:pPr indent="0" lvl="0" marL="0" marR="0" rtl="0" algn="l">
              <a:lnSpc>
                <a:spcPct val="110000"/>
              </a:lnSpc>
              <a:spcBef>
                <a:spcPts val="0"/>
              </a:spcBef>
              <a:spcAft>
                <a:spcPts val="0"/>
              </a:spcAft>
              <a:buClr>
                <a:srgbClr val="17181C"/>
              </a:buClr>
              <a:buSzPts val="1100"/>
              <a:buFont typeface="Calibri"/>
              <a:buNone/>
            </a:pPr>
            <a:r>
              <a:rPr b="1" i="0" lang="fr" sz="1200" u="none" cap="none" strike="noStrike">
                <a:solidFill>
                  <a:srgbClr val="1428FF"/>
                </a:solidFill>
                <a:latin typeface="Cambria"/>
                <a:ea typeface="Cambria"/>
                <a:cs typeface="Cambria"/>
                <a:sym typeface="Cambria"/>
              </a:rPr>
              <a:t>Limitations</a:t>
            </a:r>
            <a:endParaRPr i="0" sz="1200" u="none" cap="none" strike="noStrike">
              <a:solidFill>
                <a:srgbClr val="1428FF"/>
              </a:solidFill>
              <a:latin typeface="Cambria"/>
              <a:ea typeface="Cambria"/>
              <a:cs typeface="Cambria"/>
              <a:sym typeface="Cambri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0" name="Shape 90"/>
        <p:cNvGrpSpPr/>
        <p:nvPr/>
      </p:nvGrpSpPr>
      <p:grpSpPr>
        <a:xfrm>
          <a:off x="0" y="0"/>
          <a:ext cx="0" cy="0"/>
          <a:chOff x="0" y="0"/>
          <a:chExt cx="0" cy="0"/>
        </a:xfrm>
      </p:grpSpPr>
      <p:pic>
        <p:nvPicPr>
          <p:cNvPr descr="preencoded.png" id="91" name="Google Shape;91;p17"/>
          <p:cNvPicPr preferRelativeResize="0"/>
          <p:nvPr/>
        </p:nvPicPr>
        <p:blipFill rotWithShape="1">
          <a:blip r:embed="rId3">
            <a:alphaModFix/>
          </a:blip>
          <a:srcRect b="0" l="0" r="0" t="0"/>
          <a:stretch/>
        </p:blipFill>
        <p:spPr>
          <a:xfrm>
            <a:off x="7838694" y="274320"/>
            <a:ext cx="925830" cy="152029"/>
          </a:xfrm>
          <a:prstGeom prst="rect">
            <a:avLst/>
          </a:prstGeom>
          <a:noFill/>
          <a:ln>
            <a:noFill/>
          </a:ln>
        </p:spPr>
      </p:pic>
      <p:sp>
        <p:nvSpPr>
          <p:cNvPr id="92" name="Google Shape;92;p17"/>
          <p:cNvSpPr/>
          <p:nvPr/>
        </p:nvSpPr>
        <p:spPr>
          <a:xfrm>
            <a:off x="480060" y="315468"/>
            <a:ext cx="6172200" cy="219456"/>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428FF"/>
              </a:buClr>
              <a:buSzPts val="900"/>
              <a:buFont typeface="Calibri"/>
              <a:buNone/>
            </a:pPr>
            <a:r>
              <a:rPr b="1" i="0" lang="fr" sz="900" u="none" cap="none" strike="noStrike">
                <a:solidFill>
                  <a:srgbClr val="1428FF"/>
                </a:solidFill>
                <a:latin typeface="Calibri"/>
                <a:ea typeface="Calibri"/>
                <a:cs typeface="Calibri"/>
                <a:sym typeface="Calibri"/>
              </a:rPr>
              <a:t>1 · DATA PREPROCESSING</a:t>
            </a:r>
            <a:endParaRPr b="0" i="0" sz="900" u="none" cap="none" strike="noStrike">
              <a:solidFill>
                <a:schemeClr val="dk1"/>
              </a:solidFill>
              <a:latin typeface="Calibri"/>
              <a:ea typeface="Calibri"/>
              <a:cs typeface="Calibri"/>
              <a:sym typeface="Calibri"/>
            </a:endParaRPr>
          </a:p>
        </p:txBody>
      </p:sp>
      <p:sp>
        <p:nvSpPr>
          <p:cNvPr id="93" name="Google Shape;93;p17"/>
          <p:cNvSpPr/>
          <p:nvPr/>
        </p:nvSpPr>
        <p:spPr>
          <a:xfrm>
            <a:off x="480060" y="651510"/>
            <a:ext cx="8023860" cy="5829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7181C"/>
              </a:buClr>
              <a:buSzPts val="2300"/>
              <a:buFont typeface="Cambria"/>
              <a:buNone/>
            </a:pPr>
            <a:r>
              <a:rPr b="1" lang="fr" sz="2300">
                <a:solidFill>
                  <a:srgbClr val="17181C"/>
                </a:solidFill>
                <a:latin typeface="Cambria"/>
                <a:ea typeface="Cambria"/>
                <a:cs typeface="Cambria"/>
                <a:sym typeface="Cambria"/>
              </a:rPr>
              <a:t>Cleaning</a:t>
            </a:r>
            <a:r>
              <a:rPr b="1" lang="fr" sz="2300">
                <a:solidFill>
                  <a:srgbClr val="17181C"/>
                </a:solidFill>
                <a:latin typeface="Cambria"/>
                <a:ea typeface="Cambria"/>
                <a:cs typeface="Cambria"/>
                <a:sym typeface="Cambria"/>
              </a:rPr>
              <a:t> and preparing the data </a:t>
            </a:r>
            <a:endParaRPr b="0" i="0" sz="2300" u="none" cap="none" strike="noStrike">
              <a:solidFill>
                <a:schemeClr val="dk1"/>
              </a:solidFill>
              <a:latin typeface="Calibri"/>
              <a:ea typeface="Calibri"/>
              <a:cs typeface="Calibri"/>
              <a:sym typeface="Calibri"/>
            </a:endParaRPr>
          </a:p>
        </p:txBody>
      </p:sp>
      <p:sp>
        <p:nvSpPr>
          <p:cNvPr id="94" name="Google Shape;94;p17"/>
          <p:cNvSpPr/>
          <p:nvPr/>
        </p:nvSpPr>
        <p:spPr>
          <a:xfrm>
            <a:off x="480060" y="1543050"/>
            <a:ext cx="617220" cy="51435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D8D7D2"/>
              </a:buClr>
              <a:buSzPts val="2400"/>
              <a:buFont typeface="Cambria"/>
              <a:buNone/>
            </a:pPr>
            <a:r>
              <a:rPr b="1" i="0" lang="fr" sz="2400" u="none" cap="none" strike="noStrike">
                <a:solidFill>
                  <a:srgbClr val="1428FF"/>
                </a:solidFill>
                <a:latin typeface="Cambria"/>
                <a:ea typeface="Cambria"/>
                <a:cs typeface="Cambria"/>
                <a:sym typeface="Cambria"/>
              </a:rPr>
              <a:t>01</a:t>
            </a:r>
            <a:endParaRPr b="0" i="0" sz="2400" u="none" cap="none" strike="noStrike">
              <a:solidFill>
                <a:srgbClr val="1428FF"/>
              </a:solidFill>
              <a:latin typeface="Calibri"/>
              <a:ea typeface="Calibri"/>
              <a:cs typeface="Calibri"/>
              <a:sym typeface="Calibri"/>
            </a:endParaRPr>
          </a:p>
        </p:txBody>
      </p:sp>
      <p:sp>
        <p:nvSpPr>
          <p:cNvPr id="95" name="Google Shape;95;p17"/>
          <p:cNvSpPr/>
          <p:nvPr/>
        </p:nvSpPr>
        <p:spPr>
          <a:xfrm>
            <a:off x="1131570" y="1597914"/>
            <a:ext cx="2537460" cy="630936"/>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17181C"/>
              </a:buClr>
              <a:buSzPts val="1200"/>
              <a:buFont typeface="Calibri"/>
              <a:buNone/>
            </a:pPr>
            <a:r>
              <a:rPr b="1" lang="fr" sz="1200">
                <a:solidFill>
                  <a:srgbClr val="17181C"/>
                </a:solidFill>
                <a:latin typeface="Calibri"/>
                <a:ea typeface="Calibri"/>
                <a:cs typeface="Calibri"/>
                <a:sym typeface="Calibri"/>
              </a:rPr>
              <a:t>Removing duplicates and empty columns</a:t>
            </a:r>
            <a:endParaRPr b="0" i="0" sz="1200" u="none" cap="none" strike="noStrike">
              <a:solidFill>
                <a:schemeClr val="dk1"/>
              </a:solidFill>
              <a:latin typeface="Calibri"/>
              <a:ea typeface="Calibri"/>
              <a:cs typeface="Calibri"/>
              <a:sym typeface="Calibri"/>
            </a:endParaRPr>
          </a:p>
        </p:txBody>
      </p:sp>
      <p:sp>
        <p:nvSpPr>
          <p:cNvPr id="96" name="Google Shape;96;p17"/>
          <p:cNvSpPr/>
          <p:nvPr/>
        </p:nvSpPr>
        <p:spPr>
          <a:xfrm>
            <a:off x="3771900" y="1597914"/>
            <a:ext cx="4869180" cy="630936"/>
          </a:xfrm>
          <a:prstGeom prst="rect">
            <a:avLst/>
          </a:prstGeom>
          <a:noFill/>
          <a:ln>
            <a:noFill/>
          </a:ln>
        </p:spPr>
        <p:txBody>
          <a:bodyPr anchorCtr="0" anchor="t" bIns="34275" lIns="68575" spcFirstLastPara="1" rIns="68575" wrap="square" tIns="34275">
            <a:noAutofit/>
          </a:bodyPr>
          <a:lstStyle/>
          <a:p>
            <a:pPr indent="0" lvl="0" marL="0" marR="0" rtl="0" algn="l">
              <a:lnSpc>
                <a:spcPct val="130000"/>
              </a:lnSpc>
              <a:spcBef>
                <a:spcPts val="0"/>
              </a:spcBef>
              <a:spcAft>
                <a:spcPts val="0"/>
              </a:spcAft>
              <a:buClr>
                <a:srgbClr val="6B6F76"/>
              </a:buClr>
              <a:buSzPts val="1100"/>
              <a:buFont typeface="Calibri"/>
              <a:buNone/>
            </a:pPr>
            <a:r>
              <a:rPr b="0" i="0" lang="fr" sz="1100" u="none" cap="none" strike="noStrike">
                <a:solidFill>
                  <a:srgbClr val="6B6F76"/>
                </a:solidFill>
                <a:latin typeface="Calibri"/>
                <a:ea typeface="Calibri"/>
                <a:cs typeface="Calibri"/>
                <a:sym typeface="Calibri"/>
              </a:rPr>
              <a:t>Removed 92 duplicate relistings and 17 non-residential rows</a:t>
            </a:r>
            <a:endParaRPr b="0" i="0" sz="1100" u="none" cap="none" strike="noStrike">
              <a:solidFill>
                <a:srgbClr val="6B6F76"/>
              </a:solidFill>
              <a:latin typeface="Calibri"/>
              <a:ea typeface="Calibri"/>
              <a:cs typeface="Calibri"/>
              <a:sym typeface="Calibri"/>
            </a:endParaRPr>
          </a:p>
          <a:p>
            <a:pPr indent="0" lvl="0" marL="0" marR="0" rtl="0" algn="l">
              <a:lnSpc>
                <a:spcPct val="130000"/>
              </a:lnSpc>
              <a:spcBef>
                <a:spcPts val="0"/>
              </a:spcBef>
              <a:spcAft>
                <a:spcPts val="0"/>
              </a:spcAft>
              <a:buClr>
                <a:srgbClr val="6B6F76"/>
              </a:buClr>
              <a:buSzPts val="1100"/>
              <a:buFont typeface="Calibri"/>
              <a:buNone/>
            </a:pPr>
            <a:r>
              <a:rPr lang="fr" sz="1100">
                <a:solidFill>
                  <a:srgbClr val="6B6F76"/>
                </a:solidFill>
                <a:latin typeface="Calibri"/>
                <a:ea typeface="Calibri"/>
                <a:cs typeface="Calibri"/>
                <a:sym typeface="Calibri"/>
              </a:rPr>
              <a:t>D</a:t>
            </a:r>
            <a:r>
              <a:rPr b="0" i="0" lang="fr" sz="1100" u="none" cap="none" strike="noStrike">
                <a:solidFill>
                  <a:srgbClr val="6B6F76"/>
                </a:solidFill>
                <a:latin typeface="Calibri"/>
                <a:ea typeface="Calibri"/>
                <a:cs typeface="Calibri"/>
                <a:sym typeface="Calibri"/>
              </a:rPr>
              <a:t>ropped columns that were empty or carried zero information</a:t>
            </a:r>
            <a:endParaRPr b="0" i="0" sz="1100" u="none" cap="none" strike="noStrike">
              <a:solidFill>
                <a:schemeClr val="dk1"/>
              </a:solidFill>
              <a:latin typeface="Calibri"/>
              <a:ea typeface="Calibri"/>
              <a:cs typeface="Calibri"/>
              <a:sym typeface="Calibri"/>
            </a:endParaRPr>
          </a:p>
        </p:txBody>
      </p:sp>
      <p:cxnSp>
        <p:nvCxnSpPr>
          <p:cNvPr id="97" name="Google Shape;97;p17"/>
          <p:cNvCxnSpPr/>
          <p:nvPr/>
        </p:nvCxnSpPr>
        <p:spPr>
          <a:xfrm>
            <a:off x="480060" y="2215134"/>
            <a:ext cx="8161020" cy="0"/>
          </a:xfrm>
          <a:prstGeom prst="straightConnector1">
            <a:avLst/>
          </a:prstGeom>
          <a:noFill/>
          <a:ln cap="flat" cmpd="sng" w="12700">
            <a:solidFill>
              <a:srgbClr val="1428FF"/>
            </a:solidFill>
            <a:prstDash val="solid"/>
            <a:round/>
            <a:headEnd len="sm" w="sm" type="none"/>
            <a:tailEnd len="sm" w="sm" type="none"/>
          </a:ln>
        </p:spPr>
      </p:cxnSp>
      <p:sp>
        <p:nvSpPr>
          <p:cNvPr id="98" name="Google Shape;98;p17"/>
          <p:cNvSpPr/>
          <p:nvPr/>
        </p:nvSpPr>
        <p:spPr>
          <a:xfrm>
            <a:off x="480060" y="2311146"/>
            <a:ext cx="617220" cy="51435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D8D7D2"/>
              </a:buClr>
              <a:buSzPts val="2400"/>
              <a:buFont typeface="Cambria"/>
              <a:buNone/>
            </a:pPr>
            <a:r>
              <a:rPr b="1" i="0" lang="fr" sz="2400" u="none" cap="none" strike="noStrike">
                <a:solidFill>
                  <a:srgbClr val="1428FF"/>
                </a:solidFill>
                <a:latin typeface="Cambria"/>
                <a:ea typeface="Cambria"/>
                <a:cs typeface="Cambria"/>
                <a:sym typeface="Cambria"/>
              </a:rPr>
              <a:t>02</a:t>
            </a:r>
            <a:endParaRPr b="0" i="0" sz="2400" u="none" cap="none" strike="noStrike">
              <a:solidFill>
                <a:srgbClr val="1428FF"/>
              </a:solidFill>
              <a:latin typeface="Calibri"/>
              <a:ea typeface="Calibri"/>
              <a:cs typeface="Calibri"/>
              <a:sym typeface="Calibri"/>
            </a:endParaRPr>
          </a:p>
        </p:txBody>
      </p:sp>
      <p:sp>
        <p:nvSpPr>
          <p:cNvPr id="99" name="Google Shape;99;p17"/>
          <p:cNvSpPr/>
          <p:nvPr/>
        </p:nvSpPr>
        <p:spPr>
          <a:xfrm>
            <a:off x="1131570" y="2366010"/>
            <a:ext cx="2537460" cy="630936"/>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17181C"/>
              </a:buClr>
              <a:buSzPts val="1200"/>
              <a:buFont typeface="Calibri"/>
              <a:buNone/>
            </a:pPr>
            <a:r>
              <a:rPr b="1" lang="fr" sz="1200">
                <a:solidFill>
                  <a:srgbClr val="17181C"/>
                </a:solidFill>
                <a:latin typeface="Calibri"/>
                <a:ea typeface="Calibri"/>
                <a:cs typeface="Calibri"/>
                <a:sym typeface="Calibri"/>
              </a:rPr>
              <a:t>Corrected invalid values </a:t>
            </a:r>
            <a:endParaRPr b="0" i="0" sz="1200" u="none" cap="none" strike="noStrike">
              <a:solidFill>
                <a:schemeClr val="dk1"/>
              </a:solidFill>
              <a:latin typeface="Calibri"/>
              <a:ea typeface="Calibri"/>
              <a:cs typeface="Calibri"/>
              <a:sym typeface="Calibri"/>
            </a:endParaRPr>
          </a:p>
        </p:txBody>
      </p:sp>
      <p:sp>
        <p:nvSpPr>
          <p:cNvPr id="100" name="Google Shape;100;p17"/>
          <p:cNvSpPr/>
          <p:nvPr/>
        </p:nvSpPr>
        <p:spPr>
          <a:xfrm>
            <a:off x="3771900" y="2366010"/>
            <a:ext cx="4869180" cy="630936"/>
          </a:xfrm>
          <a:prstGeom prst="rect">
            <a:avLst/>
          </a:prstGeom>
          <a:noFill/>
          <a:ln>
            <a:noFill/>
          </a:ln>
        </p:spPr>
        <p:txBody>
          <a:bodyPr anchorCtr="0" anchor="t" bIns="34275" lIns="68575" spcFirstLastPara="1" rIns="68575" wrap="square" tIns="34275">
            <a:noAutofit/>
          </a:bodyPr>
          <a:lstStyle/>
          <a:p>
            <a:pPr indent="0" lvl="0" marL="0" marR="0" rtl="0" algn="l">
              <a:lnSpc>
                <a:spcPct val="130000"/>
              </a:lnSpc>
              <a:spcBef>
                <a:spcPts val="0"/>
              </a:spcBef>
              <a:spcAft>
                <a:spcPts val="0"/>
              </a:spcAft>
              <a:buClr>
                <a:srgbClr val="6B6F76"/>
              </a:buClr>
              <a:buSzPts val="1100"/>
              <a:buFont typeface="Calibri"/>
              <a:buNone/>
            </a:pPr>
            <a:r>
              <a:rPr b="0" i="0" lang="fr" sz="1100" u="none" cap="none" strike="noStrike">
                <a:solidFill>
                  <a:srgbClr val="6B6F76"/>
                </a:solidFill>
                <a:latin typeface="Calibri"/>
                <a:ea typeface="Calibri"/>
                <a:cs typeface="Calibri"/>
                <a:sym typeface="Calibri"/>
              </a:rPr>
              <a:t>Repaired zipcodes, capped impossible counts and floors, and removed 8,211 outliers using price / area / €-per-sqm </a:t>
            </a:r>
            <a:r>
              <a:rPr lang="fr" sz="1100">
                <a:solidFill>
                  <a:srgbClr val="6B6F76"/>
                </a:solidFill>
                <a:latin typeface="Calibri"/>
                <a:ea typeface="Calibri"/>
                <a:cs typeface="Calibri"/>
                <a:sym typeface="Calibri"/>
              </a:rPr>
              <a:t>intervals</a:t>
            </a:r>
            <a:endParaRPr b="0" i="0" sz="1100" u="none" cap="none" strike="noStrike">
              <a:solidFill>
                <a:schemeClr val="dk1"/>
              </a:solidFill>
              <a:latin typeface="Calibri"/>
              <a:ea typeface="Calibri"/>
              <a:cs typeface="Calibri"/>
              <a:sym typeface="Calibri"/>
            </a:endParaRPr>
          </a:p>
        </p:txBody>
      </p:sp>
      <p:cxnSp>
        <p:nvCxnSpPr>
          <p:cNvPr id="101" name="Google Shape;101;p17"/>
          <p:cNvCxnSpPr/>
          <p:nvPr/>
        </p:nvCxnSpPr>
        <p:spPr>
          <a:xfrm>
            <a:off x="480060" y="2983230"/>
            <a:ext cx="8161020" cy="0"/>
          </a:xfrm>
          <a:prstGeom prst="straightConnector1">
            <a:avLst/>
          </a:prstGeom>
          <a:noFill/>
          <a:ln cap="flat" cmpd="sng" w="12700">
            <a:solidFill>
              <a:srgbClr val="1428FF"/>
            </a:solidFill>
            <a:prstDash val="solid"/>
            <a:round/>
            <a:headEnd len="sm" w="sm" type="none"/>
            <a:tailEnd len="sm" w="sm" type="none"/>
          </a:ln>
        </p:spPr>
      </p:cxnSp>
      <p:sp>
        <p:nvSpPr>
          <p:cNvPr id="102" name="Google Shape;102;p17"/>
          <p:cNvSpPr/>
          <p:nvPr/>
        </p:nvSpPr>
        <p:spPr>
          <a:xfrm>
            <a:off x="480060" y="3079242"/>
            <a:ext cx="617220" cy="51435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D8D7D2"/>
              </a:buClr>
              <a:buSzPts val="2400"/>
              <a:buFont typeface="Cambria"/>
              <a:buNone/>
            </a:pPr>
            <a:r>
              <a:rPr b="1" i="0" lang="fr" sz="2400" u="none" cap="none" strike="noStrike">
                <a:solidFill>
                  <a:srgbClr val="1428FF"/>
                </a:solidFill>
                <a:latin typeface="Cambria"/>
                <a:ea typeface="Cambria"/>
                <a:cs typeface="Cambria"/>
                <a:sym typeface="Cambria"/>
              </a:rPr>
              <a:t>03</a:t>
            </a:r>
            <a:endParaRPr b="0" i="0" sz="2400" u="none" cap="none" strike="noStrike">
              <a:solidFill>
                <a:srgbClr val="1428FF"/>
              </a:solidFill>
              <a:latin typeface="Calibri"/>
              <a:ea typeface="Calibri"/>
              <a:cs typeface="Calibri"/>
              <a:sym typeface="Calibri"/>
            </a:endParaRPr>
          </a:p>
        </p:txBody>
      </p:sp>
      <p:sp>
        <p:nvSpPr>
          <p:cNvPr id="103" name="Google Shape;103;p17"/>
          <p:cNvSpPr/>
          <p:nvPr/>
        </p:nvSpPr>
        <p:spPr>
          <a:xfrm>
            <a:off x="1131570" y="3134106"/>
            <a:ext cx="2537460" cy="630936"/>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17181C"/>
              </a:buClr>
              <a:buSzPts val="1200"/>
              <a:buFont typeface="Calibri"/>
              <a:buNone/>
            </a:pPr>
            <a:r>
              <a:rPr b="1" lang="fr" sz="1200">
                <a:solidFill>
                  <a:srgbClr val="17181C"/>
                </a:solidFill>
                <a:latin typeface="Calibri"/>
                <a:ea typeface="Calibri"/>
                <a:cs typeface="Calibri"/>
                <a:sym typeface="Calibri"/>
              </a:rPr>
              <a:t>Imputation</a:t>
            </a:r>
            <a:endParaRPr b="0" i="0" sz="1200" u="none" cap="none" strike="noStrike">
              <a:solidFill>
                <a:schemeClr val="dk1"/>
              </a:solidFill>
              <a:latin typeface="Calibri"/>
              <a:ea typeface="Calibri"/>
              <a:cs typeface="Calibri"/>
              <a:sym typeface="Calibri"/>
            </a:endParaRPr>
          </a:p>
        </p:txBody>
      </p:sp>
      <p:sp>
        <p:nvSpPr>
          <p:cNvPr id="104" name="Google Shape;104;p17"/>
          <p:cNvSpPr/>
          <p:nvPr/>
        </p:nvSpPr>
        <p:spPr>
          <a:xfrm>
            <a:off x="3771900" y="3134106"/>
            <a:ext cx="4869180" cy="630936"/>
          </a:xfrm>
          <a:prstGeom prst="rect">
            <a:avLst/>
          </a:prstGeom>
          <a:noFill/>
          <a:ln>
            <a:noFill/>
          </a:ln>
        </p:spPr>
        <p:txBody>
          <a:bodyPr anchorCtr="0" anchor="t" bIns="34275" lIns="68575" spcFirstLastPara="1" rIns="68575" wrap="square" tIns="34275">
            <a:noAutofit/>
          </a:bodyPr>
          <a:lstStyle/>
          <a:p>
            <a:pPr indent="0" lvl="0" marL="0" marR="0" rtl="0" algn="l">
              <a:lnSpc>
                <a:spcPct val="130000"/>
              </a:lnSpc>
              <a:spcBef>
                <a:spcPts val="0"/>
              </a:spcBef>
              <a:spcAft>
                <a:spcPts val="0"/>
              </a:spcAft>
              <a:buClr>
                <a:srgbClr val="6B6F76"/>
              </a:buClr>
              <a:buSzPts val="1100"/>
              <a:buFont typeface="Calibri"/>
              <a:buNone/>
            </a:pPr>
            <a:r>
              <a:rPr lang="fr" sz="1100">
                <a:solidFill>
                  <a:srgbClr val="6B6F76"/>
                </a:solidFill>
                <a:latin typeface="Calibri"/>
                <a:ea typeface="Calibri"/>
                <a:cs typeface="Calibri"/>
                <a:sym typeface="Calibri"/>
              </a:rPr>
              <a:t>Null imputation</a:t>
            </a:r>
            <a:r>
              <a:rPr b="0" i="0" lang="fr" sz="1100" u="none" cap="none" strike="noStrike">
                <a:solidFill>
                  <a:srgbClr val="6B6F76"/>
                </a:solidFill>
                <a:latin typeface="Calibri"/>
                <a:ea typeface="Calibri"/>
                <a:cs typeface="Calibri"/>
                <a:sym typeface="Calibri"/>
              </a:rPr>
              <a:t> where missing meant not present (parking, cellar)</a:t>
            </a:r>
            <a:endParaRPr b="0" i="0" sz="1100" u="none" cap="none" strike="noStrike">
              <a:solidFill>
                <a:srgbClr val="6B6F76"/>
              </a:solidFill>
              <a:latin typeface="Calibri"/>
              <a:ea typeface="Calibri"/>
              <a:cs typeface="Calibri"/>
              <a:sym typeface="Calibri"/>
            </a:endParaRPr>
          </a:p>
          <a:p>
            <a:pPr indent="0" lvl="0" marL="0" marR="0" rtl="0" algn="l">
              <a:lnSpc>
                <a:spcPct val="130000"/>
              </a:lnSpc>
              <a:spcBef>
                <a:spcPts val="0"/>
              </a:spcBef>
              <a:spcAft>
                <a:spcPts val="0"/>
              </a:spcAft>
              <a:buClr>
                <a:srgbClr val="6B6F76"/>
              </a:buClr>
              <a:buSzPts val="1100"/>
              <a:buFont typeface="Calibri"/>
              <a:buNone/>
            </a:pPr>
            <a:r>
              <a:rPr lang="fr" sz="1100">
                <a:solidFill>
                  <a:srgbClr val="6B6F76"/>
                </a:solidFill>
                <a:latin typeface="Calibri"/>
                <a:ea typeface="Calibri"/>
                <a:cs typeface="Calibri"/>
                <a:sym typeface="Calibri"/>
              </a:rPr>
              <a:t>M</a:t>
            </a:r>
            <a:r>
              <a:rPr b="0" i="0" lang="fr" sz="1100" u="none" cap="none" strike="noStrike">
                <a:solidFill>
                  <a:srgbClr val="6B6F76"/>
                </a:solidFill>
                <a:latin typeface="Calibri"/>
                <a:ea typeface="Calibri"/>
                <a:cs typeface="Calibri"/>
                <a:sym typeface="Calibri"/>
              </a:rPr>
              <a:t>edian</a:t>
            </a:r>
            <a:r>
              <a:rPr lang="fr" sz="1100">
                <a:solidFill>
                  <a:srgbClr val="6B6F76"/>
                </a:solidFill>
                <a:latin typeface="Calibri"/>
                <a:ea typeface="Calibri"/>
                <a:cs typeface="Calibri"/>
                <a:sym typeface="Calibri"/>
              </a:rPr>
              <a:t> </a:t>
            </a:r>
            <a:r>
              <a:rPr b="0" i="0" lang="fr" sz="1100" u="none" cap="none" strike="noStrike">
                <a:solidFill>
                  <a:srgbClr val="6B6F76"/>
                </a:solidFill>
                <a:latin typeface="Calibri"/>
                <a:ea typeface="Calibri"/>
                <a:cs typeface="Calibri"/>
                <a:sym typeface="Calibri"/>
              </a:rPr>
              <a:t>imput</a:t>
            </a:r>
            <a:r>
              <a:rPr lang="fr" sz="1100">
                <a:solidFill>
                  <a:srgbClr val="6B6F76"/>
                </a:solidFill>
                <a:latin typeface="Calibri"/>
                <a:ea typeface="Calibri"/>
                <a:cs typeface="Calibri"/>
                <a:sym typeface="Calibri"/>
              </a:rPr>
              <a:t>ation</a:t>
            </a:r>
            <a:r>
              <a:rPr b="0" i="0" lang="fr" sz="1100" u="none" cap="none" strike="noStrike">
                <a:solidFill>
                  <a:srgbClr val="6B6F76"/>
                </a:solidFill>
                <a:latin typeface="Calibri"/>
                <a:ea typeface="Calibri"/>
                <a:cs typeface="Calibri"/>
                <a:sym typeface="Calibri"/>
              </a:rPr>
              <a:t> where it meant </a:t>
            </a:r>
            <a:r>
              <a:rPr lang="fr" sz="1100">
                <a:solidFill>
                  <a:srgbClr val="6B6F76"/>
                </a:solidFill>
                <a:latin typeface="Calibri"/>
                <a:ea typeface="Calibri"/>
                <a:cs typeface="Calibri"/>
                <a:sym typeface="Calibri"/>
              </a:rPr>
              <a:t>entry error</a:t>
            </a:r>
            <a:endParaRPr b="0" i="0" sz="1100" u="none" cap="none" strike="noStrike">
              <a:solidFill>
                <a:schemeClr val="dk1"/>
              </a:solidFill>
              <a:latin typeface="Calibri"/>
              <a:ea typeface="Calibri"/>
              <a:cs typeface="Calibri"/>
              <a:sym typeface="Calibri"/>
            </a:endParaRPr>
          </a:p>
        </p:txBody>
      </p:sp>
      <p:cxnSp>
        <p:nvCxnSpPr>
          <p:cNvPr id="105" name="Google Shape;105;p17"/>
          <p:cNvCxnSpPr/>
          <p:nvPr/>
        </p:nvCxnSpPr>
        <p:spPr>
          <a:xfrm>
            <a:off x="480060" y="3751326"/>
            <a:ext cx="8161020" cy="0"/>
          </a:xfrm>
          <a:prstGeom prst="straightConnector1">
            <a:avLst/>
          </a:prstGeom>
          <a:noFill/>
          <a:ln cap="flat" cmpd="sng" w="12700">
            <a:solidFill>
              <a:srgbClr val="1428FF"/>
            </a:solidFill>
            <a:prstDash val="solid"/>
            <a:round/>
            <a:headEnd len="sm" w="sm" type="none"/>
            <a:tailEnd len="sm" w="sm" type="none"/>
          </a:ln>
        </p:spPr>
      </p:cxnSp>
      <p:sp>
        <p:nvSpPr>
          <p:cNvPr id="106" name="Google Shape;106;p17"/>
          <p:cNvSpPr/>
          <p:nvPr/>
        </p:nvSpPr>
        <p:spPr>
          <a:xfrm>
            <a:off x="480060" y="3847338"/>
            <a:ext cx="617220" cy="51435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D8D7D2"/>
              </a:buClr>
              <a:buSzPts val="2400"/>
              <a:buFont typeface="Cambria"/>
              <a:buNone/>
            </a:pPr>
            <a:r>
              <a:rPr b="1" i="0" lang="fr" sz="2400" u="none" cap="none" strike="noStrike">
                <a:solidFill>
                  <a:srgbClr val="1428FF"/>
                </a:solidFill>
                <a:latin typeface="Cambria"/>
                <a:ea typeface="Cambria"/>
                <a:cs typeface="Cambria"/>
                <a:sym typeface="Cambria"/>
              </a:rPr>
              <a:t>04</a:t>
            </a:r>
            <a:endParaRPr b="0" i="0" sz="2400" u="none" cap="none" strike="noStrike">
              <a:solidFill>
                <a:srgbClr val="1428FF"/>
              </a:solidFill>
              <a:latin typeface="Calibri"/>
              <a:ea typeface="Calibri"/>
              <a:cs typeface="Calibri"/>
              <a:sym typeface="Calibri"/>
            </a:endParaRPr>
          </a:p>
        </p:txBody>
      </p:sp>
      <p:sp>
        <p:nvSpPr>
          <p:cNvPr id="107" name="Google Shape;107;p17"/>
          <p:cNvSpPr/>
          <p:nvPr/>
        </p:nvSpPr>
        <p:spPr>
          <a:xfrm>
            <a:off x="1131570" y="3902202"/>
            <a:ext cx="2537460" cy="630936"/>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17181C"/>
              </a:buClr>
              <a:buSzPts val="1200"/>
              <a:buFont typeface="Calibri"/>
              <a:buNone/>
            </a:pPr>
            <a:r>
              <a:rPr b="1" i="0" lang="fr" sz="1200" u="none" cap="none" strike="noStrike">
                <a:solidFill>
                  <a:srgbClr val="17181C"/>
                </a:solidFill>
                <a:latin typeface="Calibri"/>
                <a:ea typeface="Calibri"/>
                <a:cs typeface="Calibri"/>
                <a:sym typeface="Calibri"/>
              </a:rPr>
              <a:t>Engineered 14 new features</a:t>
            </a:r>
            <a:endParaRPr b="0" i="0" sz="1200" u="none" cap="none" strike="noStrike">
              <a:solidFill>
                <a:schemeClr val="dk1"/>
              </a:solidFill>
              <a:latin typeface="Calibri"/>
              <a:ea typeface="Calibri"/>
              <a:cs typeface="Calibri"/>
              <a:sym typeface="Calibri"/>
            </a:endParaRPr>
          </a:p>
        </p:txBody>
      </p:sp>
      <p:sp>
        <p:nvSpPr>
          <p:cNvPr id="108" name="Google Shape;108;p17"/>
          <p:cNvSpPr/>
          <p:nvPr/>
        </p:nvSpPr>
        <p:spPr>
          <a:xfrm>
            <a:off x="3771900" y="3902202"/>
            <a:ext cx="4869180" cy="630936"/>
          </a:xfrm>
          <a:prstGeom prst="rect">
            <a:avLst/>
          </a:prstGeom>
          <a:noFill/>
          <a:ln>
            <a:noFill/>
          </a:ln>
        </p:spPr>
        <p:txBody>
          <a:bodyPr anchorCtr="0" anchor="t" bIns="34275" lIns="68575" spcFirstLastPara="1" rIns="68575" wrap="square" tIns="34275">
            <a:noAutofit/>
          </a:bodyPr>
          <a:lstStyle/>
          <a:p>
            <a:pPr indent="0" lvl="0" marL="0" marR="0" rtl="0" algn="l">
              <a:lnSpc>
                <a:spcPct val="130000"/>
              </a:lnSpc>
              <a:spcBef>
                <a:spcPts val="0"/>
              </a:spcBef>
              <a:spcAft>
                <a:spcPts val="0"/>
              </a:spcAft>
              <a:buClr>
                <a:srgbClr val="6B6F76"/>
              </a:buClr>
              <a:buSzPts val="1100"/>
              <a:buFont typeface="Calibri"/>
              <a:buNone/>
            </a:pPr>
            <a:r>
              <a:rPr b="0" i="0" lang="fr" sz="1100" u="none" cap="none" strike="noStrike">
                <a:solidFill>
                  <a:srgbClr val="6B6F76"/>
                </a:solidFill>
                <a:latin typeface="Calibri"/>
                <a:ea typeface="Calibri"/>
                <a:cs typeface="Calibri"/>
                <a:sym typeface="Calibri"/>
              </a:rPr>
              <a:t>Property age, area ratios, outdoor space, floor position, arrondissement geography, seasonality, and one-hot property type.</a:t>
            </a:r>
            <a:endParaRPr b="0" i="0" sz="1100" u="none" cap="none" strike="noStrike">
              <a:solidFill>
                <a:schemeClr val="dk1"/>
              </a:solidFill>
              <a:latin typeface="Calibri"/>
              <a:ea typeface="Calibri"/>
              <a:cs typeface="Calibri"/>
              <a:sym typeface="Calibri"/>
            </a:endParaRPr>
          </a:p>
        </p:txBody>
      </p:sp>
      <p:sp>
        <p:nvSpPr>
          <p:cNvPr id="109" name="Google Shape;109;p17"/>
          <p:cNvSpPr/>
          <p:nvPr/>
        </p:nvSpPr>
        <p:spPr>
          <a:xfrm>
            <a:off x="8558784" y="4855464"/>
            <a:ext cx="274320"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9CA0A8"/>
              </a:buClr>
              <a:buSzPts val="800"/>
              <a:buFont typeface="Calibri"/>
              <a:buNone/>
            </a:pPr>
            <a:r>
              <a:rPr b="0" i="0" lang="fr" sz="800" u="none" cap="none" strike="noStrike">
                <a:solidFill>
                  <a:srgbClr val="9CA0A8"/>
                </a:solidFill>
                <a:latin typeface="Calibri"/>
                <a:ea typeface="Calibri"/>
                <a:cs typeface="Calibri"/>
                <a:sym typeface="Calibri"/>
              </a:rPr>
              <a:t>3</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4" name="Shape 114"/>
        <p:cNvGrpSpPr/>
        <p:nvPr/>
      </p:nvGrpSpPr>
      <p:grpSpPr>
        <a:xfrm>
          <a:off x="0" y="0"/>
          <a:ext cx="0" cy="0"/>
          <a:chOff x="0" y="0"/>
          <a:chExt cx="0" cy="0"/>
        </a:xfrm>
      </p:grpSpPr>
      <p:pic>
        <p:nvPicPr>
          <p:cNvPr descr="preencoded.png" id="115" name="Google Shape;115;p18"/>
          <p:cNvPicPr preferRelativeResize="0"/>
          <p:nvPr/>
        </p:nvPicPr>
        <p:blipFill rotWithShape="1">
          <a:blip r:embed="rId3">
            <a:alphaModFix/>
          </a:blip>
          <a:srcRect b="0" l="0" r="0" t="0"/>
          <a:stretch/>
        </p:blipFill>
        <p:spPr>
          <a:xfrm>
            <a:off x="7838694" y="274320"/>
            <a:ext cx="925830" cy="152029"/>
          </a:xfrm>
          <a:prstGeom prst="rect">
            <a:avLst/>
          </a:prstGeom>
          <a:noFill/>
          <a:ln>
            <a:noFill/>
          </a:ln>
        </p:spPr>
      </p:pic>
      <p:sp>
        <p:nvSpPr>
          <p:cNvPr id="116" name="Google Shape;116;p18"/>
          <p:cNvSpPr/>
          <p:nvPr/>
        </p:nvSpPr>
        <p:spPr>
          <a:xfrm>
            <a:off x="480060" y="315468"/>
            <a:ext cx="6172200" cy="219456"/>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428FF"/>
              </a:buClr>
              <a:buSzPts val="900"/>
              <a:buFont typeface="Calibri"/>
              <a:buNone/>
            </a:pPr>
            <a:r>
              <a:rPr b="1" i="0" lang="fr" sz="900" u="none" cap="none" strike="noStrike">
                <a:solidFill>
                  <a:srgbClr val="1428FF"/>
                </a:solidFill>
                <a:latin typeface="Calibri"/>
                <a:ea typeface="Calibri"/>
                <a:cs typeface="Calibri"/>
                <a:sym typeface="Calibri"/>
              </a:rPr>
              <a:t>1 · DATA PREPROCESSING</a:t>
            </a:r>
            <a:endParaRPr b="0" i="0" sz="900" u="none" cap="none" strike="noStrike">
              <a:solidFill>
                <a:schemeClr val="dk1"/>
              </a:solidFill>
              <a:latin typeface="Calibri"/>
              <a:ea typeface="Calibri"/>
              <a:cs typeface="Calibri"/>
              <a:sym typeface="Calibri"/>
            </a:endParaRPr>
          </a:p>
        </p:txBody>
      </p:sp>
      <p:sp>
        <p:nvSpPr>
          <p:cNvPr id="117" name="Google Shape;117;p18"/>
          <p:cNvSpPr/>
          <p:nvPr/>
        </p:nvSpPr>
        <p:spPr>
          <a:xfrm>
            <a:off x="480054" y="894575"/>
            <a:ext cx="4517400" cy="58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7181C"/>
              </a:buClr>
              <a:buSzPts val="2000"/>
              <a:buFont typeface="Cambria"/>
              <a:buNone/>
            </a:pPr>
            <a:r>
              <a:rPr b="1" lang="fr" sz="2000">
                <a:solidFill>
                  <a:srgbClr val="17181C"/>
                </a:solidFill>
                <a:latin typeface="Cambria"/>
                <a:ea typeface="Cambria"/>
                <a:cs typeface="Cambria"/>
                <a:sym typeface="Cambria"/>
              </a:rPr>
              <a:t>Final dataset:  91.7% of original rows</a:t>
            </a:r>
            <a:endParaRPr b="0" i="0" sz="2000" u="none" cap="none" strike="noStrike">
              <a:solidFill>
                <a:schemeClr val="dk1"/>
              </a:solidFill>
              <a:latin typeface="Calibri"/>
              <a:ea typeface="Calibri"/>
              <a:cs typeface="Calibri"/>
              <a:sym typeface="Calibri"/>
            </a:endParaRPr>
          </a:p>
        </p:txBody>
      </p:sp>
      <p:sp>
        <p:nvSpPr>
          <p:cNvPr id="118" name="Google Shape;118;p18"/>
          <p:cNvSpPr/>
          <p:nvPr/>
        </p:nvSpPr>
        <p:spPr>
          <a:xfrm>
            <a:off x="480061" y="1719128"/>
            <a:ext cx="2413800" cy="646800"/>
          </a:xfrm>
          <a:prstGeom prst="rect">
            <a:avLst/>
          </a:prstGeom>
          <a:noFill/>
          <a:ln>
            <a:noFill/>
          </a:ln>
        </p:spPr>
        <p:txBody>
          <a:bodyPr anchorCtr="0" anchor="ctr" bIns="43075" lIns="86200" spcFirstLastPara="1" rIns="86200" wrap="square" tIns="43075">
            <a:noAutofit/>
          </a:bodyPr>
          <a:lstStyle/>
          <a:p>
            <a:pPr indent="0" lvl="0" marL="0" marR="0" rtl="0" algn="l">
              <a:spcBef>
                <a:spcPts val="0"/>
              </a:spcBef>
              <a:spcAft>
                <a:spcPts val="0"/>
              </a:spcAft>
              <a:buClr>
                <a:srgbClr val="17181C"/>
              </a:buClr>
              <a:buSzPts val="3394"/>
              <a:buFont typeface="Cambria"/>
              <a:buNone/>
            </a:pPr>
            <a:r>
              <a:rPr b="1" i="0" lang="fr" sz="3394" u="none" cap="none" strike="noStrike">
                <a:solidFill>
                  <a:srgbClr val="17181C"/>
                </a:solidFill>
                <a:latin typeface="Cambria"/>
                <a:ea typeface="Cambria"/>
                <a:cs typeface="Cambria"/>
                <a:sym typeface="Cambria"/>
              </a:rPr>
              <a:t>100,000</a:t>
            </a:r>
            <a:endParaRPr b="0" i="0" sz="3394" u="none" cap="none" strike="noStrike">
              <a:solidFill>
                <a:schemeClr val="dk1"/>
              </a:solidFill>
              <a:latin typeface="Calibri"/>
              <a:ea typeface="Calibri"/>
              <a:cs typeface="Calibri"/>
              <a:sym typeface="Calibri"/>
            </a:endParaRPr>
          </a:p>
        </p:txBody>
      </p:sp>
      <p:sp>
        <p:nvSpPr>
          <p:cNvPr id="119" name="Google Shape;119;p18"/>
          <p:cNvSpPr/>
          <p:nvPr/>
        </p:nvSpPr>
        <p:spPr>
          <a:xfrm>
            <a:off x="480061" y="2408805"/>
            <a:ext cx="2413800" cy="344700"/>
          </a:xfrm>
          <a:prstGeom prst="rect">
            <a:avLst/>
          </a:prstGeom>
          <a:noFill/>
          <a:ln>
            <a:noFill/>
          </a:ln>
        </p:spPr>
        <p:txBody>
          <a:bodyPr anchorCtr="0" anchor="ctr" bIns="43075" lIns="86200" spcFirstLastPara="1" rIns="86200" wrap="square" tIns="43075">
            <a:noAutofit/>
          </a:bodyPr>
          <a:lstStyle/>
          <a:p>
            <a:pPr indent="0" lvl="0" marL="0" marR="0" rtl="0" algn="l">
              <a:spcBef>
                <a:spcPts val="0"/>
              </a:spcBef>
              <a:spcAft>
                <a:spcPts val="0"/>
              </a:spcAft>
              <a:buClr>
                <a:srgbClr val="6B6F76"/>
              </a:buClr>
              <a:buSzPts val="1383"/>
              <a:buFont typeface="Calibri"/>
              <a:buNone/>
            </a:pPr>
            <a:r>
              <a:rPr b="0" i="0" lang="fr" sz="1383" u="none" cap="none" strike="noStrike">
                <a:solidFill>
                  <a:srgbClr val="6B6F76"/>
                </a:solidFill>
                <a:latin typeface="Calibri"/>
                <a:ea typeface="Calibri"/>
                <a:cs typeface="Calibri"/>
                <a:sym typeface="Calibri"/>
              </a:rPr>
              <a:t>raw listings</a:t>
            </a:r>
            <a:endParaRPr b="0" i="0" sz="1383" u="none" cap="none" strike="noStrike">
              <a:solidFill>
                <a:schemeClr val="dk1"/>
              </a:solidFill>
              <a:latin typeface="Calibri"/>
              <a:ea typeface="Calibri"/>
              <a:cs typeface="Calibri"/>
              <a:sym typeface="Calibri"/>
            </a:endParaRPr>
          </a:p>
        </p:txBody>
      </p:sp>
      <p:sp>
        <p:nvSpPr>
          <p:cNvPr id="120" name="Google Shape;120;p18"/>
          <p:cNvSpPr/>
          <p:nvPr/>
        </p:nvSpPr>
        <p:spPr>
          <a:xfrm>
            <a:off x="4792933" y="1719128"/>
            <a:ext cx="2413800" cy="646800"/>
          </a:xfrm>
          <a:prstGeom prst="rect">
            <a:avLst/>
          </a:prstGeom>
          <a:noFill/>
          <a:ln>
            <a:noFill/>
          </a:ln>
        </p:spPr>
        <p:txBody>
          <a:bodyPr anchorCtr="0" anchor="ctr" bIns="43075" lIns="86200" spcFirstLastPara="1" rIns="86200" wrap="square" tIns="43075">
            <a:noAutofit/>
          </a:bodyPr>
          <a:lstStyle/>
          <a:p>
            <a:pPr indent="0" lvl="0" marL="0" marR="0" rtl="0" algn="l">
              <a:spcBef>
                <a:spcPts val="0"/>
              </a:spcBef>
              <a:spcAft>
                <a:spcPts val="0"/>
              </a:spcAft>
              <a:buClr>
                <a:srgbClr val="1428FF"/>
              </a:buClr>
              <a:buSzPts val="3394"/>
              <a:buFont typeface="Cambria"/>
              <a:buNone/>
            </a:pPr>
            <a:r>
              <a:rPr b="1" i="0" lang="fr" sz="3394" u="none" cap="none" strike="noStrike">
                <a:solidFill>
                  <a:srgbClr val="1428FF"/>
                </a:solidFill>
                <a:latin typeface="Cambria"/>
                <a:ea typeface="Cambria"/>
                <a:cs typeface="Cambria"/>
                <a:sym typeface="Cambria"/>
              </a:rPr>
              <a:t>91,680</a:t>
            </a:r>
            <a:endParaRPr b="0" i="0" sz="3394" u="none" cap="none" strike="noStrike">
              <a:solidFill>
                <a:schemeClr val="dk1"/>
              </a:solidFill>
              <a:latin typeface="Calibri"/>
              <a:ea typeface="Calibri"/>
              <a:cs typeface="Calibri"/>
              <a:sym typeface="Calibri"/>
            </a:endParaRPr>
          </a:p>
        </p:txBody>
      </p:sp>
      <p:sp>
        <p:nvSpPr>
          <p:cNvPr id="121" name="Google Shape;121;p18"/>
          <p:cNvSpPr/>
          <p:nvPr/>
        </p:nvSpPr>
        <p:spPr>
          <a:xfrm>
            <a:off x="4792933" y="2408805"/>
            <a:ext cx="2413800" cy="344700"/>
          </a:xfrm>
          <a:prstGeom prst="rect">
            <a:avLst/>
          </a:prstGeom>
          <a:noFill/>
          <a:ln>
            <a:noFill/>
          </a:ln>
        </p:spPr>
        <p:txBody>
          <a:bodyPr anchorCtr="0" anchor="ctr" bIns="43075" lIns="86200" spcFirstLastPara="1" rIns="86200" wrap="square" tIns="43075">
            <a:noAutofit/>
          </a:bodyPr>
          <a:lstStyle/>
          <a:p>
            <a:pPr indent="0" lvl="0" marL="0" marR="0" rtl="0" algn="l">
              <a:spcBef>
                <a:spcPts val="0"/>
              </a:spcBef>
              <a:spcAft>
                <a:spcPts val="0"/>
              </a:spcAft>
              <a:buClr>
                <a:srgbClr val="6B6F76"/>
              </a:buClr>
              <a:buSzPts val="1383"/>
              <a:buFont typeface="Calibri"/>
              <a:buNone/>
            </a:pPr>
            <a:r>
              <a:rPr b="0" i="0" lang="fr" sz="1383" u="none" cap="none" strike="noStrike">
                <a:solidFill>
                  <a:srgbClr val="6B6F76"/>
                </a:solidFill>
                <a:latin typeface="Calibri"/>
                <a:ea typeface="Calibri"/>
                <a:cs typeface="Calibri"/>
                <a:sym typeface="Calibri"/>
              </a:rPr>
              <a:t>clean listings</a:t>
            </a:r>
            <a:endParaRPr b="0" i="0" sz="1383" u="none" cap="none" strike="noStrike">
              <a:solidFill>
                <a:schemeClr val="dk1"/>
              </a:solidFill>
              <a:latin typeface="Calibri"/>
              <a:ea typeface="Calibri"/>
              <a:cs typeface="Calibri"/>
              <a:sym typeface="Calibri"/>
            </a:endParaRPr>
          </a:p>
        </p:txBody>
      </p:sp>
      <p:sp>
        <p:nvSpPr>
          <p:cNvPr id="122" name="Google Shape;122;p18"/>
          <p:cNvSpPr/>
          <p:nvPr/>
        </p:nvSpPr>
        <p:spPr>
          <a:xfrm>
            <a:off x="480052" y="3276413"/>
            <a:ext cx="2413800" cy="646800"/>
          </a:xfrm>
          <a:prstGeom prst="rect">
            <a:avLst/>
          </a:prstGeom>
          <a:noFill/>
          <a:ln>
            <a:noFill/>
          </a:ln>
        </p:spPr>
        <p:txBody>
          <a:bodyPr anchorCtr="0" anchor="ctr" bIns="43075" lIns="86200" spcFirstLastPara="1" rIns="86200" wrap="square" tIns="43075">
            <a:noAutofit/>
          </a:bodyPr>
          <a:lstStyle/>
          <a:p>
            <a:pPr indent="0" lvl="0" marL="0" marR="0" rtl="0" algn="l">
              <a:spcBef>
                <a:spcPts val="0"/>
              </a:spcBef>
              <a:spcAft>
                <a:spcPts val="0"/>
              </a:spcAft>
              <a:buClr>
                <a:srgbClr val="17181C"/>
              </a:buClr>
              <a:buSzPts val="3394"/>
              <a:buFont typeface="Cambria"/>
              <a:buNone/>
            </a:pPr>
            <a:r>
              <a:rPr b="1" i="0" lang="fr" sz="3394" u="none" cap="none" strike="noStrike">
                <a:solidFill>
                  <a:srgbClr val="17181C"/>
                </a:solidFill>
                <a:latin typeface="Cambria"/>
                <a:ea typeface="Cambria"/>
                <a:cs typeface="Cambria"/>
                <a:sym typeface="Cambria"/>
              </a:rPr>
              <a:t>8,211</a:t>
            </a:r>
            <a:endParaRPr b="0" i="0" sz="3394" u="none" cap="none" strike="noStrike">
              <a:solidFill>
                <a:schemeClr val="dk1"/>
              </a:solidFill>
              <a:latin typeface="Calibri"/>
              <a:ea typeface="Calibri"/>
              <a:cs typeface="Calibri"/>
              <a:sym typeface="Calibri"/>
            </a:endParaRPr>
          </a:p>
        </p:txBody>
      </p:sp>
      <p:sp>
        <p:nvSpPr>
          <p:cNvPr id="123" name="Google Shape;123;p18"/>
          <p:cNvSpPr/>
          <p:nvPr/>
        </p:nvSpPr>
        <p:spPr>
          <a:xfrm>
            <a:off x="480052" y="3966090"/>
            <a:ext cx="2413800" cy="344700"/>
          </a:xfrm>
          <a:prstGeom prst="rect">
            <a:avLst/>
          </a:prstGeom>
          <a:noFill/>
          <a:ln>
            <a:noFill/>
          </a:ln>
        </p:spPr>
        <p:txBody>
          <a:bodyPr anchorCtr="0" anchor="ctr" bIns="43075" lIns="86200" spcFirstLastPara="1" rIns="86200" wrap="square" tIns="43075">
            <a:noAutofit/>
          </a:bodyPr>
          <a:lstStyle/>
          <a:p>
            <a:pPr indent="0" lvl="0" marL="0" marR="0" rtl="0" algn="l">
              <a:spcBef>
                <a:spcPts val="0"/>
              </a:spcBef>
              <a:spcAft>
                <a:spcPts val="0"/>
              </a:spcAft>
              <a:buClr>
                <a:srgbClr val="6B6F76"/>
              </a:buClr>
              <a:buSzPts val="1383"/>
              <a:buFont typeface="Calibri"/>
              <a:buNone/>
            </a:pPr>
            <a:r>
              <a:rPr b="0" i="0" lang="fr" sz="1383" u="none" cap="none" strike="noStrike">
                <a:solidFill>
                  <a:srgbClr val="6B6F76"/>
                </a:solidFill>
                <a:latin typeface="Calibri"/>
                <a:ea typeface="Calibri"/>
                <a:cs typeface="Calibri"/>
                <a:sym typeface="Calibri"/>
              </a:rPr>
              <a:t>outliers removed</a:t>
            </a:r>
            <a:endParaRPr b="0" i="0" sz="1383" u="none" cap="none" strike="noStrike">
              <a:solidFill>
                <a:schemeClr val="dk1"/>
              </a:solidFill>
              <a:latin typeface="Calibri"/>
              <a:ea typeface="Calibri"/>
              <a:cs typeface="Calibri"/>
              <a:sym typeface="Calibri"/>
            </a:endParaRPr>
          </a:p>
        </p:txBody>
      </p:sp>
      <p:sp>
        <p:nvSpPr>
          <p:cNvPr id="124" name="Google Shape;124;p18"/>
          <p:cNvSpPr/>
          <p:nvPr/>
        </p:nvSpPr>
        <p:spPr>
          <a:xfrm>
            <a:off x="4792924" y="3276413"/>
            <a:ext cx="2413800" cy="646800"/>
          </a:xfrm>
          <a:prstGeom prst="rect">
            <a:avLst/>
          </a:prstGeom>
          <a:noFill/>
          <a:ln>
            <a:noFill/>
          </a:ln>
        </p:spPr>
        <p:txBody>
          <a:bodyPr anchorCtr="0" anchor="ctr" bIns="43075" lIns="86200" spcFirstLastPara="1" rIns="86200" wrap="square" tIns="43075">
            <a:noAutofit/>
          </a:bodyPr>
          <a:lstStyle/>
          <a:p>
            <a:pPr indent="0" lvl="0" marL="0" marR="0" rtl="0" algn="l">
              <a:spcBef>
                <a:spcPts val="0"/>
              </a:spcBef>
              <a:spcAft>
                <a:spcPts val="0"/>
              </a:spcAft>
              <a:buClr>
                <a:srgbClr val="17181C"/>
              </a:buClr>
              <a:buSzPts val="3394"/>
              <a:buFont typeface="Cambria"/>
              <a:buNone/>
            </a:pPr>
            <a:r>
              <a:rPr b="1" i="0" lang="fr" sz="3394" u="none" cap="none" strike="noStrike">
                <a:solidFill>
                  <a:srgbClr val="17181C"/>
                </a:solidFill>
                <a:latin typeface="Cambria"/>
                <a:ea typeface="Cambria"/>
                <a:cs typeface="Cambria"/>
                <a:sym typeface="Cambria"/>
              </a:rPr>
              <a:t>32</a:t>
            </a:r>
            <a:endParaRPr b="0" i="0" sz="3394" u="none" cap="none" strike="noStrike">
              <a:solidFill>
                <a:schemeClr val="dk1"/>
              </a:solidFill>
              <a:latin typeface="Calibri"/>
              <a:ea typeface="Calibri"/>
              <a:cs typeface="Calibri"/>
              <a:sym typeface="Calibri"/>
            </a:endParaRPr>
          </a:p>
        </p:txBody>
      </p:sp>
      <p:sp>
        <p:nvSpPr>
          <p:cNvPr id="125" name="Google Shape;125;p18"/>
          <p:cNvSpPr/>
          <p:nvPr/>
        </p:nvSpPr>
        <p:spPr>
          <a:xfrm>
            <a:off x="4792924" y="3966090"/>
            <a:ext cx="2413800" cy="344700"/>
          </a:xfrm>
          <a:prstGeom prst="rect">
            <a:avLst/>
          </a:prstGeom>
          <a:noFill/>
          <a:ln>
            <a:noFill/>
          </a:ln>
        </p:spPr>
        <p:txBody>
          <a:bodyPr anchorCtr="0" anchor="ctr" bIns="43075" lIns="86200" spcFirstLastPara="1" rIns="86200" wrap="square" tIns="43075">
            <a:noAutofit/>
          </a:bodyPr>
          <a:lstStyle/>
          <a:p>
            <a:pPr indent="0" lvl="0" marL="0" marR="0" rtl="0" algn="l">
              <a:spcBef>
                <a:spcPts val="0"/>
              </a:spcBef>
              <a:spcAft>
                <a:spcPts val="0"/>
              </a:spcAft>
              <a:buClr>
                <a:srgbClr val="6B6F76"/>
              </a:buClr>
              <a:buSzPts val="1383"/>
              <a:buFont typeface="Calibri"/>
              <a:buNone/>
            </a:pPr>
            <a:r>
              <a:rPr b="0" i="0" lang="fr" sz="1383" u="none" cap="none" strike="noStrike">
                <a:solidFill>
                  <a:srgbClr val="6B6F76"/>
                </a:solidFill>
                <a:latin typeface="Calibri"/>
                <a:ea typeface="Calibri"/>
                <a:cs typeface="Calibri"/>
                <a:sym typeface="Calibri"/>
              </a:rPr>
              <a:t>final features</a:t>
            </a:r>
            <a:endParaRPr b="0" i="0" sz="1383" u="none" cap="none" strike="noStrike">
              <a:solidFill>
                <a:schemeClr val="dk1"/>
              </a:solidFill>
              <a:latin typeface="Calibri"/>
              <a:ea typeface="Calibri"/>
              <a:cs typeface="Calibri"/>
              <a:sym typeface="Calibri"/>
            </a:endParaRPr>
          </a:p>
        </p:txBody>
      </p:sp>
      <p:sp>
        <p:nvSpPr>
          <p:cNvPr id="126" name="Google Shape;126;p18"/>
          <p:cNvSpPr/>
          <p:nvPr/>
        </p:nvSpPr>
        <p:spPr>
          <a:xfrm>
            <a:off x="8558784" y="4855464"/>
            <a:ext cx="274320"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9CA0A8"/>
              </a:buClr>
              <a:buSzPts val="800"/>
              <a:buFont typeface="Calibri"/>
              <a:buNone/>
            </a:pPr>
            <a:r>
              <a:rPr b="0" i="0" lang="fr" sz="800" u="none" cap="none" strike="noStrike">
                <a:solidFill>
                  <a:srgbClr val="9CA0A8"/>
                </a:solidFill>
                <a:latin typeface="Calibri"/>
                <a:ea typeface="Calibri"/>
                <a:cs typeface="Calibri"/>
                <a:sym typeface="Calibri"/>
              </a:rPr>
              <a:t>4</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1" name="Shape 131"/>
        <p:cNvGrpSpPr/>
        <p:nvPr/>
      </p:nvGrpSpPr>
      <p:grpSpPr>
        <a:xfrm>
          <a:off x="0" y="0"/>
          <a:ext cx="0" cy="0"/>
          <a:chOff x="0" y="0"/>
          <a:chExt cx="0" cy="0"/>
        </a:xfrm>
      </p:grpSpPr>
      <p:pic>
        <p:nvPicPr>
          <p:cNvPr descr="preencoded.png" id="132" name="Google Shape;132;p19"/>
          <p:cNvPicPr preferRelativeResize="0"/>
          <p:nvPr/>
        </p:nvPicPr>
        <p:blipFill rotWithShape="1">
          <a:blip r:embed="rId3">
            <a:alphaModFix/>
          </a:blip>
          <a:srcRect b="0" l="0" r="0" t="0"/>
          <a:stretch/>
        </p:blipFill>
        <p:spPr>
          <a:xfrm>
            <a:off x="7838694" y="274320"/>
            <a:ext cx="925830" cy="152029"/>
          </a:xfrm>
          <a:prstGeom prst="rect">
            <a:avLst/>
          </a:prstGeom>
          <a:noFill/>
          <a:ln>
            <a:noFill/>
          </a:ln>
        </p:spPr>
      </p:pic>
      <p:sp>
        <p:nvSpPr>
          <p:cNvPr id="133" name="Google Shape;133;p19"/>
          <p:cNvSpPr/>
          <p:nvPr/>
        </p:nvSpPr>
        <p:spPr>
          <a:xfrm>
            <a:off x="480060" y="315468"/>
            <a:ext cx="6172200" cy="219456"/>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428FF"/>
              </a:buClr>
              <a:buSzPts val="800"/>
              <a:buFont typeface="Calibri"/>
              <a:buNone/>
            </a:pPr>
            <a:r>
              <a:rPr b="1" i="0" lang="fr" sz="800" u="none" cap="none" strike="noStrike">
                <a:solidFill>
                  <a:srgbClr val="1428FF"/>
                </a:solidFill>
                <a:latin typeface="Calibri"/>
                <a:ea typeface="Calibri"/>
                <a:cs typeface="Calibri"/>
                <a:sym typeface="Calibri"/>
              </a:rPr>
              <a:t>4 · EXPLORATORY ANALYSIS</a:t>
            </a:r>
            <a:endParaRPr b="0" i="0" sz="800" u="none" cap="none" strike="noStrike">
              <a:solidFill>
                <a:schemeClr val="dk1"/>
              </a:solidFill>
              <a:latin typeface="Calibri"/>
              <a:ea typeface="Calibri"/>
              <a:cs typeface="Calibri"/>
              <a:sym typeface="Calibri"/>
            </a:endParaRPr>
          </a:p>
        </p:txBody>
      </p:sp>
      <p:sp>
        <p:nvSpPr>
          <p:cNvPr id="134" name="Google Shape;134;p19"/>
          <p:cNvSpPr/>
          <p:nvPr/>
        </p:nvSpPr>
        <p:spPr>
          <a:xfrm>
            <a:off x="480060" y="651510"/>
            <a:ext cx="8023860" cy="51435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7181C"/>
              </a:buClr>
              <a:buSzPts val="1900"/>
              <a:buFont typeface="Cambria"/>
              <a:buNone/>
            </a:pPr>
            <a:r>
              <a:rPr b="1" lang="fr" sz="1900">
                <a:solidFill>
                  <a:srgbClr val="17181C"/>
                </a:solidFill>
                <a:latin typeface="Cambria"/>
                <a:ea typeface="Cambria"/>
                <a:cs typeface="Cambria"/>
                <a:sym typeface="Cambria"/>
              </a:rPr>
              <a:t>Price distribution</a:t>
            </a:r>
            <a:endParaRPr b="0" i="0" sz="1900" u="none" cap="none" strike="noStrike">
              <a:solidFill>
                <a:schemeClr val="dk1"/>
              </a:solidFill>
              <a:latin typeface="Calibri"/>
              <a:ea typeface="Calibri"/>
              <a:cs typeface="Calibri"/>
              <a:sym typeface="Calibri"/>
            </a:endParaRPr>
          </a:p>
        </p:txBody>
      </p:sp>
      <p:pic>
        <p:nvPicPr>
          <p:cNvPr descr="preencoded.png" id="135" name="Google Shape;135;p19"/>
          <p:cNvPicPr preferRelativeResize="0"/>
          <p:nvPr/>
        </p:nvPicPr>
        <p:blipFill rotWithShape="1">
          <a:blip r:embed="rId4">
            <a:alphaModFix/>
          </a:blip>
          <a:srcRect b="0" l="0" r="0" t="0"/>
          <a:stretch/>
        </p:blipFill>
        <p:spPr>
          <a:xfrm>
            <a:off x="793830" y="1093625"/>
            <a:ext cx="7556334" cy="2872488"/>
          </a:xfrm>
          <a:prstGeom prst="rect">
            <a:avLst/>
          </a:prstGeom>
          <a:noFill/>
          <a:ln>
            <a:noFill/>
          </a:ln>
        </p:spPr>
      </p:pic>
      <p:sp>
        <p:nvSpPr>
          <p:cNvPr id="136" name="Google Shape;136;p19"/>
          <p:cNvSpPr/>
          <p:nvPr/>
        </p:nvSpPr>
        <p:spPr>
          <a:xfrm>
            <a:off x="5020625" y="3871625"/>
            <a:ext cx="3266700" cy="1049700"/>
          </a:xfrm>
          <a:prstGeom prst="rect">
            <a:avLst/>
          </a:prstGeom>
          <a:noFill/>
          <a:ln>
            <a:noFill/>
          </a:ln>
        </p:spPr>
        <p:txBody>
          <a:bodyPr anchorCtr="0" anchor="ctr" bIns="34275" lIns="68575" spcFirstLastPara="1" rIns="68575" wrap="square" tIns="34275">
            <a:noAutofit/>
          </a:bodyPr>
          <a:lstStyle/>
          <a:p>
            <a:pPr indent="0" lvl="0" marL="0" rtl="0" algn="l">
              <a:lnSpc>
                <a:spcPct val="115000"/>
              </a:lnSpc>
              <a:spcBef>
                <a:spcPts val="1200"/>
              </a:spcBef>
              <a:spcAft>
                <a:spcPts val="1200"/>
              </a:spcAft>
              <a:buClr>
                <a:schemeClr val="dk1"/>
              </a:buClr>
              <a:buSzPts val="1100"/>
              <a:buFont typeface="Arial"/>
              <a:buNone/>
            </a:pPr>
            <a:r>
              <a:rPr lang="fr" sz="900">
                <a:solidFill>
                  <a:schemeClr val="dk1"/>
                </a:solidFill>
                <a:latin typeface="Calibri"/>
                <a:ea typeface="Calibri"/>
                <a:cs typeface="Calibri"/>
                <a:sym typeface="Calibri"/>
              </a:rPr>
              <a:t>Log transforming the price makes the skew mostly disappears. it's the reason a </a:t>
            </a:r>
            <a:r>
              <a:rPr b="1" lang="fr" sz="900">
                <a:solidFill>
                  <a:schemeClr val="dk1"/>
                </a:solidFill>
                <a:latin typeface="Calibri"/>
                <a:ea typeface="Calibri"/>
                <a:cs typeface="Calibri"/>
                <a:sym typeface="Calibri"/>
              </a:rPr>
              <a:t>we will test training the model later with log-transformed target</a:t>
            </a:r>
            <a:endParaRPr b="1" sz="900">
              <a:solidFill>
                <a:srgbClr val="17181C"/>
              </a:solidFill>
              <a:latin typeface="Calibri"/>
              <a:ea typeface="Calibri"/>
              <a:cs typeface="Calibri"/>
              <a:sym typeface="Calibri"/>
            </a:endParaRPr>
          </a:p>
        </p:txBody>
      </p:sp>
      <p:sp>
        <p:nvSpPr>
          <p:cNvPr id="137" name="Google Shape;137;p19"/>
          <p:cNvSpPr/>
          <p:nvPr/>
        </p:nvSpPr>
        <p:spPr>
          <a:xfrm>
            <a:off x="8558784" y="4855464"/>
            <a:ext cx="274320"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9CA0A8"/>
              </a:buClr>
              <a:buSzPts val="800"/>
              <a:buFont typeface="Calibri"/>
              <a:buNone/>
            </a:pPr>
            <a:r>
              <a:rPr lang="fr" sz="800">
                <a:solidFill>
                  <a:srgbClr val="9CA0A8"/>
                </a:solidFill>
                <a:latin typeface="Calibri"/>
                <a:ea typeface="Calibri"/>
                <a:cs typeface="Calibri"/>
                <a:sym typeface="Calibri"/>
              </a:rPr>
              <a:t>5</a:t>
            </a:r>
            <a:endParaRPr b="0" i="0" sz="800" u="none" cap="none" strike="noStrike">
              <a:solidFill>
                <a:schemeClr val="dk1"/>
              </a:solidFill>
              <a:latin typeface="Calibri"/>
              <a:ea typeface="Calibri"/>
              <a:cs typeface="Calibri"/>
              <a:sym typeface="Calibri"/>
            </a:endParaRPr>
          </a:p>
        </p:txBody>
      </p:sp>
      <p:sp>
        <p:nvSpPr>
          <p:cNvPr id="138" name="Google Shape;138;p19"/>
          <p:cNvSpPr txBox="1"/>
          <p:nvPr/>
        </p:nvSpPr>
        <p:spPr>
          <a:xfrm>
            <a:off x="1289775" y="3966125"/>
            <a:ext cx="3299700" cy="95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fr" sz="900">
                <a:solidFill>
                  <a:schemeClr val="dk1"/>
                </a:solidFill>
                <a:latin typeface="Calibri"/>
                <a:ea typeface="Calibri"/>
                <a:cs typeface="Calibri"/>
                <a:sym typeface="Calibri"/>
              </a:rPr>
              <a:t>Half of the values go for under</a:t>
            </a:r>
            <a:r>
              <a:rPr b="1" lang="fr" sz="900">
                <a:solidFill>
                  <a:schemeClr val="dk1"/>
                </a:solidFill>
                <a:latin typeface="Calibri"/>
                <a:ea typeface="Calibri"/>
                <a:cs typeface="Calibri"/>
                <a:sym typeface="Calibri"/>
              </a:rPr>
              <a:t> €650,000</a:t>
            </a:r>
            <a:r>
              <a:rPr lang="fr" sz="900">
                <a:solidFill>
                  <a:schemeClr val="dk1"/>
                </a:solidFill>
                <a:latin typeface="Calibri"/>
                <a:ea typeface="Calibri"/>
                <a:cs typeface="Calibri"/>
                <a:sym typeface="Calibri"/>
              </a:rPr>
              <a:t> b</a:t>
            </a:r>
            <a:r>
              <a:rPr lang="fr" sz="900">
                <a:solidFill>
                  <a:schemeClr val="dk1"/>
                </a:solidFill>
                <a:latin typeface="Calibri"/>
                <a:ea typeface="Calibri"/>
                <a:cs typeface="Calibri"/>
                <a:sym typeface="Calibri"/>
              </a:rPr>
              <a:t>ut the average is </a:t>
            </a:r>
            <a:r>
              <a:rPr b="1" lang="fr" sz="900">
                <a:solidFill>
                  <a:schemeClr val="dk1"/>
                </a:solidFill>
                <a:latin typeface="Calibri"/>
                <a:ea typeface="Calibri"/>
                <a:cs typeface="Calibri"/>
                <a:sym typeface="Calibri"/>
              </a:rPr>
              <a:t>€812,306</a:t>
            </a:r>
            <a:r>
              <a:rPr lang="fr"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indent="0" lvl="0" marL="0" rtl="0" algn="l">
              <a:lnSpc>
                <a:spcPct val="115000"/>
              </a:lnSpc>
              <a:spcBef>
                <a:spcPts val="1200"/>
              </a:spcBef>
              <a:spcAft>
                <a:spcPts val="1200"/>
              </a:spcAft>
              <a:buNone/>
            </a:pPr>
            <a:r>
              <a:rPr lang="fr" sz="900">
                <a:solidFill>
                  <a:schemeClr val="dk1"/>
                </a:solidFill>
                <a:latin typeface="Calibri"/>
                <a:ea typeface="Calibri"/>
                <a:cs typeface="Calibri"/>
                <a:sym typeface="Calibri"/>
              </a:rPr>
              <a:t>The price distribution is so </a:t>
            </a:r>
            <a:r>
              <a:rPr b="1" lang="fr" sz="900">
                <a:solidFill>
                  <a:schemeClr val="dk1"/>
                </a:solidFill>
                <a:latin typeface="Calibri"/>
                <a:ea typeface="Calibri"/>
                <a:cs typeface="Calibri"/>
                <a:sym typeface="Calibri"/>
              </a:rPr>
              <a:t>left skewed </a:t>
            </a:r>
            <a:r>
              <a:rPr lang="fr" sz="900">
                <a:solidFill>
                  <a:schemeClr val="dk1"/>
                </a:solidFill>
                <a:latin typeface="Calibri"/>
                <a:ea typeface="Calibri"/>
                <a:cs typeface="Calibri"/>
                <a:sym typeface="Calibri"/>
              </a:rPr>
              <a:t>(a small number of very expensive properties pull the mean well above the median)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3" name="Shape 143"/>
        <p:cNvGrpSpPr/>
        <p:nvPr/>
      </p:nvGrpSpPr>
      <p:grpSpPr>
        <a:xfrm>
          <a:off x="0" y="0"/>
          <a:ext cx="0" cy="0"/>
          <a:chOff x="0" y="0"/>
          <a:chExt cx="0" cy="0"/>
        </a:xfrm>
      </p:grpSpPr>
      <p:pic>
        <p:nvPicPr>
          <p:cNvPr descr="preencoded.png" id="144" name="Google Shape;144;p20"/>
          <p:cNvPicPr preferRelativeResize="0"/>
          <p:nvPr/>
        </p:nvPicPr>
        <p:blipFill rotWithShape="1">
          <a:blip r:embed="rId3">
            <a:alphaModFix/>
          </a:blip>
          <a:srcRect b="0" l="0" r="0" t="0"/>
          <a:stretch/>
        </p:blipFill>
        <p:spPr>
          <a:xfrm>
            <a:off x="7838694" y="274320"/>
            <a:ext cx="925830" cy="152029"/>
          </a:xfrm>
          <a:prstGeom prst="rect">
            <a:avLst/>
          </a:prstGeom>
          <a:noFill/>
          <a:ln>
            <a:noFill/>
          </a:ln>
        </p:spPr>
      </p:pic>
      <p:sp>
        <p:nvSpPr>
          <p:cNvPr id="145" name="Google Shape;145;p20"/>
          <p:cNvSpPr/>
          <p:nvPr/>
        </p:nvSpPr>
        <p:spPr>
          <a:xfrm>
            <a:off x="480060" y="315468"/>
            <a:ext cx="6172200" cy="219456"/>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428FF"/>
              </a:buClr>
              <a:buSzPts val="800"/>
              <a:buFont typeface="Calibri"/>
              <a:buNone/>
            </a:pPr>
            <a:r>
              <a:rPr b="1" i="0" lang="fr" sz="800" u="none" cap="none" strike="noStrike">
                <a:solidFill>
                  <a:srgbClr val="1428FF"/>
                </a:solidFill>
                <a:latin typeface="Calibri"/>
                <a:ea typeface="Calibri"/>
                <a:cs typeface="Calibri"/>
                <a:sym typeface="Calibri"/>
              </a:rPr>
              <a:t>4 · EXPLORATORY ANALYSIS</a:t>
            </a:r>
            <a:endParaRPr b="0" i="0" sz="800" u="none" cap="none" strike="noStrike">
              <a:solidFill>
                <a:schemeClr val="dk1"/>
              </a:solidFill>
              <a:latin typeface="Calibri"/>
              <a:ea typeface="Calibri"/>
              <a:cs typeface="Calibri"/>
              <a:sym typeface="Calibri"/>
            </a:endParaRPr>
          </a:p>
        </p:txBody>
      </p:sp>
      <p:sp>
        <p:nvSpPr>
          <p:cNvPr id="146" name="Google Shape;146;p20"/>
          <p:cNvSpPr/>
          <p:nvPr/>
        </p:nvSpPr>
        <p:spPr>
          <a:xfrm>
            <a:off x="480060" y="651510"/>
            <a:ext cx="8023860" cy="51435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7181C"/>
              </a:buClr>
              <a:buSzPts val="1900"/>
              <a:buFont typeface="Cambria"/>
              <a:buNone/>
            </a:pPr>
            <a:r>
              <a:rPr b="1" lang="fr" sz="1900">
                <a:solidFill>
                  <a:srgbClr val="17181C"/>
                </a:solidFill>
                <a:latin typeface="Cambria"/>
                <a:ea typeface="Cambria"/>
                <a:cs typeface="Cambria"/>
                <a:sym typeface="Cambria"/>
              </a:rPr>
              <a:t>Price Vs Area Plot </a:t>
            </a:r>
            <a:endParaRPr b="0" i="0" sz="1900" u="none" cap="none" strike="noStrike">
              <a:solidFill>
                <a:schemeClr val="dk1"/>
              </a:solidFill>
              <a:latin typeface="Calibri"/>
              <a:ea typeface="Calibri"/>
              <a:cs typeface="Calibri"/>
              <a:sym typeface="Calibri"/>
            </a:endParaRPr>
          </a:p>
        </p:txBody>
      </p:sp>
      <p:pic>
        <p:nvPicPr>
          <p:cNvPr descr="preencoded.png" id="147" name="Google Shape;147;p20"/>
          <p:cNvPicPr preferRelativeResize="0"/>
          <p:nvPr/>
        </p:nvPicPr>
        <p:blipFill rotWithShape="1">
          <a:blip r:embed="rId4">
            <a:alphaModFix/>
          </a:blip>
          <a:srcRect b="0" l="0" r="0" t="0"/>
          <a:stretch/>
        </p:blipFill>
        <p:spPr>
          <a:xfrm>
            <a:off x="480060" y="1355680"/>
            <a:ext cx="5692140" cy="3049360"/>
          </a:xfrm>
          <a:prstGeom prst="rect">
            <a:avLst/>
          </a:prstGeom>
          <a:noFill/>
          <a:ln>
            <a:noFill/>
          </a:ln>
        </p:spPr>
      </p:pic>
      <p:sp>
        <p:nvSpPr>
          <p:cNvPr id="148" name="Google Shape;148;p20"/>
          <p:cNvSpPr/>
          <p:nvPr/>
        </p:nvSpPr>
        <p:spPr>
          <a:xfrm>
            <a:off x="6343650" y="1440180"/>
            <a:ext cx="2331720" cy="2948940"/>
          </a:xfrm>
          <a:prstGeom prst="rect">
            <a:avLst/>
          </a:prstGeom>
          <a:noFill/>
          <a:ln>
            <a:noFill/>
          </a:ln>
        </p:spPr>
        <p:txBody>
          <a:bodyPr anchorCtr="0" anchor="ctr" bIns="34275" lIns="68575" spcFirstLastPara="1" rIns="68575" wrap="square" tIns="34275">
            <a:noAutofit/>
          </a:bodyPr>
          <a:lstStyle/>
          <a:p>
            <a:pPr indent="0" lvl="0" marL="0" rtl="0" algn="l">
              <a:lnSpc>
                <a:spcPct val="115000"/>
              </a:lnSpc>
              <a:spcBef>
                <a:spcPts val="1200"/>
              </a:spcBef>
              <a:spcAft>
                <a:spcPts val="0"/>
              </a:spcAft>
              <a:buClr>
                <a:schemeClr val="dk1"/>
              </a:buClr>
              <a:buSzPts val="1100"/>
              <a:buFont typeface="Arial"/>
              <a:buNone/>
            </a:pPr>
            <a:r>
              <a:rPr lang="fr" sz="1100">
                <a:solidFill>
                  <a:schemeClr val="dk1"/>
                </a:solidFill>
                <a:latin typeface="Calibri"/>
                <a:ea typeface="Calibri"/>
                <a:cs typeface="Calibri"/>
                <a:sym typeface="Calibri"/>
              </a:rPr>
              <a:t>Area and price move together almost perfectly (</a:t>
            </a:r>
            <a:r>
              <a:rPr b="1" lang="fr" sz="1100">
                <a:solidFill>
                  <a:schemeClr val="dk1"/>
                </a:solidFill>
                <a:latin typeface="Calibri"/>
                <a:ea typeface="Calibri"/>
                <a:cs typeface="Calibri"/>
                <a:sym typeface="Calibri"/>
              </a:rPr>
              <a:t>0.94 correlation</a:t>
            </a:r>
            <a:r>
              <a:rPr lang="fr" sz="1100">
                <a:solidFill>
                  <a:schemeClr val="dk1"/>
                </a:solidFill>
                <a:latin typeface="Calibri"/>
                <a:ea typeface="Calibri"/>
                <a:cs typeface="Calibri"/>
                <a:sym typeface="Calibri"/>
              </a:rPr>
              <a:t>) which means that they are highly correlated</a:t>
            </a:r>
            <a:endParaRPr sz="1100">
              <a:solidFill>
                <a:schemeClr val="dk1"/>
              </a:solidFill>
              <a:latin typeface="Calibri"/>
              <a:ea typeface="Calibri"/>
              <a:cs typeface="Calibri"/>
              <a:sym typeface="Calibri"/>
            </a:endParaRPr>
          </a:p>
          <a:p>
            <a:pPr indent="0" lvl="0" marL="0" rtl="0" algn="l">
              <a:lnSpc>
                <a:spcPct val="115000"/>
              </a:lnSpc>
              <a:spcBef>
                <a:spcPts val="1200"/>
              </a:spcBef>
              <a:spcAft>
                <a:spcPts val="1200"/>
              </a:spcAft>
              <a:buClr>
                <a:schemeClr val="dk1"/>
              </a:buClr>
              <a:buSzPts val="1100"/>
              <a:buFont typeface="Arial"/>
              <a:buNone/>
            </a:pPr>
            <a:r>
              <a:rPr lang="fr" sz="1100">
                <a:solidFill>
                  <a:schemeClr val="dk1"/>
                </a:solidFill>
                <a:latin typeface="Calibri"/>
                <a:ea typeface="Calibri"/>
                <a:cs typeface="Calibri"/>
                <a:sym typeface="Calibri"/>
              </a:rPr>
              <a:t>If we look at the colors (</a:t>
            </a:r>
            <a:r>
              <a:rPr b="1" lang="fr" sz="1100">
                <a:solidFill>
                  <a:schemeClr val="dk1"/>
                </a:solidFill>
                <a:latin typeface="Calibri"/>
                <a:ea typeface="Calibri"/>
                <a:cs typeface="Calibri"/>
                <a:sym typeface="Calibri"/>
              </a:rPr>
              <a:t>arrondissement</a:t>
            </a:r>
            <a:r>
              <a:rPr lang="fr" sz="1100">
                <a:solidFill>
                  <a:schemeClr val="dk1"/>
                </a:solidFill>
                <a:latin typeface="Calibri"/>
                <a:ea typeface="Calibri"/>
                <a:cs typeface="Calibri"/>
                <a:sym typeface="Calibri"/>
              </a:rPr>
              <a:t>)  same size apartments, different arrondissements, and the price jumps around a lot. So the location is also so correlated to the price </a:t>
            </a:r>
            <a:endParaRPr sz="1000">
              <a:solidFill>
                <a:srgbClr val="6B6F76"/>
              </a:solidFill>
              <a:latin typeface="Calibri"/>
              <a:ea typeface="Calibri"/>
              <a:cs typeface="Calibri"/>
              <a:sym typeface="Calibri"/>
            </a:endParaRPr>
          </a:p>
        </p:txBody>
      </p:sp>
      <p:sp>
        <p:nvSpPr>
          <p:cNvPr id="149" name="Google Shape;149;p20"/>
          <p:cNvSpPr/>
          <p:nvPr/>
        </p:nvSpPr>
        <p:spPr>
          <a:xfrm>
            <a:off x="8558784" y="4855464"/>
            <a:ext cx="274320"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9CA0A8"/>
              </a:buClr>
              <a:buSzPts val="800"/>
              <a:buFont typeface="Calibri"/>
              <a:buNone/>
            </a:pPr>
            <a:r>
              <a:rPr lang="fr" sz="800">
                <a:solidFill>
                  <a:srgbClr val="9CA0A8"/>
                </a:solidFill>
                <a:latin typeface="Calibri"/>
                <a:ea typeface="Calibri"/>
                <a:cs typeface="Calibri"/>
                <a:sym typeface="Calibri"/>
              </a:rPr>
              <a:t>6</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154" name="Shape 154"/>
        <p:cNvGrpSpPr/>
        <p:nvPr/>
      </p:nvGrpSpPr>
      <p:grpSpPr>
        <a:xfrm>
          <a:off x="0" y="0"/>
          <a:ext cx="0" cy="0"/>
          <a:chOff x="0" y="0"/>
          <a:chExt cx="0" cy="0"/>
        </a:xfrm>
      </p:grpSpPr>
      <p:pic>
        <p:nvPicPr>
          <p:cNvPr descr="preencoded.png" id="155" name="Google Shape;155;p21"/>
          <p:cNvPicPr preferRelativeResize="0"/>
          <p:nvPr/>
        </p:nvPicPr>
        <p:blipFill rotWithShape="1">
          <a:blip r:embed="rId3">
            <a:alphaModFix/>
          </a:blip>
          <a:srcRect b="0" l="0" r="0" t="0"/>
          <a:stretch/>
        </p:blipFill>
        <p:spPr>
          <a:xfrm>
            <a:off x="7838694" y="274320"/>
            <a:ext cx="925830" cy="152029"/>
          </a:xfrm>
          <a:prstGeom prst="rect">
            <a:avLst/>
          </a:prstGeom>
          <a:noFill/>
          <a:ln>
            <a:noFill/>
          </a:ln>
        </p:spPr>
      </p:pic>
      <p:sp>
        <p:nvSpPr>
          <p:cNvPr id="156" name="Google Shape;156;p21"/>
          <p:cNvSpPr/>
          <p:nvPr/>
        </p:nvSpPr>
        <p:spPr>
          <a:xfrm>
            <a:off x="480060" y="315468"/>
            <a:ext cx="6172200" cy="219456"/>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000FF"/>
              </a:buClr>
              <a:buSzPts val="800"/>
              <a:buFont typeface="Calibri"/>
              <a:buNone/>
            </a:pPr>
            <a:r>
              <a:rPr b="1" i="0" lang="fr" sz="800" u="none" cap="none" strike="noStrike">
                <a:solidFill>
                  <a:srgbClr val="0000FF"/>
                </a:solidFill>
                <a:latin typeface="Calibri"/>
                <a:ea typeface="Calibri"/>
                <a:cs typeface="Calibri"/>
                <a:sym typeface="Calibri"/>
              </a:rPr>
              <a:t>4 · EXPLORATORY ANALYSIS</a:t>
            </a:r>
            <a:endParaRPr b="0" i="0" sz="800" u="none" cap="none" strike="noStrike">
              <a:solidFill>
                <a:schemeClr val="dk1"/>
              </a:solidFill>
              <a:latin typeface="Calibri"/>
              <a:ea typeface="Calibri"/>
              <a:cs typeface="Calibri"/>
              <a:sym typeface="Calibri"/>
            </a:endParaRPr>
          </a:p>
        </p:txBody>
      </p:sp>
      <p:sp>
        <p:nvSpPr>
          <p:cNvPr id="157" name="Google Shape;157;p21"/>
          <p:cNvSpPr/>
          <p:nvPr/>
        </p:nvSpPr>
        <p:spPr>
          <a:xfrm>
            <a:off x="480060" y="651510"/>
            <a:ext cx="8023860" cy="5486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1700"/>
              <a:buFont typeface="Cambria"/>
              <a:buNone/>
            </a:pPr>
            <a:r>
              <a:rPr b="1" lang="fr" sz="1700">
                <a:solidFill>
                  <a:srgbClr val="FFFFFF"/>
                </a:solidFill>
                <a:latin typeface="Cambria"/>
                <a:ea typeface="Cambria"/>
                <a:cs typeface="Cambria"/>
                <a:sym typeface="Cambria"/>
              </a:rPr>
              <a:t>Box plot of Price per square meter, by arrondissement </a:t>
            </a:r>
            <a:endParaRPr b="0" i="0" sz="1700" u="none" cap="none" strike="noStrike">
              <a:solidFill>
                <a:schemeClr val="dk1"/>
              </a:solidFill>
              <a:latin typeface="Calibri"/>
              <a:ea typeface="Calibri"/>
              <a:cs typeface="Calibri"/>
              <a:sym typeface="Calibri"/>
            </a:endParaRPr>
          </a:p>
        </p:txBody>
      </p:sp>
      <p:pic>
        <p:nvPicPr>
          <p:cNvPr descr="preencoded.png" id="158" name="Google Shape;158;p21"/>
          <p:cNvPicPr preferRelativeResize="0"/>
          <p:nvPr/>
        </p:nvPicPr>
        <p:blipFill rotWithShape="1">
          <a:blip r:embed="rId4">
            <a:alphaModFix/>
          </a:blip>
          <a:srcRect b="0" l="0" r="0" t="0"/>
          <a:stretch/>
        </p:blipFill>
        <p:spPr>
          <a:xfrm>
            <a:off x="480060" y="1389970"/>
            <a:ext cx="5692140" cy="3049360"/>
          </a:xfrm>
          <a:prstGeom prst="rect">
            <a:avLst/>
          </a:prstGeom>
          <a:noFill/>
          <a:ln>
            <a:noFill/>
          </a:ln>
        </p:spPr>
      </p:pic>
      <p:sp>
        <p:nvSpPr>
          <p:cNvPr id="159" name="Google Shape;159;p21"/>
          <p:cNvSpPr/>
          <p:nvPr/>
        </p:nvSpPr>
        <p:spPr>
          <a:xfrm>
            <a:off x="6343650" y="1474470"/>
            <a:ext cx="2331720" cy="2948940"/>
          </a:xfrm>
          <a:prstGeom prst="rect">
            <a:avLst/>
          </a:prstGeom>
          <a:noFill/>
          <a:ln>
            <a:noFill/>
          </a:ln>
        </p:spPr>
        <p:txBody>
          <a:bodyPr anchorCtr="0" anchor="ctr" bIns="34275" lIns="68575" spcFirstLastPara="1" rIns="68575" wrap="square" tIns="34275">
            <a:noAutofit/>
          </a:bodyPr>
          <a:lstStyle/>
          <a:p>
            <a:pPr indent="0" lvl="0" marL="0" marR="0" rtl="0" algn="l">
              <a:lnSpc>
                <a:spcPct val="130000"/>
              </a:lnSpc>
              <a:spcBef>
                <a:spcPts val="0"/>
              </a:spcBef>
              <a:spcAft>
                <a:spcPts val="0"/>
              </a:spcAft>
              <a:buClr>
                <a:srgbClr val="0000FF"/>
              </a:buClr>
              <a:buSzPts val="1500"/>
              <a:buFont typeface="Calibri"/>
              <a:buNone/>
            </a:pPr>
            <a:r>
              <a:rPr b="1" i="0" lang="fr" sz="1500" u="none" cap="none" strike="noStrike">
                <a:solidFill>
                  <a:srgbClr val="0000FF"/>
                </a:solidFill>
                <a:latin typeface="Calibri"/>
                <a:ea typeface="Calibri"/>
                <a:cs typeface="Calibri"/>
                <a:sym typeface="Calibri"/>
              </a:rPr>
              <a:t>€15,065</a:t>
            </a:r>
            <a:r>
              <a:rPr b="0" i="0" lang="fr" sz="1000" u="none" cap="none" strike="noStrike">
                <a:solidFill>
                  <a:srgbClr val="C7C9CE"/>
                </a:solidFill>
                <a:latin typeface="Calibri"/>
                <a:ea typeface="Calibri"/>
                <a:cs typeface="Calibri"/>
                <a:sym typeface="Calibri"/>
              </a:rPr>
              <a:t> /sqm in arrondissement 6  the</a:t>
            </a:r>
            <a:r>
              <a:rPr lang="fr" sz="1000">
                <a:solidFill>
                  <a:srgbClr val="C7C9CE"/>
                </a:solidFill>
                <a:latin typeface="Calibri"/>
                <a:ea typeface="Calibri"/>
                <a:cs typeface="Calibri"/>
                <a:sym typeface="Calibri"/>
              </a:rPr>
              <a:t> highest price</a:t>
            </a:r>
            <a:br>
              <a:rPr b="0" i="0" lang="fr" sz="1000" u="none" cap="none" strike="noStrike">
                <a:solidFill>
                  <a:srgbClr val="C7C9CE"/>
                </a:solidFill>
                <a:latin typeface="Calibri"/>
                <a:ea typeface="Calibri"/>
                <a:cs typeface="Calibri"/>
                <a:sym typeface="Calibri"/>
              </a:rPr>
            </a:br>
            <a:endParaRPr b="0" i="0" sz="15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FF"/>
              </a:buClr>
              <a:buSzPts val="1500"/>
              <a:buFont typeface="Calibri"/>
              <a:buNone/>
            </a:pPr>
            <a:r>
              <a:rPr b="1" i="0" lang="fr" sz="1500" u="none" cap="none" strike="noStrike">
                <a:solidFill>
                  <a:srgbClr val="0000FF"/>
                </a:solidFill>
                <a:latin typeface="Calibri"/>
                <a:ea typeface="Calibri"/>
                <a:cs typeface="Calibri"/>
                <a:sym typeface="Calibri"/>
              </a:rPr>
              <a:t>€9,535</a:t>
            </a:r>
            <a:r>
              <a:rPr b="0" i="0" lang="fr" sz="1000" u="none" cap="none" strike="noStrike">
                <a:solidFill>
                  <a:srgbClr val="C7C9CE"/>
                </a:solidFill>
                <a:latin typeface="Calibri"/>
                <a:ea typeface="Calibri"/>
                <a:cs typeface="Calibri"/>
                <a:sym typeface="Calibri"/>
              </a:rPr>
              <a:t> /sqm in arrondissement 19  the cheapest</a:t>
            </a:r>
            <a:r>
              <a:rPr lang="fr" sz="1000">
                <a:solidFill>
                  <a:srgbClr val="C7C9CE"/>
                </a:solidFill>
                <a:latin typeface="Calibri"/>
                <a:ea typeface="Calibri"/>
                <a:cs typeface="Calibri"/>
                <a:sym typeface="Calibri"/>
              </a:rPr>
              <a:t> </a:t>
            </a:r>
            <a:br>
              <a:rPr b="0" i="0" lang="fr" sz="1000" u="none" cap="none" strike="noStrike">
                <a:solidFill>
                  <a:srgbClr val="C7C9CE"/>
                </a:solidFill>
                <a:latin typeface="Calibri"/>
                <a:ea typeface="Calibri"/>
                <a:cs typeface="Calibri"/>
                <a:sym typeface="Calibri"/>
              </a:rPr>
            </a:br>
            <a:br>
              <a:rPr b="0" i="0" lang="fr" sz="1000" u="none" cap="none" strike="noStrike">
                <a:solidFill>
                  <a:srgbClr val="C7C9CE"/>
                </a:solidFill>
                <a:latin typeface="Calibri"/>
                <a:ea typeface="Calibri"/>
                <a:cs typeface="Calibri"/>
                <a:sym typeface="Calibri"/>
              </a:rPr>
            </a:br>
            <a:endParaRPr b="0" i="0" sz="15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C7C9CE"/>
              </a:buClr>
              <a:buSzPts val="900"/>
              <a:buFont typeface="Calibri"/>
              <a:buNone/>
            </a:pPr>
            <a:r>
              <a:rPr b="0" i="0" lang="fr" sz="900" u="none" cap="none" strike="noStrike">
                <a:solidFill>
                  <a:srgbClr val="C7C9CE"/>
                </a:solidFill>
                <a:latin typeface="Calibri"/>
                <a:ea typeface="Calibri"/>
                <a:cs typeface="Calibri"/>
                <a:sym typeface="Calibri"/>
              </a:rPr>
              <a:t>The ranking lines up with what anyone who knows Paris would expect a good sign the data reflects a real market, not noise</a:t>
            </a:r>
            <a:endParaRPr b="0" i="0" sz="1500" u="none" cap="none" strike="noStrike">
              <a:solidFill>
                <a:schemeClr val="dk1"/>
              </a:solidFill>
              <a:latin typeface="Calibri"/>
              <a:ea typeface="Calibri"/>
              <a:cs typeface="Calibri"/>
              <a:sym typeface="Calibri"/>
            </a:endParaRPr>
          </a:p>
        </p:txBody>
      </p:sp>
      <p:sp>
        <p:nvSpPr>
          <p:cNvPr id="160" name="Google Shape;160;p21"/>
          <p:cNvSpPr/>
          <p:nvPr/>
        </p:nvSpPr>
        <p:spPr>
          <a:xfrm>
            <a:off x="8558784" y="4855464"/>
            <a:ext cx="274320"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55575C"/>
              </a:buClr>
              <a:buSzPts val="800"/>
              <a:buFont typeface="Calibri"/>
              <a:buNone/>
            </a:pPr>
            <a:r>
              <a:rPr lang="fr" sz="800">
                <a:solidFill>
                  <a:srgbClr val="55575C"/>
                </a:solidFill>
                <a:latin typeface="Calibri"/>
                <a:ea typeface="Calibri"/>
                <a:cs typeface="Calibri"/>
                <a:sym typeface="Calibri"/>
              </a:rPr>
              <a:t>7</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5" name="Shape 165"/>
        <p:cNvGrpSpPr/>
        <p:nvPr/>
      </p:nvGrpSpPr>
      <p:grpSpPr>
        <a:xfrm>
          <a:off x="0" y="0"/>
          <a:ext cx="0" cy="0"/>
          <a:chOff x="0" y="0"/>
          <a:chExt cx="0" cy="0"/>
        </a:xfrm>
      </p:grpSpPr>
      <p:pic>
        <p:nvPicPr>
          <p:cNvPr descr="preencoded.png" id="166" name="Google Shape;166;p22"/>
          <p:cNvPicPr preferRelativeResize="0"/>
          <p:nvPr/>
        </p:nvPicPr>
        <p:blipFill rotWithShape="1">
          <a:blip r:embed="rId3">
            <a:alphaModFix/>
          </a:blip>
          <a:srcRect b="0" l="0" r="0" t="0"/>
          <a:stretch/>
        </p:blipFill>
        <p:spPr>
          <a:xfrm>
            <a:off x="7838694" y="274320"/>
            <a:ext cx="925830" cy="152029"/>
          </a:xfrm>
          <a:prstGeom prst="rect">
            <a:avLst/>
          </a:prstGeom>
          <a:noFill/>
          <a:ln>
            <a:noFill/>
          </a:ln>
        </p:spPr>
      </p:pic>
      <p:sp>
        <p:nvSpPr>
          <p:cNvPr id="167" name="Google Shape;167;p22"/>
          <p:cNvSpPr/>
          <p:nvPr/>
        </p:nvSpPr>
        <p:spPr>
          <a:xfrm>
            <a:off x="480060" y="315468"/>
            <a:ext cx="6172200" cy="219456"/>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428FF"/>
              </a:buClr>
              <a:buSzPts val="800"/>
              <a:buFont typeface="Calibri"/>
              <a:buNone/>
            </a:pPr>
            <a:r>
              <a:rPr b="1" i="0" lang="fr" sz="800" u="none" cap="none" strike="noStrike">
                <a:solidFill>
                  <a:srgbClr val="1428FF"/>
                </a:solidFill>
                <a:latin typeface="Calibri"/>
                <a:ea typeface="Calibri"/>
                <a:cs typeface="Calibri"/>
                <a:sym typeface="Calibri"/>
              </a:rPr>
              <a:t>4 · EXPLORATORY ANALYSIS</a:t>
            </a:r>
            <a:endParaRPr b="0" i="0" sz="800" u="none" cap="none" strike="noStrike">
              <a:solidFill>
                <a:schemeClr val="dk1"/>
              </a:solidFill>
              <a:latin typeface="Calibri"/>
              <a:ea typeface="Calibri"/>
              <a:cs typeface="Calibri"/>
              <a:sym typeface="Calibri"/>
            </a:endParaRPr>
          </a:p>
        </p:txBody>
      </p:sp>
      <p:sp>
        <p:nvSpPr>
          <p:cNvPr id="168" name="Google Shape;168;p22"/>
          <p:cNvSpPr/>
          <p:nvPr/>
        </p:nvSpPr>
        <p:spPr>
          <a:xfrm>
            <a:off x="480060" y="651510"/>
            <a:ext cx="8023860" cy="51435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7181C"/>
              </a:buClr>
              <a:buSzPts val="1900"/>
              <a:buFont typeface="Cambria"/>
              <a:buNone/>
            </a:pPr>
            <a:r>
              <a:rPr b="1" lang="fr" sz="1900">
                <a:solidFill>
                  <a:srgbClr val="17181C"/>
                </a:solidFill>
                <a:latin typeface="Cambria"/>
                <a:ea typeface="Cambria"/>
                <a:cs typeface="Cambria"/>
                <a:sym typeface="Cambria"/>
              </a:rPr>
              <a:t>Correlation matrix heatmap</a:t>
            </a:r>
            <a:endParaRPr b="0" i="0" sz="1900" u="none" cap="none" strike="noStrike">
              <a:solidFill>
                <a:schemeClr val="dk1"/>
              </a:solidFill>
              <a:latin typeface="Calibri"/>
              <a:ea typeface="Calibri"/>
              <a:cs typeface="Calibri"/>
              <a:sym typeface="Calibri"/>
            </a:endParaRPr>
          </a:p>
        </p:txBody>
      </p:sp>
      <p:pic>
        <p:nvPicPr>
          <p:cNvPr descr="preencoded.png" id="169" name="Google Shape;169;p22"/>
          <p:cNvPicPr preferRelativeResize="0"/>
          <p:nvPr/>
        </p:nvPicPr>
        <p:blipFill rotWithShape="1">
          <a:blip r:embed="rId4">
            <a:alphaModFix/>
          </a:blip>
          <a:srcRect b="0" l="49528" r="0" t="0"/>
          <a:stretch/>
        </p:blipFill>
        <p:spPr>
          <a:xfrm>
            <a:off x="535350" y="1208550"/>
            <a:ext cx="4307654" cy="3317725"/>
          </a:xfrm>
          <a:prstGeom prst="rect">
            <a:avLst/>
          </a:prstGeom>
          <a:noFill/>
          <a:ln>
            <a:noFill/>
          </a:ln>
        </p:spPr>
      </p:pic>
      <p:sp>
        <p:nvSpPr>
          <p:cNvPr id="170" name="Google Shape;170;p22"/>
          <p:cNvSpPr/>
          <p:nvPr/>
        </p:nvSpPr>
        <p:spPr>
          <a:xfrm>
            <a:off x="4978025" y="1440175"/>
            <a:ext cx="3697500" cy="2903100"/>
          </a:xfrm>
          <a:prstGeom prst="rect">
            <a:avLst/>
          </a:prstGeom>
          <a:noFill/>
          <a:ln>
            <a:noFill/>
          </a:ln>
        </p:spPr>
        <p:txBody>
          <a:bodyPr anchorCtr="0" anchor="ctr" bIns="34275" lIns="68575" spcFirstLastPara="1" rIns="68575" wrap="square" tIns="34275">
            <a:noAutofit/>
          </a:bodyPr>
          <a:lstStyle/>
          <a:p>
            <a:pPr indent="0" lvl="0" marL="0" rtl="0" algn="l">
              <a:lnSpc>
                <a:spcPct val="115000"/>
              </a:lnSpc>
              <a:spcBef>
                <a:spcPts val="1200"/>
              </a:spcBef>
              <a:spcAft>
                <a:spcPts val="0"/>
              </a:spcAft>
              <a:buClr>
                <a:schemeClr val="dk1"/>
              </a:buClr>
              <a:buSzPts val="1100"/>
              <a:buFont typeface="Arial"/>
              <a:buNone/>
            </a:pPr>
            <a:r>
              <a:rPr b="1" lang="fr" sz="1100">
                <a:solidFill>
                  <a:srgbClr val="1428FF"/>
                </a:solidFill>
                <a:latin typeface="Calibri"/>
                <a:ea typeface="Calibri"/>
                <a:cs typeface="Calibri"/>
                <a:sym typeface="Calibri"/>
              </a:rPr>
              <a:t>The heatmap shows that:</a:t>
            </a:r>
            <a:endParaRPr b="1" sz="1100">
              <a:solidFill>
                <a:srgbClr val="1428FF"/>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b="1" lang="fr" sz="1100">
                <a:latin typeface="Calibri"/>
                <a:ea typeface="Calibri"/>
                <a:cs typeface="Calibri"/>
                <a:sym typeface="Calibri"/>
              </a:rPr>
              <a:t>Area is the strongest correlate with price</a:t>
            </a:r>
            <a:r>
              <a:rPr lang="fr" sz="1100">
                <a:latin typeface="Calibri"/>
                <a:ea typeface="Calibri"/>
                <a:cs typeface="Calibri"/>
                <a:sym typeface="Calibri"/>
              </a:rPr>
              <a:t> at 0.94. Room count (0.87) and bedroom count (0.71) also correlate strongly, which makes sense since they're basically all measuring size in different ways.</a:t>
            </a:r>
            <a:endParaRPr sz="1100">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b="1" lang="fr" sz="1100">
                <a:latin typeface="Calibri"/>
                <a:ea typeface="Calibri"/>
                <a:cs typeface="Calibri"/>
                <a:sym typeface="Calibri"/>
              </a:rPr>
              <a:t>Energy rating and outdoor area</a:t>
            </a:r>
            <a:r>
              <a:rPr lang="fr" sz="1100">
                <a:latin typeface="Calibri"/>
                <a:ea typeface="Calibri"/>
                <a:cs typeface="Calibri"/>
                <a:sym typeface="Calibri"/>
              </a:rPr>
              <a:t> have a coefficient of about 0.33, so they matter, just a lot less than size does.</a:t>
            </a:r>
            <a:endParaRPr sz="1100">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b="1" lang="fr" sz="1100">
                <a:latin typeface="Calibri"/>
                <a:ea typeface="Calibri"/>
                <a:cs typeface="Calibri"/>
                <a:sym typeface="Calibri"/>
              </a:rPr>
              <a:t>Days on market</a:t>
            </a:r>
            <a:r>
              <a:rPr lang="fr" sz="1100">
                <a:latin typeface="Calibri"/>
                <a:ea typeface="Calibri"/>
                <a:cs typeface="Calibri"/>
                <a:sym typeface="Calibri"/>
              </a:rPr>
              <a:t> is negatively correlated at −0.21, so the longer a listing sits unsold, the more likely it was overpriced.</a:t>
            </a:r>
            <a:endParaRPr sz="1100">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fr" sz="1100">
                <a:latin typeface="Calibri"/>
                <a:ea typeface="Calibri"/>
                <a:cs typeface="Calibri"/>
                <a:sym typeface="Calibri"/>
              </a:rPr>
              <a:t>Floor, arrondissement, and building age barely correlate with price on their own.</a:t>
            </a:r>
            <a:endParaRPr sz="1100">
              <a:latin typeface="Calibri"/>
              <a:ea typeface="Calibri"/>
              <a:cs typeface="Calibri"/>
              <a:sym typeface="Calibri"/>
            </a:endParaRPr>
          </a:p>
          <a:p>
            <a:pPr indent="0" lvl="0" marL="0" rtl="0" algn="l">
              <a:spcBef>
                <a:spcPts val="1200"/>
              </a:spcBef>
              <a:spcAft>
                <a:spcPts val="0"/>
              </a:spcAft>
              <a:buClr>
                <a:srgbClr val="17181C"/>
              </a:buClr>
              <a:buSzPts val="1000"/>
              <a:buFont typeface="Calibri"/>
              <a:buNone/>
            </a:pPr>
            <a:r>
              <a:t/>
            </a:r>
            <a:endParaRPr sz="1100">
              <a:latin typeface="Calibri"/>
              <a:ea typeface="Calibri"/>
              <a:cs typeface="Calibri"/>
              <a:sym typeface="Calibri"/>
            </a:endParaRPr>
          </a:p>
        </p:txBody>
      </p:sp>
      <p:sp>
        <p:nvSpPr>
          <p:cNvPr id="171" name="Google Shape;171;p22"/>
          <p:cNvSpPr/>
          <p:nvPr/>
        </p:nvSpPr>
        <p:spPr>
          <a:xfrm>
            <a:off x="8558784" y="4855464"/>
            <a:ext cx="274320"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9CA0A8"/>
              </a:buClr>
              <a:buSzPts val="800"/>
              <a:buFont typeface="Calibri"/>
              <a:buNone/>
            </a:pPr>
            <a:r>
              <a:rPr lang="fr" sz="800">
                <a:solidFill>
                  <a:srgbClr val="9CA0A8"/>
                </a:solidFill>
                <a:latin typeface="Calibri"/>
                <a:ea typeface="Calibri"/>
                <a:cs typeface="Calibri"/>
                <a:sym typeface="Calibri"/>
              </a:rPr>
              <a:t>8</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6" name="Shape 176"/>
        <p:cNvGrpSpPr/>
        <p:nvPr/>
      </p:nvGrpSpPr>
      <p:grpSpPr>
        <a:xfrm>
          <a:off x="0" y="0"/>
          <a:ext cx="0" cy="0"/>
          <a:chOff x="0" y="0"/>
          <a:chExt cx="0" cy="0"/>
        </a:xfrm>
      </p:grpSpPr>
      <p:pic>
        <p:nvPicPr>
          <p:cNvPr descr="preencoded.png" id="177" name="Google Shape;177;p23"/>
          <p:cNvPicPr preferRelativeResize="0"/>
          <p:nvPr/>
        </p:nvPicPr>
        <p:blipFill rotWithShape="1">
          <a:blip r:embed="rId3">
            <a:alphaModFix/>
          </a:blip>
          <a:srcRect b="0" l="0" r="0" t="0"/>
          <a:stretch/>
        </p:blipFill>
        <p:spPr>
          <a:xfrm>
            <a:off x="7838694" y="274320"/>
            <a:ext cx="925830" cy="152029"/>
          </a:xfrm>
          <a:prstGeom prst="rect">
            <a:avLst/>
          </a:prstGeom>
          <a:noFill/>
          <a:ln>
            <a:noFill/>
          </a:ln>
        </p:spPr>
      </p:pic>
      <p:sp>
        <p:nvSpPr>
          <p:cNvPr id="178" name="Google Shape;178;p23"/>
          <p:cNvSpPr/>
          <p:nvPr/>
        </p:nvSpPr>
        <p:spPr>
          <a:xfrm>
            <a:off x="480060" y="315468"/>
            <a:ext cx="6172200" cy="219456"/>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428FF"/>
              </a:buClr>
              <a:buSzPts val="800"/>
              <a:buFont typeface="Calibri"/>
              <a:buNone/>
            </a:pPr>
            <a:r>
              <a:rPr b="1" i="0" lang="fr" sz="800" u="none" cap="none" strike="noStrike">
                <a:solidFill>
                  <a:srgbClr val="1428FF"/>
                </a:solidFill>
                <a:latin typeface="Calibri"/>
                <a:ea typeface="Calibri"/>
                <a:cs typeface="Calibri"/>
                <a:sym typeface="Calibri"/>
              </a:rPr>
              <a:t>4 · EXPLORATORY ANALYSIS</a:t>
            </a:r>
            <a:endParaRPr b="0" i="0" sz="800" u="none" cap="none" strike="noStrike">
              <a:solidFill>
                <a:schemeClr val="dk1"/>
              </a:solidFill>
              <a:latin typeface="Calibri"/>
              <a:ea typeface="Calibri"/>
              <a:cs typeface="Calibri"/>
              <a:sym typeface="Calibri"/>
            </a:endParaRPr>
          </a:p>
        </p:txBody>
      </p:sp>
      <p:sp>
        <p:nvSpPr>
          <p:cNvPr id="179" name="Google Shape;179;p23"/>
          <p:cNvSpPr/>
          <p:nvPr/>
        </p:nvSpPr>
        <p:spPr>
          <a:xfrm>
            <a:off x="480060" y="651510"/>
            <a:ext cx="8092440" cy="5486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7181C"/>
              </a:buClr>
              <a:buSzPts val="1700"/>
              <a:buFont typeface="Cambria"/>
              <a:buNone/>
            </a:pPr>
            <a:r>
              <a:rPr b="1" i="0" lang="fr" sz="1700" u="none" cap="none" strike="noStrike">
                <a:solidFill>
                  <a:srgbClr val="17181C"/>
                </a:solidFill>
                <a:latin typeface="Cambria"/>
                <a:ea typeface="Cambria"/>
                <a:cs typeface="Cambria"/>
                <a:sym typeface="Cambria"/>
              </a:rPr>
              <a:t>Rooms</a:t>
            </a:r>
            <a:r>
              <a:rPr b="1" lang="fr" sz="1700">
                <a:solidFill>
                  <a:srgbClr val="17181C"/>
                </a:solidFill>
                <a:latin typeface="Cambria"/>
                <a:ea typeface="Cambria"/>
                <a:cs typeface="Cambria"/>
                <a:sym typeface="Cambria"/>
              </a:rPr>
              <a:t>, </a:t>
            </a:r>
            <a:r>
              <a:rPr b="1" i="0" lang="fr" sz="1700" u="none" cap="none" strike="noStrike">
                <a:solidFill>
                  <a:srgbClr val="17181C"/>
                </a:solidFill>
                <a:latin typeface="Cambria"/>
                <a:ea typeface="Cambria"/>
                <a:cs typeface="Cambria"/>
                <a:sym typeface="Cambria"/>
              </a:rPr>
              <a:t>amenities </a:t>
            </a:r>
            <a:r>
              <a:rPr b="1" lang="fr" sz="1700">
                <a:solidFill>
                  <a:srgbClr val="17181C"/>
                </a:solidFill>
                <a:latin typeface="Cambria"/>
                <a:ea typeface="Cambria"/>
                <a:cs typeface="Cambria"/>
                <a:sym typeface="Cambria"/>
              </a:rPr>
              <a:t>and</a:t>
            </a:r>
            <a:r>
              <a:rPr b="1" i="0" lang="fr" sz="1700" u="none" cap="none" strike="noStrike">
                <a:solidFill>
                  <a:srgbClr val="17181C"/>
                </a:solidFill>
                <a:latin typeface="Cambria"/>
                <a:ea typeface="Cambria"/>
                <a:cs typeface="Cambria"/>
                <a:sym typeface="Cambria"/>
              </a:rPr>
              <a:t> energy </a:t>
            </a:r>
            <a:r>
              <a:rPr b="1" lang="fr" sz="1700">
                <a:solidFill>
                  <a:srgbClr val="17181C"/>
                </a:solidFill>
                <a:latin typeface="Cambria"/>
                <a:ea typeface="Cambria"/>
                <a:cs typeface="Cambria"/>
                <a:sym typeface="Cambria"/>
              </a:rPr>
              <a:t>analysis</a:t>
            </a:r>
            <a:endParaRPr b="0" i="0" sz="1700" u="none" cap="none" strike="noStrike">
              <a:solidFill>
                <a:schemeClr val="dk1"/>
              </a:solidFill>
              <a:latin typeface="Calibri"/>
              <a:ea typeface="Calibri"/>
              <a:cs typeface="Calibri"/>
              <a:sym typeface="Calibri"/>
            </a:endParaRPr>
          </a:p>
        </p:txBody>
      </p:sp>
      <p:pic>
        <p:nvPicPr>
          <p:cNvPr descr="preencoded.png" id="180" name="Google Shape;180;p23"/>
          <p:cNvPicPr preferRelativeResize="0"/>
          <p:nvPr/>
        </p:nvPicPr>
        <p:blipFill rotWithShape="1">
          <a:blip r:embed="rId4">
            <a:alphaModFix/>
          </a:blip>
          <a:srcRect b="0" l="0" r="0" t="0"/>
          <a:stretch/>
        </p:blipFill>
        <p:spPr>
          <a:xfrm>
            <a:off x="411480" y="1505308"/>
            <a:ext cx="2777490" cy="1687115"/>
          </a:xfrm>
          <a:prstGeom prst="rect">
            <a:avLst/>
          </a:prstGeom>
          <a:noFill/>
          <a:ln>
            <a:noFill/>
          </a:ln>
        </p:spPr>
      </p:pic>
      <p:pic>
        <p:nvPicPr>
          <p:cNvPr descr="preencoded.png" id="181" name="Google Shape;181;p23"/>
          <p:cNvPicPr preferRelativeResize="0"/>
          <p:nvPr/>
        </p:nvPicPr>
        <p:blipFill rotWithShape="1">
          <a:blip r:embed="rId5">
            <a:alphaModFix/>
          </a:blip>
          <a:srcRect b="0" l="0" r="0" t="0"/>
          <a:stretch/>
        </p:blipFill>
        <p:spPr>
          <a:xfrm>
            <a:off x="3257550" y="1787756"/>
            <a:ext cx="2777490" cy="1122218"/>
          </a:xfrm>
          <a:prstGeom prst="rect">
            <a:avLst/>
          </a:prstGeom>
          <a:noFill/>
          <a:ln>
            <a:noFill/>
          </a:ln>
        </p:spPr>
      </p:pic>
      <p:pic>
        <p:nvPicPr>
          <p:cNvPr descr="preencoded.png" id="182" name="Google Shape;182;p23"/>
          <p:cNvPicPr preferRelativeResize="0"/>
          <p:nvPr/>
        </p:nvPicPr>
        <p:blipFill rotWithShape="1">
          <a:blip r:embed="rId6">
            <a:alphaModFix/>
          </a:blip>
          <a:srcRect b="0" l="0" r="0" t="0"/>
          <a:stretch/>
        </p:blipFill>
        <p:spPr>
          <a:xfrm>
            <a:off x="6103620" y="1469912"/>
            <a:ext cx="2571750" cy="1757905"/>
          </a:xfrm>
          <a:prstGeom prst="rect">
            <a:avLst/>
          </a:prstGeom>
          <a:noFill/>
          <a:ln>
            <a:noFill/>
          </a:ln>
        </p:spPr>
      </p:pic>
      <p:sp>
        <p:nvSpPr>
          <p:cNvPr id="183" name="Google Shape;183;p23"/>
          <p:cNvSpPr/>
          <p:nvPr/>
        </p:nvSpPr>
        <p:spPr>
          <a:xfrm>
            <a:off x="480060" y="3463290"/>
            <a:ext cx="8161020" cy="1062990"/>
          </a:xfrm>
          <a:prstGeom prst="rect">
            <a:avLst/>
          </a:prstGeom>
          <a:noFill/>
          <a:ln>
            <a:noFill/>
          </a:ln>
        </p:spPr>
        <p:txBody>
          <a:bodyPr anchorCtr="0" anchor="ctr" bIns="34275" lIns="68575" spcFirstLastPara="1" rIns="68575" wrap="square" tIns="34275">
            <a:noAutofit/>
          </a:bodyPr>
          <a:lstStyle/>
          <a:p>
            <a:pPr indent="0" lvl="0" marL="0" marR="0" rtl="0" algn="l">
              <a:lnSpc>
                <a:spcPct val="135000"/>
              </a:lnSpc>
              <a:spcBef>
                <a:spcPts val="0"/>
              </a:spcBef>
              <a:spcAft>
                <a:spcPts val="0"/>
              </a:spcAft>
              <a:buClr>
                <a:srgbClr val="17181C"/>
              </a:buClr>
              <a:buSzPts val="1000"/>
              <a:buFont typeface="Calibri"/>
              <a:buNone/>
            </a:pPr>
            <a:r>
              <a:rPr b="1" lang="fr" sz="1100">
                <a:solidFill>
                  <a:schemeClr val="dk1"/>
                </a:solidFill>
                <a:latin typeface="Calibri"/>
                <a:ea typeface="Calibri"/>
                <a:cs typeface="Calibri"/>
                <a:sym typeface="Calibri"/>
              </a:rPr>
              <a:t>- </a:t>
            </a:r>
            <a:r>
              <a:rPr b="1" lang="fr" sz="1100">
                <a:solidFill>
                  <a:schemeClr val="dk1"/>
                </a:solidFill>
                <a:latin typeface="Calibri"/>
                <a:ea typeface="Calibri"/>
                <a:cs typeface="Calibri"/>
                <a:sym typeface="Calibri"/>
              </a:rPr>
              <a:t>Room</a:t>
            </a:r>
            <a:r>
              <a:rPr b="1" i="0" lang="fr" sz="1100" u="none" cap="none" strike="noStrike">
                <a:solidFill>
                  <a:schemeClr val="dk1"/>
                </a:solidFill>
                <a:latin typeface="Calibri"/>
                <a:ea typeface="Calibri"/>
                <a:cs typeface="Calibri"/>
                <a:sym typeface="Calibri"/>
              </a:rPr>
              <a:t> count and price rise together, </a:t>
            </a:r>
            <a:r>
              <a:rPr lang="fr" sz="1100">
                <a:solidFill>
                  <a:schemeClr val="dk1"/>
                </a:solidFill>
                <a:latin typeface="Calibri"/>
                <a:ea typeface="Calibri"/>
                <a:cs typeface="Calibri"/>
                <a:sym typeface="Calibri"/>
              </a:rPr>
              <a:t>which is logical because area and price already </a:t>
            </a:r>
            <a:r>
              <a:rPr lang="fr" sz="1100">
                <a:solidFill>
                  <a:schemeClr val="dk1"/>
                </a:solidFill>
                <a:latin typeface="Calibri"/>
                <a:ea typeface="Calibri"/>
                <a:cs typeface="Calibri"/>
                <a:sym typeface="Calibri"/>
              </a:rPr>
              <a:t>have the same correlation</a:t>
            </a:r>
            <a:r>
              <a:rPr i="0" lang="fr" sz="1100" u="none" cap="none" strike="noStrike">
                <a:solidFill>
                  <a:schemeClr val="dk1"/>
                </a:solidFill>
                <a:latin typeface="Calibri"/>
                <a:ea typeface="Calibri"/>
                <a:cs typeface="Calibri"/>
                <a:sym typeface="Calibri"/>
              </a:rPr>
              <a:t>. </a:t>
            </a:r>
            <a:endParaRPr i="0" sz="11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17181C"/>
              </a:buClr>
              <a:buSzPts val="1000"/>
              <a:buFont typeface="Calibri"/>
              <a:buNone/>
            </a:pPr>
            <a:r>
              <a:rPr lang="fr" sz="1100">
                <a:solidFill>
                  <a:schemeClr val="dk1"/>
                </a:solidFill>
                <a:latin typeface="Calibri"/>
                <a:ea typeface="Calibri"/>
                <a:cs typeface="Calibri"/>
                <a:sym typeface="Calibri"/>
              </a:rPr>
              <a:t>- Having a lift goes with a </a:t>
            </a:r>
            <a:r>
              <a:rPr b="1" lang="fr" sz="1100">
                <a:solidFill>
                  <a:schemeClr val="dk1"/>
                </a:solidFill>
                <a:latin typeface="Calibri"/>
                <a:ea typeface="Calibri"/>
                <a:cs typeface="Calibri"/>
                <a:sym typeface="Calibri"/>
              </a:rPr>
              <a:t>higher</a:t>
            </a:r>
            <a:r>
              <a:rPr lang="fr" sz="1100">
                <a:solidFill>
                  <a:schemeClr val="dk1"/>
                </a:solidFill>
                <a:latin typeface="Calibri"/>
                <a:ea typeface="Calibri"/>
                <a:cs typeface="Calibri"/>
                <a:sym typeface="Calibri"/>
              </a:rPr>
              <a:t> price while having a cellar actually goes with a </a:t>
            </a:r>
            <a:r>
              <a:rPr b="1" lang="fr" sz="1100">
                <a:solidFill>
                  <a:schemeClr val="dk1"/>
                </a:solidFill>
                <a:latin typeface="Calibri"/>
                <a:ea typeface="Calibri"/>
                <a:cs typeface="Calibri"/>
                <a:sym typeface="Calibri"/>
              </a:rPr>
              <a:t>lower</a:t>
            </a:r>
            <a:r>
              <a:rPr lang="fr" sz="1100">
                <a:solidFill>
                  <a:schemeClr val="dk1"/>
                </a:solidFill>
                <a:latin typeface="Calibri"/>
                <a:ea typeface="Calibri"/>
                <a:cs typeface="Calibri"/>
                <a:sym typeface="Calibri"/>
              </a:rPr>
              <a:t> price likely because we did null imputation to the </a:t>
            </a:r>
            <a:r>
              <a:rPr lang="fr" sz="1100">
                <a:solidFill>
                  <a:schemeClr val="dk1"/>
                </a:solidFill>
                <a:latin typeface="Calibri"/>
                <a:ea typeface="Calibri"/>
                <a:cs typeface="Calibri"/>
                <a:sym typeface="Calibri"/>
              </a:rPr>
              <a:t>feature</a:t>
            </a:r>
            <a:r>
              <a:rPr lang="fr" sz="1100">
                <a:solidFill>
                  <a:schemeClr val="dk1"/>
                </a:solidFill>
                <a:latin typeface="Calibri"/>
                <a:ea typeface="Calibri"/>
                <a:cs typeface="Calibri"/>
                <a:sym typeface="Calibri"/>
              </a:rPr>
              <a:t> and it had </a:t>
            </a:r>
            <a:r>
              <a:rPr lang="fr" sz="1100">
                <a:solidFill>
                  <a:schemeClr val="dk1"/>
                </a:solidFill>
                <a:latin typeface="Calibri"/>
                <a:ea typeface="Calibri"/>
                <a:cs typeface="Calibri"/>
                <a:sym typeface="Calibri"/>
              </a:rPr>
              <a:t>initially</a:t>
            </a:r>
            <a:r>
              <a:rPr lang="fr" sz="1100">
                <a:solidFill>
                  <a:schemeClr val="dk1"/>
                </a:solidFill>
                <a:latin typeface="Calibri"/>
                <a:ea typeface="Calibri"/>
                <a:cs typeface="Calibri"/>
                <a:sym typeface="Calibri"/>
              </a:rPr>
              <a:t> a fill </a:t>
            </a:r>
            <a:r>
              <a:rPr lang="fr" sz="1100">
                <a:solidFill>
                  <a:schemeClr val="dk1"/>
                </a:solidFill>
                <a:latin typeface="Calibri"/>
                <a:ea typeface="Calibri"/>
                <a:cs typeface="Calibri"/>
                <a:sym typeface="Calibri"/>
              </a:rPr>
              <a:t>percentage</a:t>
            </a:r>
            <a:r>
              <a:rPr lang="fr" sz="1100">
                <a:solidFill>
                  <a:schemeClr val="dk1"/>
                </a:solidFill>
                <a:latin typeface="Calibri"/>
                <a:ea typeface="Calibri"/>
                <a:cs typeface="Calibri"/>
                <a:sym typeface="Calibri"/>
              </a:rPr>
              <a:t> of 47% </a:t>
            </a:r>
            <a:endParaRPr b="1" sz="1100">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17181C"/>
              </a:buClr>
              <a:buSzPts val="1000"/>
              <a:buFont typeface="Calibri"/>
              <a:buNone/>
            </a:pPr>
            <a:r>
              <a:rPr b="1" lang="fr" sz="1100">
                <a:solidFill>
                  <a:schemeClr val="dk1"/>
                </a:solidFill>
                <a:latin typeface="Calibri"/>
                <a:ea typeface="Calibri"/>
                <a:cs typeface="Calibri"/>
                <a:sym typeface="Calibri"/>
              </a:rPr>
              <a:t>- </a:t>
            </a:r>
            <a:r>
              <a:rPr b="1" i="0" lang="fr" sz="1100" u="none" cap="none" strike="noStrike">
                <a:solidFill>
                  <a:schemeClr val="dk1"/>
                </a:solidFill>
                <a:latin typeface="Calibri"/>
                <a:ea typeface="Calibri"/>
                <a:cs typeface="Calibri"/>
                <a:sym typeface="Calibri"/>
              </a:rPr>
              <a:t>Energy rating shows only a mild A-to-G decline</a:t>
            </a:r>
            <a:r>
              <a:rPr b="1" lang="fr" sz="1100">
                <a:solidFill>
                  <a:schemeClr val="dk1"/>
                </a:solidFill>
                <a:latin typeface="Calibri"/>
                <a:ea typeface="Calibri"/>
                <a:cs typeface="Calibri"/>
                <a:sym typeface="Calibri"/>
              </a:rPr>
              <a:t> </a:t>
            </a:r>
            <a:r>
              <a:rPr i="0" lang="fr" sz="1100" u="none" cap="none" strike="noStrike">
                <a:solidFill>
                  <a:schemeClr val="dk1"/>
                </a:solidFill>
                <a:latin typeface="Calibri"/>
                <a:ea typeface="Calibri"/>
                <a:cs typeface="Calibri"/>
                <a:sym typeface="Calibri"/>
              </a:rPr>
              <a:t>likely because old, central buildings often carry poor DPE scores despite commanding high prices.</a:t>
            </a:r>
            <a:endParaRPr i="0" sz="1100" u="none" cap="none" strike="noStrike">
              <a:solidFill>
                <a:schemeClr val="dk1"/>
              </a:solidFill>
              <a:latin typeface="Calibri"/>
              <a:ea typeface="Calibri"/>
              <a:cs typeface="Calibri"/>
              <a:sym typeface="Calibri"/>
            </a:endParaRPr>
          </a:p>
        </p:txBody>
      </p:sp>
      <p:sp>
        <p:nvSpPr>
          <p:cNvPr id="184" name="Google Shape;184;p23"/>
          <p:cNvSpPr/>
          <p:nvPr/>
        </p:nvSpPr>
        <p:spPr>
          <a:xfrm>
            <a:off x="8558784" y="4855464"/>
            <a:ext cx="274320"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9CA0A8"/>
              </a:buClr>
              <a:buSzPts val="800"/>
              <a:buFont typeface="Calibri"/>
              <a:buNone/>
            </a:pPr>
            <a:r>
              <a:rPr lang="fr" sz="800">
                <a:solidFill>
                  <a:srgbClr val="9CA0A8"/>
                </a:solidFill>
                <a:latin typeface="Calibri"/>
                <a:ea typeface="Calibri"/>
                <a:cs typeface="Calibri"/>
                <a:sym typeface="Calibri"/>
              </a:rPr>
              <a:t>9</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189" name="Shape 189"/>
        <p:cNvGrpSpPr/>
        <p:nvPr/>
      </p:nvGrpSpPr>
      <p:grpSpPr>
        <a:xfrm>
          <a:off x="0" y="0"/>
          <a:ext cx="0" cy="0"/>
          <a:chOff x="0" y="0"/>
          <a:chExt cx="0" cy="0"/>
        </a:xfrm>
      </p:grpSpPr>
      <p:pic>
        <p:nvPicPr>
          <p:cNvPr descr="preencoded.png" id="190" name="Google Shape;190;p24"/>
          <p:cNvPicPr preferRelativeResize="0"/>
          <p:nvPr/>
        </p:nvPicPr>
        <p:blipFill rotWithShape="1">
          <a:blip r:embed="rId3">
            <a:alphaModFix/>
          </a:blip>
          <a:srcRect b="0" l="0" r="0" t="0"/>
          <a:stretch/>
        </p:blipFill>
        <p:spPr>
          <a:xfrm>
            <a:off x="7838694" y="274320"/>
            <a:ext cx="925830" cy="152029"/>
          </a:xfrm>
          <a:prstGeom prst="rect">
            <a:avLst/>
          </a:prstGeom>
          <a:noFill/>
          <a:ln>
            <a:noFill/>
          </a:ln>
        </p:spPr>
      </p:pic>
      <p:sp>
        <p:nvSpPr>
          <p:cNvPr id="191" name="Google Shape;191;p24"/>
          <p:cNvSpPr/>
          <p:nvPr/>
        </p:nvSpPr>
        <p:spPr>
          <a:xfrm>
            <a:off x="480060" y="315468"/>
            <a:ext cx="6172200" cy="219456"/>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000FF"/>
              </a:buClr>
              <a:buSzPts val="800"/>
              <a:buFont typeface="Calibri"/>
              <a:buNone/>
            </a:pPr>
            <a:r>
              <a:rPr b="1" i="0" lang="fr" sz="800" u="none" cap="none" strike="noStrike">
                <a:solidFill>
                  <a:srgbClr val="0000FF"/>
                </a:solidFill>
                <a:latin typeface="Calibri"/>
                <a:ea typeface="Calibri"/>
                <a:cs typeface="Calibri"/>
                <a:sym typeface="Calibri"/>
              </a:rPr>
              <a:t>4 · EXPLORATORY ANALYSIS</a:t>
            </a:r>
            <a:endParaRPr b="0" i="0" sz="800" u="none" cap="none" strike="noStrike">
              <a:solidFill>
                <a:schemeClr val="dk1"/>
              </a:solidFill>
              <a:latin typeface="Calibri"/>
              <a:ea typeface="Calibri"/>
              <a:cs typeface="Calibri"/>
              <a:sym typeface="Calibri"/>
            </a:endParaRPr>
          </a:p>
        </p:txBody>
      </p:sp>
      <p:sp>
        <p:nvSpPr>
          <p:cNvPr id="192" name="Google Shape;192;p24"/>
          <p:cNvSpPr/>
          <p:nvPr/>
        </p:nvSpPr>
        <p:spPr>
          <a:xfrm>
            <a:off x="480060" y="651510"/>
            <a:ext cx="8023800" cy="5487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1700"/>
              <a:buFont typeface="Cambria"/>
              <a:buNone/>
            </a:pPr>
            <a:r>
              <a:rPr b="1" lang="fr" sz="1700">
                <a:solidFill>
                  <a:srgbClr val="FFFFFF"/>
                </a:solidFill>
                <a:latin typeface="Cambria"/>
                <a:ea typeface="Cambria"/>
                <a:cs typeface="Cambria"/>
                <a:sym typeface="Cambria"/>
              </a:rPr>
              <a:t>Seasonality effect</a:t>
            </a:r>
            <a:endParaRPr b="0" i="0" sz="1700" u="none" cap="none" strike="noStrike">
              <a:solidFill>
                <a:schemeClr val="dk1"/>
              </a:solidFill>
              <a:latin typeface="Calibri"/>
              <a:ea typeface="Calibri"/>
              <a:cs typeface="Calibri"/>
              <a:sym typeface="Calibri"/>
            </a:endParaRPr>
          </a:p>
        </p:txBody>
      </p:sp>
      <p:pic>
        <p:nvPicPr>
          <p:cNvPr descr="preencoded.png" id="193" name="Google Shape;193;p24"/>
          <p:cNvPicPr preferRelativeResize="0"/>
          <p:nvPr/>
        </p:nvPicPr>
        <p:blipFill rotWithShape="1">
          <a:blip r:embed="rId4">
            <a:alphaModFix/>
          </a:blip>
          <a:srcRect b="0" l="0" r="0" t="0"/>
          <a:stretch/>
        </p:blipFill>
        <p:spPr>
          <a:xfrm>
            <a:off x="480060" y="1483528"/>
            <a:ext cx="4869180" cy="1662094"/>
          </a:xfrm>
          <a:prstGeom prst="rect">
            <a:avLst/>
          </a:prstGeom>
          <a:noFill/>
          <a:ln>
            <a:noFill/>
          </a:ln>
        </p:spPr>
      </p:pic>
      <p:sp>
        <p:nvSpPr>
          <p:cNvPr id="194" name="Google Shape;194;p24"/>
          <p:cNvSpPr/>
          <p:nvPr/>
        </p:nvSpPr>
        <p:spPr>
          <a:xfrm>
            <a:off x="480060" y="3394710"/>
            <a:ext cx="4869180" cy="891540"/>
          </a:xfrm>
          <a:prstGeom prst="rect">
            <a:avLst/>
          </a:prstGeom>
          <a:noFill/>
          <a:ln>
            <a:noFill/>
          </a:ln>
        </p:spPr>
        <p:txBody>
          <a:bodyPr anchorCtr="0" anchor="ctr" bIns="34275" lIns="68575" spcFirstLastPara="1" rIns="68575" wrap="square" tIns="34275">
            <a:noAutofit/>
          </a:bodyPr>
          <a:lstStyle/>
          <a:p>
            <a:pPr indent="0" lvl="0" marL="0" marR="0" rtl="0" algn="l">
              <a:lnSpc>
                <a:spcPct val="130000"/>
              </a:lnSpc>
              <a:spcBef>
                <a:spcPts val="0"/>
              </a:spcBef>
              <a:spcAft>
                <a:spcPts val="0"/>
              </a:spcAft>
              <a:buClr>
                <a:srgbClr val="C7C9CE"/>
              </a:buClr>
              <a:buSzPts val="900"/>
              <a:buFont typeface="Calibri"/>
              <a:buNone/>
            </a:pPr>
            <a:r>
              <a:rPr b="0" i="0" lang="fr" sz="1100" u="none" cap="none" strike="noStrike">
                <a:solidFill>
                  <a:srgbClr val="C7C9CE"/>
                </a:solidFill>
                <a:latin typeface="Calibri"/>
                <a:ea typeface="Calibri"/>
                <a:cs typeface="Calibri"/>
                <a:sym typeface="Calibri"/>
              </a:rPr>
              <a:t>Listings </a:t>
            </a:r>
            <a:r>
              <a:rPr lang="fr" sz="1100">
                <a:solidFill>
                  <a:srgbClr val="C7C9CE"/>
                </a:solidFill>
                <a:latin typeface="Calibri"/>
                <a:ea typeface="Calibri"/>
                <a:cs typeface="Calibri"/>
                <a:sym typeface="Calibri"/>
              </a:rPr>
              <a:t>decrease </a:t>
            </a:r>
            <a:r>
              <a:rPr b="0" i="0" lang="fr" sz="1100" u="none" cap="none" strike="noStrike">
                <a:solidFill>
                  <a:srgbClr val="C7C9CE"/>
                </a:solidFill>
                <a:latin typeface="Calibri"/>
                <a:ea typeface="Calibri"/>
                <a:cs typeface="Calibri"/>
                <a:sym typeface="Calibri"/>
              </a:rPr>
              <a:t>every August </a:t>
            </a:r>
            <a:r>
              <a:rPr lang="fr" sz="1100">
                <a:solidFill>
                  <a:srgbClr val="C7C9CE"/>
                </a:solidFill>
                <a:latin typeface="Calibri"/>
                <a:ea typeface="Calibri"/>
                <a:cs typeface="Calibri"/>
                <a:sym typeface="Calibri"/>
              </a:rPr>
              <a:t>(</a:t>
            </a:r>
            <a:r>
              <a:rPr b="0" i="0" lang="fr" sz="1100" u="none" cap="none" strike="noStrike">
                <a:solidFill>
                  <a:srgbClr val="C7C9CE"/>
                </a:solidFill>
                <a:latin typeface="Calibri"/>
                <a:ea typeface="Calibri"/>
                <a:cs typeface="Calibri"/>
                <a:sym typeface="Calibri"/>
              </a:rPr>
              <a:t> French summer holidays </a:t>
            </a:r>
            <a:r>
              <a:rPr lang="fr" sz="1100">
                <a:solidFill>
                  <a:srgbClr val="C7C9CE"/>
                </a:solidFill>
                <a:latin typeface="Calibri"/>
                <a:ea typeface="Calibri"/>
                <a:cs typeface="Calibri"/>
                <a:sym typeface="Calibri"/>
              </a:rPr>
              <a:t>)</a:t>
            </a:r>
            <a:r>
              <a:rPr b="0" i="0" lang="fr" sz="1100" u="none" cap="none" strike="noStrike">
                <a:solidFill>
                  <a:srgbClr val="C7C9CE"/>
                </a:solidFill>
                <a:latin typeface="Calibri"/>
                <a:ea typeface="Calibri"/>
                <a:cs typeface="Calibri"/>
                <a:sym typeface="Calibri"/>
              </a:rPr>
              <a:t> then rebound in September. Median €/sqm stays roughly flat across the year</a:t>
            </a:r>
            <a:r>
              <a:rPr lang="fr" sz="1100">
                <a:solidFill>
                  <a:srgbClr val="C7C9CE"/>
                </a:solidFill>
                <a:latin typeface="Calibri"/>
                <a:ea typeface="Calibri"/>
                <a:cs typeface="Calibri"/>
                <a:sym typeface="Calibri"/>
              </a:rPr>
              <a:t> </a:t>
            </a:r>
            <a:r>
              <a:rPr b="0" i="0" lang="fr" sz="1100" u="none" cap="none" strike="noStrike">
                <a:solidFill>
                  <a:srgbClr val="C7C9CE"/>
                </a:solidFill>
                <a:latin typeface="Calibri"/>
                <a:ea typeface="Calibri"/>
                <a:cs typeface="Calibri"/>
                <a:sym typeface="Calibri"/>
              </a:rPr>
              <a:t> but one calendar year alone can't tell trend from noise.</a:t>
            </a:r>
            <a:endParaRPr b="0" i="0" sz="1100" u="none" cap="none" strike="noStrike">
              <a:solidFill>
                <a:schemeClr val="dk1"/>
              </a:solidFill>
              <a:latin typeface="Calibri"/>
              <a:ea typeface="Calibri"/>
              <a:cs typeface="Calibri"/>
              <a:sym typeface="Calibri"/>
            </a:endParaRPr>
          </a:p>
        </p:txBody>
      </p:sp>
      <p:cxnSp>
        <p:nvCxnSpPr>
          <p:cNvPr id="195" name="Google Shape;195;p24"/>
          <p:cNvCxnSpPr/>
          <p:nvPr/>
        </p:nvCxnSpPr>
        <p:spPr>
          <a:xfrm>
            <a:off x="5589270" y="1337310"/>
            <a:ext cx="0" cy="2948940"/>
          </a:xfrm>
          <a:prstGeom prst="straightConnector1">
            <a:avLst/>
          </a:prstGeom>
          <a:noFill/>
          <a:ln cap="flat" cmpd="sng" w="12700">
            <a:solidFill>
              <a:srgbClr val="2A2A2A"/>
            </a:solidFill>
            <a:prstDash val="solid"/>
            <a:round/>
            <a:headEnd len="sm" w="sm" type="none"/>
            <a:tailEnd len="sm" w="sm" type="none"/>
          </a:ln>
        </p:spPr>
      </p:cxnSp>
      <p:sp>
        <p:nvSpPr>
          <p:cNvPr id="196" name="Google Shape;196;p24"/>
          <p:cNvSpPr/>
          <p:nvPr/>
        </p:nvSpPr>
        <p:spPr>
          <a:xfrm>
            <a:off x="5829300" y="1243485"/>
            <a:ext cx="2811900" cy="2400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000FF"/>
              </a:buClr>
              <a:buSzPts val="900"/>
              <a:buFont typeface="Calibri"/>
              <a:buNone/>
            </a:pPr>
            <a:r>
              <a:rPr b="1" lang="fr" sz="1500">
                <a:solidFill>
                  <a:srgbClr val="0000FF"/>
                </a:solidFill>
                <a:latin typeface="Calibri"/>
                <a:ea typeface="Calibri"/>
                <a:cs typeface="Calibri"/>
                <a:sym typeface="Calibri"/>
              </a:rPr>
              <a:t>In summary</a:t>
            </a:r>
            <a:endParaRPr b="1" i="0" sz="1500" u="none" cap="none" strike="noStrike">
              <a:solidFill>
                <a:schemeClr val="dk1"/>
              </a:solidFill>
              <a:latin typeface="Calibri"/>
              <a:ea typeface="Calibri"/>
              <a:cs typeface="Calibri"/>
              <a:sym typeface="Calibri"/>
            </a:endParaRPr>
          </a:p>
        </p:txBody>
      </p:sp>
      <p:sp>
        <p:nvSpPr>
          <p:cNvPr id="197" name="Google Shape;197;p24"/>
          <p:cNvSpPr/>
          <p:nvPr/>
        </p:nvSpPr>
        <p:spPr>
          <a:xfrm>
            <a:off x="5829300" y="1645926"/>
            <a:ext cx="2846100" cy="2846700"/>
          </a:xfrm>
          <a:prstGeom prst="rect">
            <a:avLst/>
          </a:prstGeom>
          <a:noFill/>
          <a:ln>
            <a:noFill/>
          </a:ln>
        </p:spPr>
        <p:txBody>
          <a:bodyPr anchorCtr="0" anchor="ctr" bIns="34275" lIns="68575" spcFirstLastPara="1" rIns="68575" wrap="square" tIns="34275">
            <a:noAutofit/>
          </a:bodyPr>
          <a:lstStyle/>
          <a:p>
            <a:pPr indent="-260350" lvl="0" marL="254000" marR="0" rtl="0" algn="l">
              <a:lnSpc>
                <a:spcPct val="130000"/>
              </a:lnSpc>
              <a:spcBef>
                <a:spcPts val="0"/>
              </a:spcBef>
              <a:spcAft>
                <a:spcPts val="0"/>
              </a:spcAft>
              <a:buClr>
                <a:srgbClr val="FFFFFF"/>
              </a:buClr>
              <a:buSzPts val="1100"/>
              <a:buFont typeface="Calibri"/>
              <a:buChar char="–"/>
            </a:pPr>
            <a:r>
              <a:rPr b="0" i="0" lang="fr" sz="1100" u="none" cap="none" strike="noStrike">
                <a:solidFill>
                  <a:srgbClr val="FFFFFF"/>
                </a:solidFill>
                <a:latin typeface="Calibri"/>
                <a:ea typeface="Calibri"/>
                <a:cs typeface="Calibri"/>
                <a:sym typeface="Calibri"/>
              </a:rPr>
              <a:t>Area and location explain most of it.</a:t>
            </a:r>
            <a:br>
              <a:rPr b="0" i="0" lang="fr" sz="1100" u="none" cap="none" strike="noStrike">
                <a:solidFill>
                  <a:srgbClr val="FFFFFF"/>
                </a:solidFill>
                <a:latin typeface="Calibri"/>
                <a:ea typeface="Calibri"/>
                <a:cs typeface="Calibri"/>
                <a:sym typeface="Calibri"/>
              </a:rPr>
            </a:br>
            <a:endParaRPr b="0" i="0" sz="1100" u="none" cap="none" strike="noStrike">
              <a:solidFill>
                <a:schemeClr val="dk1"/>
              </a:solidFill>
              <a:latin typeface="Calibri"/>
              <a:ea typeface="Calibri"/>
              <a:cs typeface="Calibri"/>
              <a:sym typeface="Calibri"/>
            </a:endParaRPr>
          </a:p>
          <a:p>
            <a:pPr indent="-260350" lvl="0" marL="254000" marR="0" rtl="0" algn="l">
              <a:lnSpc>
                <a:spcPct val="130000"/>
              </a:lnSpc>
              <a:spcBef>
                <a:spcPts val="800"/>
              </a:spcBef>
              <a:spcAft>
                <a:spcPts val="0"/>
              </a:spcAft>
              <a:buClr>
                <a:srgbClr val="FFFFFF"/>
              </a:buClr>
              <a:buSzPts val="1100"/>
              <a:buFont typeface="Calibri"/>
              <a:buChar char="–"/>
            </a:pPr>
            <a:r>
              <a:rPr b="0" i="0" lang="fr" sz="1100" u="none" cap="none" strike="noStrike">
                <a:solidFill>
                  <a:srgbClr val="FFFFFF"/>
                </a:solidFill>
                <a:latin typeface="Calibri"/>
                <a:ea typeface="Calibri"/>
                <a:cs typeface="Calibri"/>
                <a:sym typeface="Calibri"/>
              </a:rPr>
              <a:t>Rooms, amenities, energy rating add smaller, sensible effects.</a:t>
            </a:r>
            <a:br>
              <a:rPr b="0" i="0" lang="fr" sz="1100" u="none" cap="none" strike="noStrike">
                <a:solidFill>
                  <a:srgbClr val="FFFFFF"/>
                </a:solidFill>
                <a:latin typeface="Calibri"/>
                <a:ea typeface="Calibri"/>
                <a:cs typeface="Calibri"/>
                <a:sym typeface="Calibri"/>
              </a:rPr>
            </a:br>
            <a:endParaRPr b="0" i="0" sz="1100" u="none" cap="none" strike="noStrike">
              <a:solidFill>
                <a:schemeClr val="dk1"/>
              </a:solidFill>
              <a:latin typeface="Calibri"/>
              <a:ea typeface="Calibri"/>
              <a:cs typeface="Calibri"/>
              <a:sym typeface="Calibri"/>
            </a:endParaRPr>
          </a:p>
          <a:p>
            <a:pPr indent="-260350" lvl="0" marL="254000" marR="0" rtl="0" algn="l">
              <a:lnSpc>
                <a:spcPct val="130000"/>
              </a:lnSpc>
              <a:spcBef>
                <a:spcPts val="800"/>
              </a:spcBef>
              <a:spcAft>
                <a:spcPts val="0"/>
              </a:spcAft>
              <a:buClr>
                <a:srgbClr val="FFFFFF"/>
              </a:buClr>
              <a:buSzPts val="1100"/>
              <a:buFont typeface="Calibri"/>
              <a:buChar char="–"/>
            </a:pPr>
            <a:r>
              <a:rPr b="0" i="0" lang="fr" sz="1100" u="none" cap="none" strike="noStrike">
                <a:solidFill>
                  <a:srgbClr val="FFFFFF"/>
                </a:solidFill>
                <a:latin typeface="Calibri"/>
                <a:ea typeface="Calibri"/>
                <a:cs typeface="Calibri"/>
                <a:sym typeface="Calibri"/>
              </a:rPr>
              <a:t>Real anomalies exist  (bad zipcodes, impossible values) and were handled.</a:t>
            </a:r>
            <a:br>
              <a:rPr b="0" i="0" lang="fr" sz="1100" u="none" cap="none" strike="noStrike">
                <a:solidFill>
                  <a:srgbClr val="FFFFFF"/>
                </a:solidFill>
                <a:latin typeface="Calibri"/>
                <a:ea typeface="Calibri"/>
                <a:cs typeface="Calibri"/>
                <a:sym typeface="Calibri"/>
              </a:rPr>
            </a:br>
            <a:endParaRPr b="0" i="0" sz="1100" u="none" cap="none" strike="noStrike">
              <a:solidFill>
                <a:schemeClr val="dk1"/>
              </a:solidFill>
              <a:latin typeface="Calibri"/>
              <a:ea typeface="Calibri"/>
              <a:cs typeface="Calibri"/>
              <a:sym typeface="Calibri"/>
            </a:endParaRPr>
          </a:p>
          <a:p>
            <a:pPr indent="-260350" lvl="0" marL="254000" marR="0" rtl="0" algn="l">
              <a:lnSpc>
                <a:spcPct val="130000"/>
              </a:lnSpc>
              <a:spcBef>
                <a:spcPts val="800"/>
              </a:spcBef>
              <a:spcAft>
                <a:spcPts val="0"/>
              </a:spcAft>
              <a:buClr>
                <a:srgbClr val="FFFFFF"/>
              </a:buClr>
              <a:buSzPts val="1100"/>
              <a:buFont typeface="Calibri"/>
              <a:buChar char="–"/>
            </a:pPr>
            <a:r>
              <a:rPr b="0" i="0" lang="fr" sz="1100" u="none" cap="none" strike="noStrike">
                <a:solidFill>
                  <a:srgbClr val="FFFFFF"/>
                </a:solidFill>
                <a:latin typeface="Calibri"/>
                <a:ea typeface="Calibri"/>
                <a:cs typeface="Calibri"/>
                <a:sym typeface="Calibri"/>
              </a:rPr>
              <a:t>Real limits remain </a:t>
            </a:r>
            <a:r>
              <a:rPr lang="fr" sz="1100">
                <a:solidFill>
                  <a:srgbClr val="FFFFFF"/>
                </a:solidFill>
                <a:latin typeface="Calibri"/>
                <a:ea typeface="Calibri"/>
                <a:cs typeface="Calibri"/>
                <a:sym typeface="Calibri"/>
              </a:rPr>
              <a:t>:</a:t>
            </a:r>
            <a:r>
              <a:rPr b="0" i="0" lang="fr" sz="1100" u="none" cap="none" strike="noStrike">
                <a:solidFill>
                  <a:srgbClr val="FFFFFF"/>
                </a:solidFill>
                <a:latin typeface="Calibri"/>
                <a:ea typeface="Calibri"/>
                <a:cs typeface="Calibri"/>
                <a:sym typeface="Calibri"/>
              </a:rPr>
              <a:t> only one year of data, missing </a:t>
            </a:r>
            <a:r>
              <a:rPr lang="fr" sz="1100">
                <a:solidFill>
                  <a:srgbClr val="FFFFFF"/>
                </a:solidFill>
                <a:latin typeface="Calibri"/>
                <a:ea typeface="Calibri"/>
                <a:cs typeface="Calibri"/>
                <a:sym typeface="Calibri"/>
              </a:rPr>
              <a:t>values in some columns </a:t>
            </a:r>
            <a:endParaRPr b="0" i="0" sz="1100" u="none" cap="none" strike="noStrike">
              <a:solidFill>
                <a:schemeClr val="dk1"/>
              </a:solidFill>
              <a:latin typeface="Calibri"/>
              <a:ea typeface="Calibri"/>
              <a:cs typeface="Calibri"/>
              <a:sym typeface="Calibri"/>
            </a:endParaRPr>
          </a:p>
        </p:txBody>
      </p:sp>
      <p:sp>
        <p:nvSpPr>
          <p:cNvPr id="198" name="Google Shape;198;p24"/>
          <p:cNvSpPr/>
          <p:nvPr/>
        </p:nvSpPr>
        <p:spPr>
          <a:xfrm>
            <a:off x="8558784" y="4855464"/>
            <a:ext cx="274320"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55575C"/>
              </a:buClr>
              <a:buSzPts val="800"/>
              <a:buFont typeface="Calibri"/>
              <a:buNone/>
            </a:pPr>
            <a:r>
              <a:rPr lang="fr" sz="800">
                <a:solidFill>
                  <a:srgbClr val="55575C"/>
                </a:solidFill>
                <a:latin typeface="Calibri"/>
                <a:ea typeface="Calibri"/>
                <a:cs typeface="Calibri"/>
                <a:sym typeface="Calibri"/>
              </a:rPr>
              <a:t>10</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3" name="Shape 203"/>
        <p:cNvGrpSpPr/>
        <p:nvPr/>
      </p:nvGrpSpPr>
      <p:grpSpPr>
        <a:xfrm>
          <a:off x="0" y="0"/>
          <a:ext cx="0" cy="0"/>
          <a:chOff x="0" y="0"/>
          <a:chExt cx="0" cy="0"/>
        </a:xfrm>
      </p:grpSpPr>
      <p:pic>
        <p:nvPicPr>
          <p:cNvPr descr="preencoded.png" id="204" name="Google Shape;204;p25"/>
          <p:cNvPicPr preferRelativeResize="0"/>
          <p:nvPr/>
        </p:nvPicPr>
        <p:blipFill rotWithShape="1">
          <a:blip r:embed="rId3">
            <a:alphaModFix/>
          </a:blip>
          <a:srcRect b="0" l="0" r="0" t="0"/>
          <a:stretch/>
        </p:blipFill>
        <p:spPr>
          <a:xfrm>
            <a:off x="7838694" y="274320"/>
            <a:ext cx="925832" cy="152029"/>
          </a:xfrm>
          <a:prstGeom prst="rect">
            <a:avLst/>
          </a:prstGeom>
          <a:noFill/>
          <a:ln>
            <a:noFill/>
          </a:ln>
        </p:spPr>
      </p:pic>
      <p:sp>
        <p:nvSpPr>
          <p:cNvPr id="205" name="Google Shape;205;p25"/>
          <p:cNvSpPr/>
          <p:nvPr/>
        </p:nvSpPr>
        <p:spPr>
          <a:xfrm>
            <a:off x="480060" y="315468"/>
            <a:ext cx="6172200" cy="2196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428FF"/>
              </a:buClr>
              <a:buSzPts val="800"/>
              <a:buFont typeface="Calibri"/>
              <a:buNone/>
            </a:pPr>
            <a:r>
              <a:rPr b="1" i="0" lang="fr" sz="800" u="none" cap="none" strike="noStrike">
                <a:solidFill>
                  <a:srgbClr val="1428FF"/>
                </a:solidFill>
                <a:latin typeface="Calibri"/>
                <a:ea typeface="Calibri"/>
                <a:cs typeface="Calibri"/>
                <a:sym typeface="Calibri"/>
              </a:rPr>
              <a:t>5 · BASELINE MODELS</a:t>
            </a:r>
            <a:endParaRPr b="0" i="0" sz="800" u="none" cap="none" strike="noStrike">
              <a:solidFill>
                <a:schemeClr val="dk1"/>
              </a:solidFill>
              <a:latin typeface="Calibri"/>
              <a:ea typeface="Calibri"/>
              <a:cs typeface="Calibri"/>
              <a:sym typeface="Calibri"/>
            </a:endParaRPr>
          </a:p>
        </p:txBody>
      </p:sp>
      <p:sp>
        <p:nvSpPr>
          <p:cNvPr id="206" name="Google Shape;206;p25"/>
          <p:cNvSpPr/>
          <p:nvPr/>
        </p:nvSpPr>
        <p:spPr>
          <a:xfrm>
            <a:off x="480060" y="651510"/>
            <a:ext cx="8092500" cy="6171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7181C"/>
              </a:buClr>
              <a:buSzPts val="1700"/>
              <a:buFont typeface="Cambria"/>
              <a:buNone/>
            </a:pPr>
            <a:r>
              <a:rPr b="1" lang="fr" sz="1700">
                <a:solidFill>
                  <a:srgbClr val="17181C"/>
                </a:solidFill>
                <a:latin typeface="Cambria"/>
                <a:ea typeface="Cambria"/>
                <a:cs typeface="Cambria"/>
                <a:sym typeface="Cambria"/>
              </a:rPr>
              <a:t>Baseline Model: Linear regression with two options </a:t>
            </a:r>
            <a:endParaRPr b="0" i="0" sz="1700" u="none" cap="none" strike="noStrike">
              <a:solidFill>
                <a:schemeClr val="dk1"/>
              </a:solidFill>
              <a:latin typeface="Calibri"/>
              <a:ea typeface="Calibri"/>
              <a:cs typeface="Calibri"/>
              <a:sym typeface="Calibri"/>
            </a:endParaRPr>
          </a:p>
        </p:txBody>
      </p:sp>
      <p:sp>
        <p:nvSpPr>
          <p:cNvPr id="207" name="Google Shape;207;p25"/>
          <p:cNvSpPr/>
          <p:nvPr/>
        </p:nvSpPr>
        <p:spPr>
          <a:xfrm>
            <a:off x="562550" y="4156575"/>
            <a:ext cx="5198700" cy="7455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428FF"/>
              </a:buClr>
              <a:buSzPts val="1000"/>
              <a:buFont typeface="Calibri"/>
              <a:buNone/>
            </a:pPr>
            <a:r>
              <a:rPr b="1" i="0" lang="fr" sz="1100" u="none" cap="none" strike="noStrike">
                <a:solidFill>
                  <a:srgbClr val="1428FF"/>
                </a:solidFill>
                <a:latin typeface="Calibri"/>
                <a:ea typeface="Calibri"/>
                <a:cs typeface="Calibri"/>
                <a:sym typeface="Calibri"/>
              </a:rPr>
              <a:t>Decision: </a:t>
            </a:r>
            <a:r>
              <a:rPr b="0" i="0" lang="fr" sz="1100" u="none" cap="none" strike="noStrike">
                <a:solidFill>
                  <a:srgbClr val="17181C"/>
                </a:solidFill>
                <a:latin typeface="Calibri"/>
                <a:ea typeface="Calibri"/>
                <a:cs typeface="Calibri"/>
                <a:sym typeface="Calibri"/>
              </a:rPr>
              <a:t>raw price, for every model that follows</a:t>
            </a:r>
            <a:r>
              <a:rPr lang="fr" sz="1100">
                <a:solidFill>
                  <a:srgbClr val="17181C"/>
                </a:solidFill>
                <a:latin typeface="Calibri"/>
                <a:ea typeface="Calibri"/>
                <a:cs typeface="Calibri"/>
                <a:sym typeface="Calibri"/>
              </a:rPr>
              <a:t> because </a:t>
            </a:r>
            <a:r>
              <a:rPr lang="fr" sz="1100">
                <a:solidFill>
                  <a:schemeClr val="dk1"/>
                </a:solidFill>
                <a:latin typeface="Calibri"/>
                <a:ea typeface="Calibri"/>
                <a:cs typeface="Calibri"/>
                <a:sym typeface="Calibri"/>
              </a:rPr>
              <a:t>it</a:t>
            </a:r>
            <a:r>
              <a:rPr lang="fr" sz="1100">
                <a:solidFill>
                  <a:schemeClr val="dk1"/>
                </a:solidFill>
                <a:latin typeface="Calibri"/>
                <a:ea typeface="Calibri"/>
                <a:cs typeface="Calibri"/>
                <a:sym typeface="Calibri"/>
              </a:rPr>
              <a:t>'s the more accurate choice on the number that actually matters </a:t>
            </a:r>
            <a:endParaRPr sz="1100">
              <a:solidFill>
                <a:schemeClr val="dk1"/>
              </a:solidFill>
              <a:latin typeface="Calibri"/>
              <a:ea typeface="Calibri"/>
              <a:cs typeface="Calibri"/>
              <a:sym typeface="Calibri"/>
            </a:endParaRPr>
          </a:p>
          <a:p>
            <a:pPr indent="0" lvl="0" marL="0" marR="0" rtl="0" algn="l">
              <a:spcBef>
                <a:spcPts val="0"/>
              </a:spcBef>
              <a:spcAft>
                <a:spcPts val="0"/>
              </a:spcAft>
              <a:buClr>
                <a:srgbClr val="1428FF"/>
              </a:buClr>
              <a:buSzPts val="1000"/>
              <a:buFont typeface="Calibri"/>
              <a:buNone/>
            </a:pPr>
            <a:r>
              <a:rPr b="0" i="0" lang="fr" sz="1100" u="none" cap="none" strike="noStrike">
                <a:solidFill>
                  <a:srgbClr val="17181C"/>
                </a:solidFill>
                <a:latin typeface="Calibri"/>
                <a:ea typeface="Calibri"/>
                <a:cs typeface="Calibri"/>
                <a:sym typeface="Calibri"/>
              </a:rPr>
              <a:t>Tested, </a:t>
            </a:r>
            <a:r>
              <a:rPr lang="fr" sz="1100">
                <a:solidFill>
                  <a:srgbClr val="17181C"/>
                </a:solidFill>
                <a:latin typeface="Calibri"/>
                <a:ea typeface="Calibri"/>
                <a:cs typeface="Calibri"/>
                <a:sym typeface="Calibri"/>
              </a:rPr>
              <a:t>l</a:t>
            </a:r>
            <a:r>
              <a:rPr b="0" i="0" lang="fr" sz="1100" u="none" cap="none" strike="noStrike">
                <a:solidFill>
                  <a:srgbClr val="17181C"/>
                </a:solidFill>
                <a:latin typeface="Calibri"/>
                <a:ea typeface="Calibri"/>
                <a:cs typeface="Calibri"/>
                <a:sym typeface="Calibri"/>
              </a:rPr>
              <a:t>og-transform lost on every model in this project</a:t>
            </a:r>
            <a:endParaRPr b="0" i="0" sz="1100" u="none" cap="none" strike="noStrike">
              <a:solidFill>
                <a:schemeClr val="dk1"/>
              </a:solidFill>
              <a:latin typeface="Calibri"/>
              <a:ea typeface="Calibri"/>
              <a:cs typeface="Calibri"/>
              <a:sym typeface="Calibri"/>
            </a:endParaRPr>
          </a:p>
        </p:txBody>
      </p:sp>
      <p:sp>
        <p:nvSpPr>
          <p:cNvPr id="208" name="Google Shape;208;p25"/>
          <p:cNvSpPr/>
          <p:nvPr/>
        </p:nvSpPr>
        <p:spPr>
          <a:xfrm>
            <a:off x="8558784" y="4855464"/>
            <a:ext cx="274200" cy="20580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9CA0A8"/>
              </a:buClr>
              <a:buSzPts val="800"/>
              <a:buFont typeface="Calibri"/>
              <a:buNone/>
            </a:pPr>
            <a:r>
              <a:rPr lang="fr" sz="800">
                <a:solidFill>
                  <a:srgbClr val="9CA0A8"/>
                </a:solidFill>
                <a:latin typeface="Calibri"/>
                <a:ea typeface="Calibri"/>
                <a:cs typeface="Calibri"/>
                <a:sym typeface="Calibri"/>
              </a:rPr>
              <a:t>11</a:t>
            </a:r>
            <a:endParaRPr b="0" i="0" sz="800" u="none" cap="none" strike="noStrike">
              <a:solidFill>
                <a:schemeClr val="dk1"/>
              </a:solidFill>
              <a:latin typeface="Calibri"/>
              <a:ea typeface="Calibri"/>
              <a:cs typeface="Calibri"/>
              <a:sym typeface="Calibri"/>
            </a:endParaRPr>
          </a:p>
        </p:txBody>
      </p:sp>
      <p:pic>
        <p:nvPicPr>
          <p:cNvPr id="209" name="Google Shape;209;p25"/>
          <p:cNvPicPr preferRelativeResize="0"/>
          <p:nvPr/>
        </p:nvPicPr>
        <p:blipFill>
          <a:blip r:embed="rId4">
            <a:alphaModFix/>
          </a:blip>
          <a:stretch>
            <a:fillRect/>
          </a:stretch>
        </p:blipFill>
        <p:spPr>
          <a:xfrm>
            <a:off x="562600" y="1323675"/>
            <a:ext cx="5198600" cy="2441875"/>
          </a:xfrm>
          <a:prstGeom prst="rect">
            <a:avLst/>
          </a:prstGeom>
          <a:noFill/>
          <a:ln>
            <a:noFill/>
          </a:ln>
        </p:spPr>
      </p:pic>
      <p:sp>
        <p:nvSpPr>
          <p:cNvPr id="210" name="Google Shape;210;p25"/>
          <p:cNvSpPr txBox="1"/>
          <p:nvPr/>
        </p:nvSpPr>
        <p:spPr>
          <a:xfrm>
            <a:off x="5861050" y="1323675"/>
            <a:ext cx="3079800" cy="3124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fr" sz="1000">
                <a:latin typeface="Calibri"/>
                <a:ea typeface="Calibri"/>
                <a:cs typeface="Calibri"/>
                <a:sym typeface="Calibri"/>
              </a:rPr>
              <a:t>We tested </a:t>
            </a:r>
            <a:r>
              <a:rPr b="1" lang="fr" sz="1000">
                <a:latin typeface="Calibri"/>
                <a:ea typeface="Calibri"/>
                <a:cs typeface="Calibri"/>
                <a:sym typeface="Calibri"/>
              </a:rPr>
              <a:t>two versions of the same model:</a:t>
            </a:r>
            <a:r>
              <a:rPr lang="fr" sz="1000">
                <a:latin typeface="Calibri"/>
                <a:ea typeface="Calibri"/>
                <a:cs typeface="Calibri"/>
                <a:sym typeface="Calibri"/>
              </a:rPr>
              <a:t> </a:t>
            </a:r>
            <a:endParaRPr sz="1000">
              <a:latin typeface="Calibri"/>
              <a:ea typeface="Calibri"/>
              <a:cs typeface="Calibri"/>
              <a:sym typeface="Calibri"/>
            </a:endParaRPr>
          </a:p>
          <a:p>
            <a:pPr indent="0" lvl="0" marL="0" rtl="0" algn="l">
              <a:lnSpc>
                <a:spcPct val="115000"/>
              </a:lnSpc>
              <a:spcBef>
                <a:spcPts val="1200"/>
              </a:spcBef>
              <a:spcAft>
                <a:spcPts val="0"/>
              </a:spcAft>
              <a:buNone/>
            </a:pPr>
            <a:r>
              <a:rPr lang="fr" sz="1000">
                <a:latin typeface="Calibri"/>
                <a:ea typeface="Calibri"/>
                <a:cs typeface="Calibri"/>
                <a:sym typeface="Calibri"/>
              </a:rPr>
              <a:t>one trained directly on </a:t>
            </a:r>
            <a:r>
              <a:rPr b="1" lang="fr" sz="1000">
                <a:latin typeface="Calibri"/>
                <a:ea typeface="Calibri"/>
                <a:cs typeface="Calibri"/>
                <a:sym typeface="Calibri"/>
              </a:rPr>
              <a:t>price</a:t>
            </a:r>
            <a:r>
              <a:rPr lang="fr" sz="1000">
                <a:latin typeface="Calibri"/>
                <a:ea typeface="Calibri"/>
                <a:cs typeface="Calibri"/>
                <a:sym typeface="Calibri"/>
              </a:rPr>
              <a:t>, one trained on </a:t>
            </a:r>
            <a:r>
              <a:rPr b="1" lang="fr" sz="1000">
                <a:latin typeface="Calibri"/>
                <a:ea typeface="Calibri"/>
                <a:cs typeface="Calibri"/>
                <a:sym typeface="Calibri"/>
              </a:rPr>
              <a:t>log of price and then converted back</a:t>
            </a:r>
            <a:r>
              <a:rPr lang="fr" sz="1000">
                <a:latin typeface="Calibri"/>
                <a:ea typeface="Calibri"/>
                <a:cs typeface="Calibri"/>
                <a:sym typeface="Calibri"/>
              </a:rPr>
              <a:t>. Raw price wins clearly. It's off by about €120,000 on average, vs €157,000 for the log version, and explains 90% of the variation in price versus 73%.</a:t>
            </a:r>
            <a:endParaRPr sz="1000">
              <a:latin typeface="Calibri"/>
              <a:ea typeface="Calibri"/>
              <a:cs typeface="Calibri"/>
              <a:sym typeface="Calibri"/>
            </a:endParaRPr>
          </a:p>
          <a:p>
            <a:pPr indent="0" lvl="0" marL="0" rtl="0" algn="l">
              <a:lnSpc>
                <a:spcPct val="115000"/>
              </a:lnSpc>
              <a:spcBef>
                <a:spcPts val="1200"/>
              </a:spcBef>
              <a:spcAft>
                <a:spcPts val="1200"/>
              </a:spcAft>
              <a:buNone/>
            </a:pPr>
            <a:r>
              <a:rPr lang="fr" sz="1000">
                <a:latin typeface="Calibri"/>
                <a:ea typeface="Calibri"/>
                <a:cs typeface="Calibri"/>
                <a:sym typeface="Calibri"/>
              </a:rPr>
              <a:t>The log model actually scores well in its own world, 0.876 R² across five different data splits, so it's not a bad model. The problem shows up when we convert log predictions back into euros. A small miss in log space can turn into a huge miss in euros once we reverse the transformation, especially for expensive properties. That's exactly why the log version's errors balloon on the real scale even though it looked fine before converting back.</a:t>
            </a:r>
            <a:endParaRPr sz="1000">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5" name="Shape 215"/>
        <p:cNvGrpSpPr/>
        <p:nvPr/>
      </p:nvGrpSpPr>
      <p:grpSpPr>
        <a:xfrm>
          <a:off x="0" y="0"/>
          <a:ext cx="0" cy="0"/>
          <a:chOff x="0" y="0"/>
          <a:chExt cx="0" cy="0"/>
        </a:xfrm>
      </p:grpSpPr>
      <p:pic>
        <p:nvPicPr>
          <p:cNvPr descr="preencoded.png" id="216" name="Google Shape;216;p26"/>
          <p:cNvPicPr preferRelativeResize="0"/>
          <p:nvPr/>
        </p:nvPicPr>
        <p:blipFill rotWithShape="1">
          <a:blip r:embed="rId3">
            <a:alphaModFix/>
          </a:blip>
          <a:srcRect b="0" l="0" r="0" t="0"/>
          <a:stretch/>
        </p:blipFill>
        <p:spPr>
          <a:xfrm>
            <a:off x="7838694" y="274320"/>
            <a:ext cx="925830" cy="152029"/>
          </a:xfrm>
          <a:prstGeom prst="rect">
            <a:avLst/>
          </a:prstGeom>
          <a:noFill/>
          <a:ln>
            <a:noFill/>
          </a:ln>
        </p:spPr>
      </p:pic>
      <p:sp>
        <p:nvSpPr>
          <p:cNvPr id="217" name="Google Shape;217;p26"/>
          <p:cNvSpPr/>
          <p:nvPr/>
        </p:nvSpPr>
        <p:spPr>
          <a:xfrm>
            <a:off x="480060" y="315468"/>
            <a:ext cx="6172200" cy="219456"/>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428FF"/>
              </a:buClr>
              <a:buSzPts val="800"/>
              <a:buFont typeface="Calibri"/>
              <a:buNone/>
            </a:pPr>
            <a:r>
              <a:rPr b="1" i="0" lang="fr" sz="800" u="none" cap="none" strike="noStrike">
                <a:solidFill>
                  <a:srgbClr val="1428FF"/>
                </a:solidFill>
                <a:latin typeface="Calibri"/>
                <a:ea typeface="Calibri"/>
                <a:cs typeface="Calibri"/>
                <a:sym typeface="Calibri"/>
              </a:rPr>
              <a:t>6 · ADVANCED MODELS</a:t>
            </a:r>
            <a:endParaRPr b="0" i="0" sz="800" u="none" cap="none" strike="noStrike">
              <a:solidFill>
                <a:schemeClr val="dk1"/>
              </a:solidFill>
              <a:latin typeface="Calibri"/>
              <a:ea typeface="Calibri"/>
              <a:cs typeface="Calibri"/>
              <a:sym typeface="Calibri"/>
            </a:endParaRPr>
          </a:p>
        </p:txBody>
      </p:sp>
      <p:sp>
        <p:nvSpPr>
          <p:cNvPr id="218" name="Google Shape;218;p26"/>
          <p:cNvSpPr/>
          <p:nvPr/>
        </p:nvSpPr>
        <p:spPr>
          <a:xfrm>
            <a:off x="480060" y="651510"/>
            <a:ext cx="8092440" cy="5829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7181C"/>
              </a:buClr>
              <a:buSzPts val="1700"/>
              <a:buFont typeface="Cambria"/>
              <a:buNone/>
            </a:pPr>
            <a:r>
              <a:rPr b="1" lang="fr" sz="1700">
                <a:solidFill>
                  <a:srgbClr val="17181C"/>
                </a:solidFill>
                <a:latin typeface="Cambria"/>
                <a:ea typeface="Cambria"/>
                <a:cs typeface="Cambria"/>
                <a:sym typeface="Cambria"/>
              </a:rPr>
              <a:t>How the models were trained </a:t>
            </a:r>
            <a:endParaRPr b="0" i="0" sz="1700" u="none" cap="none" strike="noStrike">
              <a:solidFill>
                <a:schemeClr val="dk1"/>
              </a:solidFill>
              <a:latin typeface="Calibri"/>
              <a:ea typeface="Calibri"/>
              <a:cs typeface="Calibri"/>
              <a:sym typeface="Calibri"/>
            </a:endParaRPr>
          </a:p>
        </p:txBody>
      </p:sp>
      <p:sp>
        <p:nvSpPr>
          <p:cNvPr id="219" name="Google Shape;219;p26"/>
          <p:cNvSpPr/>
          <p:nvPr/>
        </p:nvSpPr>
        <p:spPr>
          <a:xfrm>
            <a:off x="480060" y="1440180"/>
            <a:ext cx="1522476" cy="3429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17181C"/>
              </a:buClr>
              <a:buSzPts val="900"/>
              <a:buFont typeface="Calibri"/>
              <a:buNone/>
            </a:pPr>
            <a:r>
              <a:rPr b="1" lang="fr" sz="1100">
                <a:solidFill>
                  <a:srgbClr val="17181C"/>
                </a:solidFill>
                <a:latin typeface="Calibri"/>
                <a:ea typeface="Calibri"/>
                <a:cs typeface="Calibri"/>
                <a:sym typeface="Calibri"/>
              </a:rPr>
              <a:t>Feature selection</a:t>
            </a:r>
            <a:endParaRPr b="0" i="0" sz="1100" u="none" cap="none" strike="noStrike">
              <a:solidFill>
                <a:schemeClr val="dk1"/>
              </a:solidFill>
              <a:latin typeface="Calibri"/>
              <a:ea typeface="Calibri"/>
              <a:cs typeface="Calibri"/>
              <a:sym typeface="Calibri"/>
            </a:endParaRPr>
          </a:p>
        </p:txBody>
      </p:sp>
      <p:cxnSp>
        <p:nvCxnSpPr>
          <p:cNvPr id="220" name="Google Shape;220;p26"/>
          <p:cNvCxnSpPr/>
          <p:nvPr/>
        </p:nvCxnSpPr>
        <p:spPr>
          <a:xfrm>
            <a:off x="480060" y="1817370"/>
            <a:ext cx="1522476" cy="0"/>
          </a:xfrm>
          <a:prstGeom prst="straightConnector1">
            <a:avLst/>
          </a:prstGeom>
          <a:noFill/>
          <a:ln cap="flat" cmpd="sng" w="31750">
            <a:solidFill>
              <a:srgbClr val="1428FF"/>
            </a:solidFill>
            <a:prstDash val="solid"/>
            <a:round/>
            <a:headEnd len="sm" w="sm" type="none"/>
            <a:tailEnd len="sm" w="sm" type="none"/>
          </a:ln>
        </p:spPr>
      </p:cxnSp>
      <p:sp>
        <p:nvSpPr>
          <p:cNvPr id="221" name="Google Shape;221;p26"/>
          <p:cNvSpPr/>
          <p:nvPr/>
        </p:nvSpPr>
        <p:spPr>
          <a:xfrm>
            <a:off x="2002536" y="1474470"/>
            <a:ext cx="123444" cy="27432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9CA0A8"/>
              </a:buClr>
              <a:buSzPts val="1100"/>
              <a:buFont typeface="Calibri"/>
              <a:buNone/>
            </a:pPr>
            <a:r>
              <a:rPr b="0" i="0" lang="fr" sz="1100" u="none" cap="none" strike="noStrike">
                <a:solidFill>
                  <a:srgbClr val="9CA0A8"/>
                </a:solidFill>
                <a:latin typeface="Calibri"/>
                <a:ea typeface="Calibri"/>
                <a:cs typeface="Calibri"/>
                <a:sym typeface="Calibri"/>
              </a:rPr>
              <a:t>→</a:t>
            </a:r>
            <a:endParaRPr b="0" i="0" sz="1100" u="none" cap="none" strike="noStrike">
              <a:solidFill>
                <a:schemeClr val="dk1"/>
              </a:solidFill>
              <a:latin typeface="Calibri"/>
              <a:ea typeface="Calibri"/>
              <a:cs typeface="Calibri"/>
              <a:sym typeface="Calibri"/>
            </a:endParaRPr>
          </a:p>
        </p:txBody>
      </p:sp>
      <p:sp>
        <p:nvSpPr>
          <p:cNvPr id="222" name="Google Shape;222;p26"/>
          <p:cNvSpPr/>
          <p:nvPr/>
        </p:nvSpPr>
        <p:spPr>
          <a:xfrm>
            <a:off x="2125980" y="1440180"/>
            <a:ext cx="1522476" cy="3429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17181C"/>
              </a:buClr>
              <a:buSzPts val="900"/>
              <a:buFont typeface="Calibri"/>
              <a:buNone/>
            </a:pPr>
            <a:r>
              <a:rPr b="1" i="0" lang="fr" sz="1100" u="none" cap="none" strike="noStrike">
                <a:solidFill>
                  <a:srgbClr val="17181C"/>
                </a:solidFill>
                <a:latin typeface="Calibri"/>
                <a:ea typeface="Calibri"/>
                <a:cs typeface="Calibri"/>
                <a:sym typeface="Calibri"/>
              </a:rPr>
              <a:t>80 / 20 split</a:t>
            </a:r>
            <a:endParaRPr b="0" i="0" sz="1100" u="none" cap="none" strike="noStrike">
              <a:solidFill>
                <a:schemeClr val="dk1"/>
              </a:solidFill>
              <a:latin typeface="Calibri"/>
              <a:ea typeface="Calibri"/>
              <a:cs typeface="Calibri"/>
              <a:sym typeface="Calibri"/>
            </a:endParaRPr>
          </a:p>
        </p:txBody>
      </p:sp>
      <p:cxnSp>
        <p:nvCxnSpPr>
          <p:cNvPr id="223" name="Google Shape;223;p26"/>
          <p:cNvCxnSpPr/>
          <p:nvPr/>
        </p:nvCxnSpPr>
        <p:spPr>
          <a:xfrm>
            <a:off x="2125980" y="1817370"/>
            <a:ext cx="1522476" cy="0"/>
          </a:xfrm>
          <a:prstGeom prst="straightConnector1">
            <a:avLst/>
          </a:prstGeom>
          <a:noFill/>
          <a:ln cap="flat" cmpd="sng" w="31750">
            <a:solidFill>
              <a:srgbClr val="1428FF"/>
            </a:solidFill>
            <a:prstDash val="solid"/>
            <a:round/>
            <a:headEnd len="sm" w="sm" type="none"/>
            <a:tailEnd len="sm" w="sm" type="none"/>
          </a:ln>
        </p:spPr>
      </p:cxnSp>
      <p:sp>
        <p:nvSpPr>
          <p:cNvPr id="224" name="Google Shape;224;p26"/>
          <p:cNvSpPr/>
          <p:nvPr/>
        </p:nvSpPr>
        <p:spPr>
          <a:xfrm>
            <a:off x="3648456" y="1474470"/>
            <a:ext cx="123444" cy="27432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9CA0A8"/>
              </a:buClr>
              <a:buSzPts val="1100"/>
              <a:buFont typeface="Calibri"/>
              <a:buNone/>
            </a:pPr>
            <a:r>
              <a:rPr b="0" i="0" lang="fr" sz="1100" u="none" cap="none" strike="noStrike">
                <a:solidFill>
                  <a:srgbClr val="9CA0A8"/>
                </a:solidFill>
                <a:latin typeface="Calibri"/>
                <a:ea typeface="Calibri"/>
                <a:cs typeface="Calibri"/>
                <a:sym typeface="Calibri"/>
              </a:rPr>
              <a:t>→</a:t>
            </a:r>
            <a:endParaRPr b="0" i="0" sz="1100" u="none" cap="none" strike="noStrike">
              <a:solidFill>
                <a:schemeClr val="dk1"/>
              </a:solidFill>
              <a:latin typeface="Calibri"/>
              <a:ea typeface="Calibri"/>
              <a:cs typeface="Calibri"/>
              <a:sym typeface="Calibri"/>
            </a:endParaRPr>
          </a:p>
        </p:txBody>
      </p:sp>
      <p:sp>
        <p:nvSpPr>
          <p:cNvPr id="225" name="Google Shape;225;p26"/>
          <p:cNvSpPr/>
          <p:nvPr/>
        </p:nvSpPr>
        <p:spPr>
          <a:xfrm>
            <a:off x="3771900" y="1440180"/>
            <a:ext cx="1522476" cy="3429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17181C"/>
              </a:buClr>
              <a:buSzPts val="900"/>
              <a:buFont typeface="Calibri"/>
              <a:buNone/>
            </a:pPr>
            <a:r>
              <a:rPr b="1" lang="fr" sz="1100">
                <a:solidFill>
                  <a:srgbClr val="17181C"/>
                </a:solidFill>
                <a:latin typeface="Calibri"/>
                <a:ea typeface="Calibri"/>
                <a:cs typeface="Calibri"/>
                <a:sym typeface="Calibri"/>
              </a:rPr>
              <a:t>Imputation</a:t>
            </a:r>
            <a:endParaRPr b="0" i="0" sz="1100" u="none" cap="none" strike="noStrike">
              <a:solidFill>
                <a:schemeClr val="dk1"/>
              </a:solidFill>
              <a:latin typeface="Calibri"/>
              <a:ea typeface="Calibri"/>
              <a:cs typeface="Calibri"/>
              <a:sym typeface="Calibri"/>
            </a:endParaRPr>
          </a:p>
        </p:txBody>
      </p:sp>
      <p:cxnSp>
        <p:nvCxnSpPr>
          <p:cNvPr id="226" name="Google Shape;226;p26"/>
          <p:cNvCxnSpPr/>
          <p:nvPr/>
        </p:nvCxnSpPr>
        <p:spPr>
          <a:xfrm>
            <a:off x="3771900" y="1817370"/>
            <a:ext cx="1522476" cy="0"/>
          </a:xfrm>
          <a:prstGeom prst="straightConnector1">
            <a:avLst/>
          </a:prstGeom>
          <a:noFill/>
          <a:ln cap="flat" cmpd="sng" w="31750">
            <a:solidFill>
              <a:srgbClr val="1428FF"/>
            </a:solidFill>
            <a:prstDash val="solid"/>
            <a:round/>
            <a:headEnd len="sm" w="sm" type="none"/>
            <a:tailEnd len="sm" w="sm" type="none"/>
          </a:ln>
        </p:spPr>
      </p:cxnSp>
      <p:sp>
        <p:nvSpPr>
          <p:cNvPr id="227" name="Google Shape;227;p26"/>
          <p:cNvSpPr/>
          <p:nvPr/>
        </p:nvSpPr>
        <p:spPr>
          <a:xfrm>
            <a:off x="5294376" y="1474470"/>
            <a:ext cx="123444" cy="27432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9CA0A8"/>
              </a:buClr>
              <a:buSzPts val="1100"/>
              <a:buFont typeface="Calibri"/>
              <a:buNone/>
            </a:pPr>
            <a:r>
              <a:rPr b="0" i="0" lang="fr" sz="1100" u="none" cap="none" strike="noStrike">
                <a:solidFill>
                  <a:srgbClr val="9CA0A8"/>
                </a:solidFill>
                <a:latin typeface="Calibri"/>
                <a:ea typeface="Calibri"/>
                <a:cs typeface="Calibri"/>
                <a:sym typeface="Calibri"/>
              </a:rPr>
              <a:t>→</a:t>
            </a:r>
            <a:endParaRPr b="0" i="0" sz="1100" u="none" cap="none" strike="noStrike">
              <a:solidFill>
                <a:schemeClr val="dk1"/>
              </a:solidFill>
              <a:latin typeface="Calibri"/>
              <a:ea typeface="Calibri"/>
              <a:cs typeface="Calibri"/>
              <a:sym typeface="Calibri"/>
            </a:endParaRPr>
          </a:p>
        </p:txBody>
      </p:sp>
      <p:sp>
        <p:nvSpPr>
          <p:cNvPr id="228" name="Google Shape;228;p26"/>
          <p:cNvSpPr/>
          <p:nvPr/>
        </p:nvSpPr>
        <p:spPr>
          <a:xfrm>
            <a:off x="5417820" y="1440180"/>
            <a:ext cx="1522476" cy="3429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17181C"/>
              </a:buClr>
              <a:buSzPts val="900"/>
              <a:buFont typeface="Calibri"/>
              <a:buNone/>
            </a:pPr>
            <a:r>
              <a:rPr b="1" i="0" lang="fr" sz="1100" u="none" cap="none" strike="noStrike">
                <a:solidFill>
                  <a:srgbClr val="17181C"/>
                </a:solidFill>
                <a:latin typeface="Calibri"/>
                <a:ea typeface="Calibri"/>
                <a:cs typeface="Calibri"/>
                <a:sym typeface="Calibri"/>
              </a:rPr>
              <a:t>Standardize*</a:t>
            </a:r>
            <a:endParaRPr b="0" i="0" sz="1100" u="none" cap="none" strike="noStrike">
              <a:solidFill>
                <a:schemeClr val="dk1"/>
              </a:solidFill>
              <a:latin typeface="Calibri"/>
              <a:ea typeface="Calibri"/>
              <a:cs typeface="Calibri"/>
              <a:sym typeface="Calibri"/>
            </a:endParaRPr>
          </a:p>
        </p:txBody>
      </p:sp>
      <p:cxnSp>
        <p:nvCxnSpPr>
          <p:cNvPr id="229" name="Google Shape;229;p26"/>
          <p:cNvCxnSpPr/>
          <p:nvPr/>
        </p:nvCxnSpPr>
        <p:spPr>
          <a:xfrm>
            <a:off x="5417820" y="1817370"/>
            <a:ext cx="1522476" cy="0"/>
          </a:xfrm>
          <a:prstGeom prst="straightConnector1">
            <a:avLst/>
          </a:prstGeom>
          <a:noFill/>
          <a:ln cap="flat" cmpd="sng" w="31750">
            <a:solidFill>
              <a:srgbClr val="1428FF"/>
            </a:solidFill>
            <a:prstDash val="solid"/>
            <a:round/>
            <a:headEnd len="sm" w="sm" type="none"/>
            <a:tailEnd len="sm" w="sm" type="none"/>
          </a:ln>
        </p:spPr>
      </p:cxnSp>
      <p:sp>
        <p:nvSpPr>
          <p:cNvPr id="230" name="Google Shape;230;p26"/>
          <p:cNvSpPr/>
          <p:nvPr/>
        </p:nvSpPr>
        <p:spPr>
          <a:xfrm>
            <a:off x="6940296" y="1474470"/>
            <a:ext cx="123444" cy="27432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9CA0A8"/>
              </a:buClr>
              <a:buSzPts val="1100"/>
              <a:buFont typeface="Calibri"/>
              <a:buNone/>
            </a:pPr>
            <a:r>
              <a:rPr b="0" i="0" lang="fr" sz="1100" u="none" cap="none" strike="noStrike">
                <a:solidFill>
                  <a:srgbClr val="9CA0A8"/>
                </a:solidFill>
                <a:latin typeface="Calibri"/>
                <a:ea typeface="Calibri"/>
                <a:cs typeface="Calibri"/>
                <a:sym typeface="Calibri"/>
              </a:rPr>
              <a:t>→</a:t>
            </a:r>
            <a:endParaRPr b="0" i="0" sz="1100" u="none" cap="none" strike="noStrike">
              <a:solidFill>
                <a:schemeClr val="dk1"/>
              </a:solidFill>
              <a:latin typeface="Calibri"/>
              <a:ea typeface="Calibri"/>
              <a:cs typeface="Calibri"/>
              <a:sym typeface="Calibri"/>
            </a:endParaRPr>
          </a:p>
        </p:txBody>
      </p:sp>
      <p:sp>
        <p:nvSpPr>
          <p:cNvPr id="231" name="Google Shape;231;p26"/>
          <p:cNvSpPr/>
          <p:nvPr/>
        </p:nvSpPr>
        <p:spPr>
          <a:xfrm>
            <a:off x="7063740" y="1440180"/>
            <a:ext cx="1522476" cy="3429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17181C"/>
              </a:buClr>
              <a:buSzPts val="900"/>
              <a:buFont typeface="Calibri"/>
              <a:buNone/>
            </a:pPr>
            <a:r>
              <a:rPr b="1" i="0" lang="fr" sz="1100" u="none" cap="none" strike="noStrike">
                <a:solidFill>
                  <a:srgbClr val="17181C"/>
                </a:solidFill>
                <a:latin typeface="Calibri"/>
                <a:ea typeface="Calibri"/>
                <a:cs typeface="Calibri"/>
                <a:sym typeface="Calibri"/>
              </a:rPr>
              <a:t>Fit &amp; </a:t>
            </a:r>
            <a:r>
              <a:rPr b="1" lang="fr" sz="1100">
                <a:solidFill>
                  <a:srgbClr val="17181C"/>
                </a:solidFill>
                <a:latin typeface="Calibri"/>
                <a:ea typeface="Calibri"/>
                <a:cs typeface="Calibri"/>
                <a:sym typeface="Calibri"/>
              </a:rPr>
              <a:t>Evaluation</a:t>
            </a:r>
            <a:endParaRPr b="0" i="0" sz="1100" u="none" cap="none" strike="noStrike">
              <a:solidFill>
                <a:schemeClr val="dk1"/>
              </a:solidFill>
              <a:latin typeface="Calibri"/>
              <a:ea typeface="Calibri"/>
              <a:cs typeface="Calibri"/>
              <a:sym typeface="Calibri"/>
            </a:endParaRPr>
          </a:p>
        </p:txBody>
      </p:sp>
      <p:cxnSp>
        <p:nvCxnSpPr>
          <p:cNvPr id="232" name="Google Shape;232;p26"/>
          <p:cNvCxnSpPr/>
          <p:nvPr/>
        </p:nvCxnSpPr>
        <p:spPr>
          <a:xfrm>
            <a:off x="7063740" y="1817370"/>
            <a:ext cx="1522476" cy="0"/>
          </a:xfrm>
          <a:prstGeom prst="straightConnector1">
            <a:avLst/>
          </a:prstGeom>
          <a:noFill/>
          <a:ln cap="flat" cmpd="sng" w="31750">
            <a:solidFill>
              <a:srgbClr val="1428FF"/>
            </a:solidFill>
            <a:prstDash val="solid"/>
            <a:round/>
            <a:headEnd len="sm" w="sm" type="none"/>
            <a:tailEnd len="sm" w="sm" type="none"/>
          </a:ln>
        </p:spPr>
      </p:cxnSp>
      <p:sp>
        <p:nvSpPr>
          <p:cNvPr id="233" name="Google Shape;233;p26"/>
          <p:cNvSpPr/>
          <p:nvPr/>
        </p:nvSpPr>
        <p:spPr>
          <a:xfrm>
            <a:off x="480050" y="2160273"/>
            <a:ext cx="2469000" cy="2958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1428FF"/>
              </a:buClr>
              <a:buSzPts val="1000"/>
              <a:buFont typeface="Calibri"/>
              <a:buNone/>
            </a:pPr>
            <a:r>
              <a:rPr b="1" i="0" lang="fr" sz="1200" u="none" cap="none" strike="noStrike">
                <a:solidFill>
                  <a:srgbClr val="1428FF"/>
                </a:solidFill>
                <a:latin typeface="Calibri"/>
                <a:ea typeface="Calibri"/>
                <a:cs typeface="Calibri"/>
                <a:sym typeface="Calibri"/>
              </a:rPr>
              <a:t>73,344 / 18,336</a:t>
            </a:r>
            <a:endParaRPr b="0" i="0" sz="1200" u="none" cap="none" strike="noStrike">
              <a:solidFill>
                <a:schemeClr val="dk1"/>
              </a:solidFill>
              <a:latin typeface="Calibri"/>
              <a:ea typeface="Calibri"/>
              <a:cs typeface="Calibri"/>
              <a:sym typeface="Calibri"/>
            </a:endParaRPr>
          </a:p>
        </p:txBody>
      </p:sp>
      <p:sp>
        <p:nvSpPr>
          <p:cNvPr id="234" name="Google Shape;234;p26"/>
          <p:cNvSpPr/>
          <p:nvPr/>
        </p:nvSpPr>
        <p:spPr>
          <a:xfrm>
            <a:off x="3051810" y="2160270"/>
            <a:ext cx="5177700" cy="562500"/>
          </a:xfrm>
          <a:prstGeom prst="rect">
            <a:avLst/>
          </a:prstGeom>
          <a:noFill/>
          <a:ln>
            <a:noFill/>
          </a:ln>
        </p:spPr>
        <p:txBody>
          <a:bodyPr anchorCtr="0" anchor="t" bIns="34275" lIns="68575" spcFirstLastPara="1" rIns="68575" wrap="square" tIns="34275">
            <a:noAutofit/>
          </a:bodyPr>
          <a:lstStyle/>
          <a:p>
            <a:pPr indent="0" lvl="0" marL="0" marR="0" rtl="0" algn="l">
              <a:lnSpc>
                <a:spcPct val="120000"/>
              </a:lnSpc>
              <a:spcBef>
                <a:spcPts val="0"/>
              </a:spcBef>
              <a:spcAft>
                <a:spcPts val="0"/>
              </a:spcAft>
              <a:buClr>
                <a:srgbClr val="6B6F76"/>
              </a:buClr>
              <a:buSzPts val="900"/>
              <a:buFont typeface="Calibri"/>
              <a:buNone/>
            </a:pPr>
            <a:r>
              <a:rPr i="0" lang="fr" sz="1200" u="none" cap="none" strike="noStrike">
                <a:solidFill>
                  <a:schemeClr val="dk1"/>
                </a:solidFill>
                <a:latin typeface="Calibri"/>
                <a:ea typeface="Calibri"/>
                <a:cs typeface="Calibri"/>
                <a:sym typeface="Calibri"/>
              </a:rPr>
              <a:t>rows in train and test, split after </a:t>
            </a:r>
            <a:r>
              <a:rPr lang="fr" sz="1200">
                <a:solidFill>
                  <a:schemeClr val="dk1"/>
                </a:solidFill>
                <a:latin typeface="Calibri"/>
                <a:ea typeface="Calibri"/>
                <a:cs typeface="Calibri"/>
                <a:sym typeface="Calibri"/>
              </a:rPr>
              <a:t>selecting the training features</a:t>
            </a:r>
            <a:endParaRPr i="0" sz="1200" u="none" cap="none" strike="noStrike">
              <a:solidFill>
                <a:schemeClr val="dk1"/>
              </a:solidFill>
              <a:latin typeface="Calibri"/>
              <a:ea typeface="Calibri"/>
              <a:cs typeface="Calibri"/>
              <a:sym typeface="Calibri"/>
            </a:endParaRPr>
          </a:p>
        </p:txBody>
      </p:sp>
      <p:sp>
        <p:nvSpPr>
          <p:cNvPr id="235" name="Google Shape;235;p26"/>
          <p:cNvSpPr/>
          <p:nvPr/>
        </p:nvSpPr>
        <p:spPr>
          <a:xfrm>
            <a:off x="480060" y="2651506"/>
            <a:ext cx="2469000" cy="5625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1428FF"/>
              </a:buClr>
              <a:buSzPts val="1000"/>
              <a:buFont typeface="Calibri"/>
              <a:buNone/>
            </a:pPr>
            <a:r>
              <a:rPr b="1" i="0" lang="fr" sz="1200" u="none" cap="none" strike="noStrike">
                <a:solidFill>
                  <a:srgbClr val="1428FF"/>
                </a:solidFill>
                <a:latin typeface="Calibri"/>
                <a:ea typeface="Calibri"/>
                <a:cs typeface="Calibri"/>
                <a:sym typeface="Calibri"/>
              </a:rPr>
              <a:t>Median imputation</a:t>
            </a:r>
            <a:endParaRPr b="0" i="0" sz="1200" u="none" cap="none" strike="noStrike">
              <a:solidFill>
                <a:schemeClr val="dk1"/>
              </a:solidFill>
              <a:latin typeface="Calibri"/>
              <a:ea typeface="Calibri"/>
              <a:cs typeface="Calibri"/>
              <a:sym typeface="Calibri"/>
            </a:endParaRPr>
          </a:p>
        </p:txBody>
      </p:sp>
      <p:sp>
        <p:nvSpPr>
          <p:cNvPr id="236" name="Google Shape;236;p26"/>
          <p:cNvSpPr/>
          <p:nvPr/>
        </p:nvSpPr>
        <p:spPr>
          <a:xfrm>
            <a:off x="3051810" y="2651506"/>
            <a:ext cx="5177700" cy="562500"/>
          </a:xfrm>
          <a:prstGeom prst="rect">
            <a:avLst/>
          </a:prstGeom>
          <a:noFill/>
          <a:ln>
            <a:noFill/>
          </a:ln>
        </p:spPr>
        <p:txBody>
          <a:bodyPr anchorCtr="0" anchor="t" bIns="34275" lIns="68575" spcFirstLastPara="1" rIns="68575" wrap="square" tIns="34275">
            <a:noAutofit/>
          </a:bodyPr>
          <a:lstStyle/>
          <a:p>
            <a:pPr indent="0" lvl="0" marL="0" marR="0" rtl="0" algn="l">
              <a:lnSpc>
                <a:spcPct val="120000"/>
              </a:lnSpc>
              <a:spcBef>
                <a:spcPts val="0"/>
              </a:spcBef>
              <a:spcAft>
                <a:spcPts val="0"/>
              </a:spcAft>
              <a:buClr>
                <a:srgbClr val="6B6F76"/>
              </a:buClr>
              <a:buSzPts val="900"/>
              <a:buFont typeface="Calibri"/>
              <a:buNone/>
            </a:pPr>
            <a:r>
              <a:rPr lang="fr" sz="1200">
                <a:solidFill>
                  <a:schemeClr val="dk1"/>
                </a:solidFill>
                <a:latin typeface="Calibri"/>
                <a:ea typeface="Calibri"/>
                <a:cs typeface="Calibri"/>
                <a:sym typeface="Calibri"/>
              </a:rPr>
              <a:t>Median imputation for tree based </a:t>
            </a:r>
            <a:r>
              <a:rPr lang="fr" sz="1200">
                <a:solidFill>
                  <a:schemeClr val="dk1"/>
                </a:solidFill>
                <a:latin typeface="Calibri"/>
                <a:ea typeface="Calibri"/>
                <a:cs typeface="Calibri"/>
                <a:sym typeface="Calibri"/>
              </a:rPr>
              <a:t>models </a:t>
            </a:r>
            <a:endParaRPr i="0" sz="1200" u="none" cap="none" strike="noStrike">
              <a:solidFill>
                <a:schemeClr val="dk1"/>
              </a:solidFill>
              <a:latin typeface="Calibri"/>
              <a:ea typeface="Calibri"/>
              <a:cs typeface="Calibri"/>
              <a:sym typeface="Calibri"/>
            </a:endParaRPr>
          </a:p>
        </p:txBody>
      </p:sp>
      <p:sp>
        <p:nvSpPr>
          <p:cNvPr id="237" name="Google Shape;237;p26"/>
          <p:cNvSpPr/>
          <p:nvPr/>
        </p:nvSpPr>
        <p:spPr>
          <a:xfrm>
            <a:off x="480060" y="3130042"/>
            <a:ext cx="2469000" cy="5625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1428FF"/>
              </a:buClr>
              <a:buSzPts val="1000"/>
              <a:buFont typeface="Calibri"/>
              <a:buNone/>
            </a:pPr>
            <a:r>
              <a:rPr b="1" i="0" lang="fr" sz="1200" u="none" cap="none" strike="noStrike">
                <a:solidFill>
                  <a:srgbClr val="1428FF"/>
                </a:solidFill>
                <a:latin typeface="Calibri"/>
                <a:ea typeface="Calibri"/>
                <a:cs typeface="Calibri"/>
                <a:sym typeface="Calibri"/>
              </a:rPr>
              <a:t>Standardization</a:t>
            </a:r>
            <a:endParaRPr b="0" i="0" sz="1200" u="none" cap="none" strike="noStrike">
              <a:solidFill>
                <a:schemeClr val="dk1"/>
              </a:solidFill>
              <a:latin typeface="Calibri"/>
              <a:ea typeface="Calibri"/>
              <a:cs typeface="Calibri"/>
              <a:sym typeface="Calibri"/>
            </a:endParaRPr>
          </a:p>
        </p:txBody>
      </p:sp>
      <p:sp>
        <p:nvSpPr>
          <p:cNvPr id="238" name="Google Shape;238;p26"/>
          <p:cNvSpPr/>
          <p:nvPr/>
        </p:nvSpPr>
        <p:spPr>
          <a:xfrm>
            <a:off x="3051810" y="3130042"/>
            <a:ext cx="5177700" cy="562500"/>
          </a:xfrm>
          <a:prstGeom prst="rect">
            <a:avLst/>
          </a:prstGeom>
          <a:noFill/>
          <a:ln>
            <a:noFill/>
          </a:ln>
        </p:spPr>
        <p:txBody>
          <a:bodyPr anchorCtr="0" anchor="t" bIns="34275" lIns="68575" spcFirstLastPara="1" rIns="68575" wrap="square" tIns="34275">
            <a:noAutofit/>
          </a:bodyPr>
          <a:lstStyle/>
          <a:p>
            <a:pPr indent="0" lvl="0" marL="0" rtl="0" algn="l">
              <a:lnSpc>
                <a:spcPct val="144000"/>
              </a:lnSpc>
              <a:spcBef>
                <a:spcPts val="0"/>
              </a:spcBef>
              <a:spcAft>
                <a:spcPts val="0"/>
              </a:spcAft>
              <a:buClr>
                <a:schemeClr val="dk1"/>
              </a:buClr>
              <a:buSzPts val="1100"/>
              <a:buFont typeface="Arial"/>
              <a:buNone/>
            </a:pPr>
            <a:r>
              <a:rPr lang="fr" sz="1200">
                <a:solidFill>
                  <a:schemeClr val="dk1"/>
                </a:solidFill>
                <a:latin typeface="Calibri"/>
                <a:ea typeface="Calibri"/>
                <a:cs typeface="Calibri"/>
                <a:sym typeface="Calibri"/>
              </a:rPr>
              <a:t>Standard scaling for linear models </a:t>
            </a:r>
            <a:endParaRPr sz="12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6B6F76"/>
              </a:buClr>
              <a:buSzPts val="900"/>
              <a:buFont typeface="Calibri"/>
              <a:buNone/>
            </a:pPr>
            <a:r>
              <a:t/>
            </a:r>
            <a:endParaRPr sz="1200">
              <a:solidFill>
                <a:schemeClr val="dk1"/>
              </a:solidFill>
              <a:latin typeface="Calibri"/>
              <a:ea typeface="Calibri"/>
              <a:cs typeface="Calibri"/>
              <a:sym typeface="Calibri"/>
            </a:endParaRPr>
          </a:p>
        </p:txBody>
      </p:sp>
      <p:sp>
        <p:nvSpPr>
          <p:cNvPr id="239" name="Google Shape;239;p26"/>
          <p:cNvSpPr/>
          <p:nvPr/>
        </p:nvSpPr>
        <p:spPr>
          <a:xfrm>
            <a:off x="480060" y="3627628"/>
            <a:ext cx="2469000" cy="5625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1428FF"/>
              </a:buClr>
              <a:buSzPts val="1000"/>
              <a:buFont typeface="Calibri"/>
              <a:buNone/>
            </a:pPr>
            <a:r>
              <a:rPr b="1" lang="fr" sz="1200">
                <a:solidFill>
                  <a:srgbClr val="1428FF"/>
                </a:solidFill>
                <a:latin typeface="Calibri"/>
                <a:ea typeface="Calibri"/>
                <a:cs typeface="Calibri"/>
                <a:sym typeface="Calibri"/>
              </a:rPr>
              <a:t>Training models and evaluation metrics</a:t>
            </a:r>
            <a:endParaRPr b="0" i="0" sz="1200" u="none" cap="none" strike="noStrike">
              <a:solidFill>
                <a:schemeClr val="dk1"/>
              </a:solidFill>
              <a:latin typeface="Calibri"/>
              <a:ea typeface="Calibri"/>
              <a:cs typeface="Calibri"/>
              <a:sym typeface="Calibri"/>
            </a:endParaRPr>
          </a:p>
        </p:txBody>
      </p:sp>
      <p:sp>
        <p:nvSpPr>
          <p:cNvPr id="240" name="Google Shape;240;p26"/>
          <p:cNvSpPr/>
          <p:nvPr/>
        </p:nvSpPr>
        <p:spPr>
          <a:xfrm>
            <a:off x="3051810" y="3627628"/>
            <a:ext cx="5177700" cy="562500"/>
          </a:xfrm>
          <a:prstGeom prst="rect">
            <a:avLst/>
          </a:prstGeom>
          <a:noFill/>
          <a:ln>
            <a:noFill/>
          </a:ln>
        </p:spPr>
        <p:txBody>
          <a:bodyPr anchorCtr="0" anchor="t" bIns="34275" lIns="68575" spcFirstLastPara="1" rIns="68575" wrap="square" tIns="34275">
            <a:noAutofit/>
          </a:bodyPr>
          <a:lstStyle/>
          <a:p>
            <a:pPr indent="0" lvl="0" marL="0" marR="0" rtl="0" algn="l">
              <a:lnSpc>
                <a:spcPct val="120000"/>
              </a:lnSpc>
              <a:spcBef>
                <a:spcPts val="0"/>
              </a:spcBef>
              <a:spcAft>
                <a:spcPts val="0"/>
              </a:spcAft>
              <a:buClr>
                <a:srgbClr val="6B6F76"/>
              </a:buClr>
              <a:buSzPts val="900"/>
              <a:buFont typeface="Calibri"/>
              <a:buNone/>
            </a:pPr>
            <a:r>
              <a:rPr lang="fr" sz="1200">
                <a:solidFill>
                  <a:schemeClr val="dk1"/>
                </a:solidFill>
                <a:latin typeface="Calibri"/>
                <a:ea typeface="Calibri"/>
                <a:cs typeface="Calibri"/>
                <a:sym typeface="Calibri"/>
              </a:rPr>
              <a:t>Evaluating the test dataset based on metrics after training them </a:t>
            </a:r>
            <a:endParaRPr i="0" sz="1200" u="none" cap="none" strike="noStrike">
              <a:solidFill>
                <a:schemeClr val="dk1"/>
              </a:solidFill>
              <a:latin typeface="Calibri"/>
              <a:ea typeface="Calibri"/>
              <a:cs typeface="Calibri"/>
              <a:sym typeface="Calibri"/>
            </a:endParaRPr>
          </a:p>
        </p:txBody>
      </p:sp>
      <p:sp>
        <p:nvSpPr>
          <p:cNvPr id="241" name="Google Shape;241;p26"/>
          <p:cNvSpPr/>
          <p:nvPr/>
        </p:nvSpPr>
        <p:spPr>
          <a:xfrm>
            <a:off x="8558784" y="4855464"/>
            <a:ext cx="274320"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9CA0A8"/>
              </a:buClr>
              <a:buSzPts val="800"/>
              <a:buFont typeface="Calibri"/>
              <a:buNone/>
            </a:pPr>
            <a:r>
              <a:rPr lang="fr" sz="800">
                <a:solidFill>
                  <a:srgbClr val="9CA0A8"/>
                </a:solidFill>
                <a:latin typeface="Calibri"/>
                <a:ea typeface="Calibri"/>
                <a:cs typeface="Calibri"/>
                <a:sym typeface="Calibri"/>
              </a:rPr>
              <a:t>12</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246" name="Shape 246"/>
        <p:cNvGrpSpPr/>
        <p:nvPr/>
      </p:nvGrpSpPr>
      <p:grpSpPr>
        <a:xfrm>
          <a:off x="0" y="0"/>
          <a:ext cx="0" cy="0"/>
          <a:chOff x="0" y="0"/>
          <a:chExt cx="0" cy="0"/>
        </a:xfrm>
      </p:grpSpPr>
      <p:pic>
        <p:nvPicPr>
          <p:cNvPr descr="preencoded.png" id="247" name="Google Shape;247;p27"/>
          <p:cNvPicPr preferRelativeResize="0"/>
          <p:nvPr/>
        </p:nvPicPr>
        <p:blipFill rotWithShape="1">
          <a:blip r:embed="rId3">
            <a:alphaModFix/>
          </a:blip>
          <a:srcRect b="0" l="0" r="0" t="0"/>
          <a:stretch/>
        </p:blipFill>
        <p:spPr>
          <a:xfrm>
            <a:off x="7838694" y="274320"/>
            <a:ext cx="925830" cy="152029"/>
          </a:xfrm>
          <a:prstGeom prst="rect">
            <a:avLst/>
          </a:prstGeom>
          <a:noFill/>
          <a:ln>
            <a:noFill/>
          </a:ln>
        </p:spPr>
      </p:pic>
      <p:sp>
        <p:nvSpPr>
          <p:cNvPr id="248" name="Google Shape;248;p27"/>
          <p:cNvSpPr/>
          <p:nvPr/>
        </p:nvSpPr>
        <p:spPr>
          <a:xfrm>
            <a:off x="480060" y="315468"/>
            <a:ext cx="6172200" cy="219456"/>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000FF"/>
              </a:buClr>
              <a:buSzPts val="800"/>
              <a:buFont typeface="Calibri"/>
              <a:buNone/>
            </a:pPr>
            <a:r>
              <a:rPr b="1" i="0" lang="fr" sz="800" u="none" cap="none" strike="noStrike">
                <a:solidFill>
                  <a:srgbClr val="0000FF"/>
                </a:solidFill>
                <a:latin typeface="Calibri"/>
                <a:ea typeface="Calibri"/>
                <a:cs typeface="Calibri"/>
                <a:sym typeface="Calibri"/>
              </a:rPr>
              <a:t>6 · ADVANCED MODELS</a:t>
            </a:r>
            <a:endParaRPr b="0" i="0" sz="800" u="none" cap="none" strike="noStrike">
              <a:solidFill>
                <a:schemeClr val="dk1"/>
              </a:solidFill>
              <a:latin typeface="Calibri"/>
              <a:ea typeface="Calibri"/>
              <a:cs typeface="Calibri"/>
              <a:sym typeface="Calibri"/>
            </a:endParaRPr>
          </a:p>
        </p:txBody>
      </p:sp>
      <p:sp>
        <p:nvSpPr>
          <p:cNvPr id="249" name="Google Shape;249;p27"/>
          <p:cNvSpPr/>
          <p:nvPr/>
        </p:nvSpPr>
        <p:spPr>
          <a:xfrm>
            <a:off x="480060" y="651510"/>
            <a:ext cx="8023860" cy="51435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2000"/>
              <a:buFont typeface="Cambria"/>
              <a:buNone/>
            </a:pPr>
            <a:r>
              <a:rPr b="1" lang="fr" sz="2000">
                <a:solidFill>
                  <a:srgbClr val="FFFFFF"/>
                </a:solidFill>
                <a:latin typeface="Cambria"/>
                <a:ea typeface="Cambria"/>
                <a:cs typeface="Cambria"/>
                <a:sym typeface="Cambria"/>
              </a:rPr>
              <a:t>Evaluation Metrics</a:t>
            </a:r>
            <a:endParaRPr b="0" i="0" sz="2000" u="none" cap="none" strike="noStrike">
              <a:solidFill>
                <a:schemeClr val="dk1"/>
              </a:solidFill>
              <a:latin typeface="Calibri"/>
              <a:ea typeface="Calibri"/>
              <a:cs typeface="Calibri"/>
              <a:sym typeface="Calibri"/>
            </a:endParaRPr>
          </a:p>
        </p:txBody>
      </p:sp>
      <p:sp>
        <p:nvSpPr>
          <p:cNvPr id="250" name="Google Shape;250;p27"/>
          <p:cNvSpPr/>
          <p:nvPr/>
        </p:nvSpPr>
        <p:spPr>
          <a:xfrm>
            <a:off x="480060" y="1440180"/>
            <a:ext cx="2626614" cy="48006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000FF"/>
              </a:buClr>
              <a:buSzPts val="2400"/>
              <a:buFont typeface="Cambria"/>
              <a:buNone/>
            </a:pPr>
            <a:r>
              <a:rPr b="1" i="0" lang="fr" sz="2400" u="none" cap="none" strike="noStrike">
                <a:solidFill>
                  <a:srgbClr val="0000FF"/>
                </a:solidFill>
                <a:latin typeface="Cambria"/>
                <a:ea typeface="Cambria"/>
                <a:cs typeface="Cambria"/>
                <a:sym typeface="Cambria"/>
              </a:rPr>
              <a:t>MAE</a:t>
            </a:r>
            <a:endParaRPr b="0" i="0" sz="2400" u="none" cap="none" strike="noStrike">
              <a:solidFill>
                <a:schemeClr val="dk1"/>
              </a:solidFill>
              <a:latin typeface="Calibri"/>
              <a:ea typeface="Calibri"/>
              <a:cs typeface="Calibri"/>
              <a:sym typeface="Calibri"/>
            </a:endParaRPr>
          </a:p>
        </p:txBody>
      </p:sp>
      <p:sp>
        <p:nvSpPr>
          <p:cNvPr id="251" name="Google Shape;251;p27"/>
          <p:cNvSpPr/>
          <p:nvPr/>
        </p:nvSpPr>
        <p:spPr>
          <a:xfrm>
            <a:off x="480060" y="1988820"/>
            <a:ext cx="2626614" cy="480060"/>
          </a:xfrm>
          <a:prstGeom prst="rect">
            <a:avLst/>
          </a:prstGeom>
          <a:noFill/>
          <a:ln>
            <a:noFill/>
          </a:ln>
        </p:spPr>
        <p:txBody>
          <a:bodyPr anchorCtr="0" anchor="ctr" bIns="34275" lIns="68575" spcFirstLastPara="1" rIns="68575" wrap="square" tIns="34275">
            <a:noAutofit/>
          </a:bodyPr>
          <a:lstStyle/>
          <a:p>
            <a:pPr indent="0" lvl="0" marL="0" marR="0" rtl="0" algn="l">
              <a:lnSpc>
                <a:spcPct val="120000"/>
              </a:lnSpc>
              <a:spcBef>
                <a:spcPts val="0"/>
              </a:spcBef>
              <a:spcAft>
                <a:spcPts val="0"/>
              </a:spcAft>
              <a:buClr>
                <a:srgbClr val="FFFFFF"/>
              </a:buClr>
              <a:buSzPts val="1000"/>
              <a:buFont typeface="Calibri"/>
              <a:buNone/>
            </a:pPr>
            <a:r>
              <a:rPr b="1" i="0" lang="fr" sz="1100" u="none" cap="none" strike="noStrike">
                <a:solidFill>
                  <a:srgbClr val="FFFFFF"/>
                </a:solidFill>
                <a:latin typeface="Calibri"/>
                <a:ea typeface="Calibri"/>
                <a:cs typeface="Calibri"/>
                <a:sym typeface="Calibri"/>
              </a:rPr>
              <a:t>How wrong is a typical guess, in euros?</a:t>
            </a:r>
            <a:endParaRPr b="0" i="0" sz="1100" u="none" cap="none" strike="noStrike">
              <a:solidFill>
                <a:schemeClr val="dk1"/>
              </a:solidFill>
              <a:latin typeface="Calibri"/>
              <a:ea typeface="Calibri"/>
              <a:cs typeface="Calibri"/>
              <a:sym typeface="Calibri"/>
            </a:endParaRPr>
          </a:p>
        </p:txBody>
      </p:sp>
      <p:sp>
        <p:nvSpPr>
          <p:cNvPr id="252" name="Google Shape;252;p27"/>
          <p:cNvSpPr/>
          <p:nvPr/>
        </p:nvSpPr>
        <p:spPr>
          <a:xfrm>
            <a:off x="480060" y="2503170"/>
            <a:ext cx="2626614" cy="891540"/>
          </a:xfrm>
          <a:prstGeom prst="rect">
            <a:avLst/>
          </a:prstGeom>
          <a:noFill/>
          <a:ln>
            <a:noFill/>
          </a:ln>
        </p:spPr>
        <p:txBody>
          <a:bodyPr anchorCtr="0" anchor="ctr" bIns="34275" lIns="68575" spcFirstLastPara="1" rIns="68575" wrap="square" tIns="34275">
            <a:noAutofit/>
          </a:bodyPr>
          <a:lstStyle/>
          <a:p>
            <a:pPr indent="0" lvl="0" marL="0" marR="0" rtl="0" algn="l">
              <a:lnSpc>
                <a:spcPct val="125000"/>
              </a:lnSpc>
              <a:spcBef>
                <a:spcPts val="0"/>
              </a:spcBef>
              <a:spcAft>
                <a:spcPts val="0"/>
              </a:spcAft>
              <a:buClr>
                <a:srgbClr val="9CA0A8"/>
              </a:buClr>
              <a:buSzPts val="900"/>
              <a:buFont typeface="Calibri"/>
              <a:buNone/>
            </a:pPr>
            <a:r>
              <a:rPr lang="fr" sz="1100">
                <a:solidFill>
                  <a:srgbClr val="9CA0A8"/>
                </a:solidFill>
                <a:latin typeface="Calibri"/>
                <a:ea typeface="Calibri"/>
                <a:cs typeface="Calibri"/>
                <a:sym typeface="Calibri"/>
              </a:rPr>
              <a:t>Mean Absolute Error : On average how far off our price prediction is in euros. </a:t>
            </a:r>
            <a:endParaRPr b="0" i="0" sz="1100" u="none" cap="none" strike="noStrike">
              <a:solidFill>
                <a:schemeClr val="dk1"/>
              </a:solidFill>
              <a:latin typeface="Calibri"/>
              <a:ea typeface="Calibri"/>
              <a:cs typeface="Calibri"/>
              <a:sym typeface="Calibri"/>
            </a:endParaRPr>
          </a:p>
        </p:txBody>
      </p:sp>
      <p:sp>
        <p:nvSpPr>
          <p:cNvPr id="253" name="Google Shape;253;p27"/>
          <p:cNvSpPr/>
          <p:nvPr/>
        </p:nvSpPr>
        <p:spPr>
          <a:xfrm>
            <a:off x="3278124" y="1440180"/>
            <a:ext cx="2626614" cy="48006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000FF"/>
              </a:buClr>
              <a:buSzPts val="2400"/>
              <a:buFont typeface="Cambria"/>
              <a:buNone/>
            </a:pPr>
            <a:r>
              <a:rPr b="1" i="0" lang="fr" sz="2400" u="none" cap="none" strike="noStrike">
                <a:solidFill>
                  <a:srgbClr val="0000FF"/>
                </a:solidFill>
                <a:latin typeface="Cambria"/>
                <a:ea typeface="Cambria"/>
                <a:cs typeface="Cambria"/>
                <a:sym typeface="Cambria"/>
              </a:rPr>
              <a:t>RMSE</a:t>
            </a:r>
            <a:endParaRPr b="0" i="0" sz="2400" u="none" cap="none" strike="noStrike">
              <a:solidFill>
                <a:schemeClr val="dk1"/>
              </a:solidFill>
              <a:latin typeface="Calibri"/>
              <a:ea typeface="Calibri"/>
              <a:cs typeface="Calibri"/>
              <a:sym typeface="Calibri"/>
            </a:endParaRPr>
          </a:p>
        </p:txBody>
      </p:sp>
      <p:sp>
        <p:nvSpPr>
          <p:cNvPr id="254" name="Google Shape;254;p27"/>
          <p:cNvSpPr/>
          <p:nvPr/>
        </p:nvSpPr>
        <p:spPr>
          <a:xfrm>
            <a:off x="3278124" y="1988820"/>
            <a:ext cx="2626614" cy="480060"/>
          </a:xfrm>
          <a:prstGeom prst="rect">
            <a:avLst/>
          </a:prstGeom>
          <a:noFill/>
          <a:ln>
            <a:noFill/>
          </a:ln>
        </p:spPr>
        <p:txBody>
          <a:bodyPr anchorCtr="0" anchor="ctr" bIns="34275" lIns="68575" spcFirstLastPara="1" rIns="68575" wrap="square" tIns="34275">
            <a:noAutofit/>
          </a:bodyPr>
          <a:lstStyle/>
          <a:p>
            <a:pPr indent="0" lvl="0" marL="0" marR="0" rtl="0" algn="l">
              <a:lnSpc>
                <a:spcPct val="120000"/>
              </a:lnSpc>
              <a:spcBef>
                <a:spcPts val="0"/>
              </a:spcBef>
              <a:spcAft>
                <a:spcPts val="0"/>
              </a:spcAft>
              <a:buClr>
                <a:srgbClr val="FFFFFF"/>
              </a:buClr>
              <a:buSzPts val="1000"/>
              <a:buFont typeface="Calibri"/>
              <a:buNone/>
            </a:pPr>
            <a:r>
              <a:rPr b="1" i="0" lang="fr" sz="1100" u="none" cap="none" strike="noStrike">
                <a:solidFill>
                  <a:srgbClr val="FFFFFF"/>
                </a:solidFill>
                <a:latin typeface="Calibri"/>
                <a:ea typeface="Calibri"/>
                <a:cs typeface="Calibri"/>
                <a:sym typeface="Calibri"/>
              </a:rPr>
              <a:t>How bad are the worst mistakes?</a:t>
            </a:r>
            <a:endParaRPr b="0" i="0" sz="1100" u="none" cap="none" strike="noStrike">
              <a:solidFill>
                <a:schemeClr val="dk1"/>
              </a:solidFill>
              <a:latin typeface="Calibri"/>
              <a:ea typeface="Calibri"/>
              <a:cs typeface="Calibri"/>
              <a:sym typeface="Calibri"/>
            </a:endParaRPr>
          </a:p>
        </p:txBody>
      </p:sp>
      <p:sp>
        <p:nvSpPr>
          <p:cNvPr id="255" name="Google Shape;255;p27"/>
          <p:cNvSpPr/>
          <p:nvPr/>
        </p:nvSpPr>
        <p:spPr>
          <a:xfrm>
            <a:off x="3278124" y="2503170"/>
            <a:ext cx="2626614" cy="891540"/>
          </a:xfrm>
          <a:prstGeom prst="rect">
            <a:avLst/>
          </a:prstGeom>
          <a:noFill/>
          <a:ln>
            <a:noFill/>
          </a:ln>
        </p:spPr>
        <p:txBody>
          <a:bodyPr anchorCtr="0" anchor="ctr" bIns="34275" lIns="68575" spcFirstLastPara="1" rIns="68575" wrap="square" tIns="34275">
            <a:noAutofit/>
          </a:bodyPr>
          <a:lstStyle/>
          <a:p>
            <a:pPr indent="0" lvl="0" marL="0" marR="0" rtl="0" algn="l">
              <a:lnSpc>
                <a:spcPct val="125000"/>
              </a:lnSpc>
              <a:spcBef>
                <a:spcPts val="0"/>
              </a:spcBef>
              <a:spcAft>
                <a:spcPts val="0"/>
              </a:spcAft>
              <a:buClr>
                <a:srgbClr val="9CA0A8"/>
              </a:buClr>
              <a:buSzPts val="900"/>
              <a:buFont typeface="Calibri"/>
              <a:buNone/>
            </a:pPr>
            <a:r>
              <a:rPr lang="fr" sz="1100">
                <a:solidFill>
                  <a:srgbClr val="9CA0A8"/>
                </a:solidFill>
                <a:latin typeface="Calibri"/>
                <a:ea typeface="Calibri"/>
                <a:cs typeface="Calibri"/>
                <a:sym typeface="Calibri"/>
              </a:rPr>
              <a:t>Root Mean Squared Error : Same idea as MAE, but it penalises big mistakes harder, so it tells us how bad our worst predictions are.</a:t>
            </a:r>
            <a:endParaRPr b="0" i="0" sz="1100" u="none" cap="none" strike="noStrike">
              <a:solidFill>
                <a:schemeClr val="dk1"/>
              </a:solidFill>
              <a:latin typeface="Calibri"/>
              <a:ea typeface="Calibri"/>
              <a:cs typeface="Calibri"/>
              <a:sym typeface="Calibri"/>
            </a:endParaRPr>
          </a:p>
        </p:txBody>
      </p:sp>
      <p:cxnSp>
        <p:nvCxnSpPr>
          <p:cNvPr id="256" name="Google Shape;256;p27"/>
          <p:cNvCxnSpPr/>
          <p:nvPr/>
        </p:nvCxnSpPr>
        <p:spPr>
          <a:xfrm>
            <a:off x="3192399" y="1508760"/>
            <a:ext cx="0" cy="1783080"/>
          </a:xfrm>
          <a:prstGeom prst="straightConnector1">
            <a:avLst/>
          </a:prstGeom>
          <a:noFill/>
          <a:ln cap="flat" cmpd="sng" w="12700">
            <a:solidFill>
              <a:srgbClr val="2A2A2A"/>
            </a:solidFill>
            <a:prstDash val="solid"/>
            <a:round/>
            <a:headEnd len="sm" w="sm" type="none"/>
            <a:tailEnd len="sm" w="sm" type="none"/>
          </a:ln>
        </p:spPr>
      </p:cxnSp>
      <p:sp>
        <p:nvSpPr>
          <p:cNvPr id="257" name="Google Shape;257;p27"/>
          <p:cNvSpPr/>
          <p:nvPr/>
        </p:nvSpPr>
        <p:spPr>
          <a:xfrm>
            <a:off x="6076188" y="1440180"/>
            <a:ext cx="2626614" cy="48006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000FF"/>
              </a:buClr>
              <a:buSzPts val="2400"/>
              <a:buFont typeface="Cambria"/>
              <a:buNone/>
            </a:pPr>
            <a:r>
              <a:rPr b="1" i="0" lang="fr" sz="2400" u="none" cap="none" strike="noStrike">
                <a:solidFill>
                  <a:srgbClr val="0000FF"/>
                </a:solidFill>
                <a:latin typeface="Cambria"/>
                <a:ea typeface="Cambria"/>
                <a:cs typeface="Cambria"/>
                <a:sym typeface="Cambria"/>
              </a:rPr>
              <a:t>R²</a:t>
            </a:r>
            <a:endParaRPr b="0" i="0" sz="2400" u="none" cap="none" strike="noStrike">
              <a:solidFill>
                <a:schemeClr val="dk1"/>
              </a:solidFill>
              <a:latin typeface="Calibri"/>
              <a:ea typeface="Calibri"/>
              <a:cs typeface="Calibri"/>
              <a:sym typeface="Calibri"/>
            </a:endParaRPr>
          </a:p>
        </p:txBody>
      </p:sp>
      <p:sp>
        <p:nvSpPr>
          <p:cNvPr id="258" name="Google Shape;258;p27"/>
          <p:cNvSpPr/>
          <p:nvPr/>
        </p:nvSpPr>
        <p:spPr>
          <a:xfrm>
            <a:off x="6076188" y="1988820"/>
            <a:ext cx="2626614" cy="480060"/>
          </a:xfrm>
          <a:prstGeom prst="rect">
            <a:avLst/>
          </a:prstGeom>
          <a:noFill/>
          <a:ln>
            <a:noFill/>
          </a:ln>
        </p:spPr>
        <p:txBody>
          <a:bodyPr anchorCtr="0" anchor="ctr" bIns="34275" lIns="68575" spcFirstLastPara="1" rIns="68575" wrap="square" tIns="34275">
            <a:noAutofit/>
          </a:bodyPr>
          <a:lstStyle/>
          <a:p>
            <a:pPr indent="0" lvl="0" marL="0" marR="0" rtl="0" algn="l">
              <a:lnSpc>
                <a:spcPct val="120000"/>
              </a:lnSpc>
              <a:spcBef>
                <a:spcPts val="0"/>
              </a:spcBef>
              <a:spcAft>
                <a:spcPts val="0"/>
              </a:spcAft>
              <a:buClr>
                <a:srgbClr val="FFFFFF"/>
              </a:buClr>
              <a:buSzPts val="1000"/>
              <a:buFont typeface="Calibri"/>
              <a:buNone/>
            </a:pPr>
            <a:r>
              <a:rPr b="1" i="0" lang="fr" sz="1100" u="none" cap="none" strike="noStrike">
                <a:solidFill>
                  <a:srgbClr val="FFFFFF"/>
                </a:solidFill>
                <a:latin typeface="Calibri"/>
                <a:ea typeface="Calibri"/>
                <a:cs typeface="Calibri"/>
                <a:sym typeface="Calibri"/>
              </a:rPr>
              <a:t>How much of the story do we actually explain?</a:t>
            </a:r>
            <a:endParaRPr b="0" i="0" sz="1100" u="none" cap="none" strike="noStrike">
              <a:solidFill>
                <a:schemeClr val="dk1"/>
              </a:solidFill>
              <a:latin typeface="Calibri"/>
              <a:ea typeface="Calibri"/>
              <a:cs typeface="Calibri"/>
              <a:sym typeface="Calibri"/>
            </a:endParaRPr>
          </a:p>
        </p:txBody>
      </p:sp>
      <p:sp>
        <p:nvSpPr>
          <p:cNvPr id="259" name="Google Shape;259;p27"/>
          <p:cNvSpPr/>
          <p:nvPr/>
        </p:nvSpPr>
        <p:spPr>
          <a:xfrm>
            <a:off x="6076188" y="2503170"/>
            <a:ext cx="2626614" cy="891540"/>
          </a:xfrm>
          <a:prstGeom prst="rect">
            <a:avLst/>
          </a:prstGeom>
          <a:noFill/>
          <a:ln>
            <a:noFill/>
          </a:ln>
        </p:spPr>
        <p:txBody>
          <a:bodyPr anchorCtr="0" anchor="ctr" bIns="34275" lIns="68575" spcFirstLastPara="1" rIns="68575" wrap="square" tIns="34275">
            <a:noAutofit/>
          </a:bodyPr>
          <a:lstStyle/>
          <a:p>
            <a:pPr indent="0" lvl="0" marL="0" marR="0" rtl="0" algn="l">
              <a:lnSpc>
                <a:spcPct val="125000"/>
              </a:lnSpc>
              <a:spcBef>
                <a:spcPts val="0"/>
              </a:spcBef>
              <a:spcAft>
                <a:spcPts val="0"/>
              </a:spcAft>
              <a:buClr>
                <a:srgbClr val="9CA0A8"/>
              </a:buClr>
              <a:buSzPts val="900"/>
              <a:buFont typeface="Calibri"/>
              <a:buNone/>
            </a:pPr>
            <a:r>
              <a:rPr lang="fr" sz="1100">
                <a:solidFill>
                  <a:srgbClr val="9CA0A8"/>
                </a:solidFill>
                <a:latin typeface="Calibri"/>
                <a:ea typeface="Calibri"/>
                <a:cs typeface="Calibri"/>
                <a:sym typeface="Calibri"/>
              </a:rPr>
              <a:t>Out of everything that affects price, how much of it our model actually manages to explain, from 0 to 1. </a:t>
            </a:r>
            <a:endParaRPr b="0" i="0" sz="1100" u="none" cap="none" strike="noStrike">
              <a:solidFill>
                <a:schemeClr val="dk1"/>
              </a:solidFill>
              <a:latin typeface="Calibri"/>
              <a:ea typeface="Calibri"/>
              <a:cs typeface="Calibri"/>
              <a:sym typeface="Calibri"/>
            </a:endParaRPr>
          </a:p>
        </p:txBody>
      </p:sp>
      <p:cxnSp>
        <p:nvCxnSpPr>
          <p:cNvPr id="260" name="Google Shape;260;p27"/>
          <p:cNvCxnSpPr/>
          <p:nvPr/>
        </p:nvCxnSpPr>
        <p:spPr>
          <a:xfrm>
            <a:off x="5990463" y="1508760"/>
            <a:ext cx="0" cy="1783080"/>
          </a:xfrm>
          <a:prstGeom prst="straightConnector1">
            <a:avLst/>
          </a:prstGeom>
          <a:noFill/>
          <a:ln cap="flat" cmpd="sng" w="12700">
            <a:solidFill>
              <a:srgbClr val="2A2A2A"/>
            </a:solidFill>
            <a:prstDash val="solid"/>
            <a:round/>
            <a:headEnd len="sm" w="sm" type="none"/>
            <a:tailEnd len="sm" w="sm" type="none"/>
          </a:ln>
        </p:spPr>
      </p:cxnSp>
      <p:cxnSp>
        <p:nvCxnSpPr>
          <p:cNvPr id="261" name="Google Shape;261;p27"/>
          <p:cNvCxnSpPr/>
          <p:nvPr/>
        </p:nvCxnSpPr>
        <p:spPr>
          <a:xfrm>
            <a:off x="480060" y="3531870"/>
            <a:ext cx="8161020" cy="0"/>
          </a:xfrm>
          <a:prstGeom prst="straightConnector1">
            <a:avLst/>
          </a:prstGeom>
          <a:noFill/>
          <a:ln cap="flat" cmpd="sng" w="12700">
            <a:solidFill>
              <a:srgbClr val="2A2A2A"/>
            </a:solidFill>
            <a:prstDash val="solid"/>
            <a:round/>
            <a:headEnd len="sm" w="sm" type="none"/>
            <a:tailEnd len="sm" w="sm" type="none"/>
          </a:ln>
        </p:spPr>
      </p:cxnSp>
      <p:sp>
        <p:nvSpPr>
          <p:cNvPr id="262" name="Google Shape;262;p27"/>
          <p:cNvSpPr/>
          <p:nvPr/>
        </p:nvSpPr>
        <p:spPr>
          <a:xfrm>
            <a:off x="480050" y="3703325"/>
            <a:ext cx="8222700" cy="960000"/>
          </a:xfrm>
          <a:prstGeom prst="rect">
            <a:avLst/>
          </a:prstGeom>
          <a:noFill/>
          <a:ln>
            <a:noFill/>
          </a:ln>
        </p:spPr>
        <p:txBody>
          <a:bodyPr anchorCtr="0" anchor="ctr" bIns="34275" lIns="68575" spcFirstLastPara="1" rIns="68575" wrap="square" tIns="34275">
            <a:noAutofit/>
          </a:bodyPr>
          <a:lstStyle/>
          <a:p>
            <a:pPr indent="0" lvl="0" marL="0" marR="0" rtl="0" algn="l">
              <a:lnSpc>
                <a:spcPct val="135000"/>
              </a:lnSpc>
              <a:spcBef>
                <a:spcPts val="0"/>
              </a:spcBef>
              <a:spcAft>
                <a:spcPts val="0"/>
              </a:spcAft>
              <a:buClr>
                <a:srgbClr val="0000FF"/>
              </a:buClr>
              <a:buSzPts val="1100"/>
              <a:buFont typeface="Calibri"/>
              <a:buNone/>
            </a:pPr>
            <a:r>
              <a:rPr b="1" i="0" lang="fr" sz="1300" u="none" cap="none" strike="noStrike">
                <a:solidFill>
                  <a:srgbClr val="0000FF"/>
                </a:solidFill>
                <a:latin typeface="Calibri"/>
                <a:ea typeface="Calibri"/>
                <a:cs typeface="Calibri"/>
                <a:sym typeface="Calibri"/>
              </a:rPr>
              <a:t>The one that matters most here: MAE.  </a:t>
            </a:r>
            <a:r>
              <a:rPr b="0" i="0" lang="fr" sz="1300" u="none" cap="none" strike="noStrike">
                <a:solidFill>
                  <a:srgbClr val="C7C9CE"/>
                </a:solidFill>
                <a:latin typeface="Calibri"/>
                <a:ea typeface="Calibri"/>
                <a:cs typeface="Calibri"/>
                <a:sym typeface="Calibri"/>
              </a:rPr>
              <a:t>I</a:t>
            </a:r>
            <a:r>
              <a:rPr lang="fr" sz="1300">
                <a:solidFill>
                  <a:srgbClr val="C7C9CE"/>
                </a:solidFill>
                <a:latin typeface="Calibri"/>
                <a:ea typeface="Calibri"/>
                <a:cs typeface="Calibri"/>
                <a:sym typeface="Calibri"/>
              </a:rPr>
              <a:t>t's the number we </a:t>
            </a:r>
            <a:r>
              <a:rPr lang="fr" sz="1300">
                <a:solidFill>
                  <a:srgbClr val="C7C9CE"/>
                </a:solidFill>
                <a:latin typeface="Calibri"/>
                <a:ea typeface="Calibri"/>
                <a:cs typeface="Calibri"/>
                <a:sym typeface="Calibri"/>
              </a:rPr>
              <a:t>can deliver to the user </a:t>
            </a:r>
            <a:r>
              <a:rPr lang="fr" sz="1300">
                <a:solidFill>
                  <a:srgbClr val="C7C9CE"/>
                </a:solidFill>
                <a:latin typeface="Calibri"/>
                <a:ea typeface="Calibri"/>
                <a:cs typeface="Calibri"/>
                <a:sym typeface="Calibri"/>
              </a:rPr>
              <a:t>'expect the real price to be within €45,000 of our estimate '</a:t>
            </a:r>
            <a:endParaRPr b="0" i="0" sz="1300" u="none" cap="none" strike="noStrike">
              <a:solidFill>
                <a:schemeClr val="dk1"/>
              </a:solidFill>
              <a:latin typeface="Calibri"/>
              <a:ea typeface="Calibri"/>
              <a:cs typeface="Calibri"/>
              <a:sym typeface="Calibri"/>
            </a:endParaRPr>
          </a:p>
        </p:txBody>
      </p:sp>
      <p:sp>
        <p:nvSpPr>
          <p:cNvPr id="263" name="Google Shape;263;p27"/>
          <p:cNvSpPr/>
          <p:nvPr/>
        </p:nvSpPr>
        <p:spPr>
          <a:xfrm>
            <a:off x="8558784" y="4855464"/>
            <a:ext cx="274320"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55575C"/>
              </a:buClr>
              <a:buSzPts val="800"/>
              <a:buFont typeface="Calibri"/>
              <a:buNone/>
            </a:pPr>
            <a:r>
              <a:rPr lang="fr" sz="800">
                <a:solidFill>
                  <a:srgbClr val="55575C"/>
                </a:solidFill>
                <a:latin typeface="Calibri"/>
                <a:ea typeface="Calibri"/>
                <a:cs typeface="Calibri"/>
                <a:sym typeface="Calibri"/>
              </a:rPr>
              <a:t>13</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8" name="Shape 268"/>
        <p:cNvGrpSpPr/>
        <p:nvPr/>
      </p:nvGrpSpPr>
      <p:grpSpPr>
        <a:xfrm>
          <a:off x="0" y="0"/>
          <a:ext cx="0" cy="0"/>
          <a:chOff x="0" y="0"/>
          <a:chExt cx="0" cy="0"/>
        </a:xfrm>
      </p:grpSpPr>
      <p:pic>
        <p:nvPicPr>
          <p:cNvPr descr="preencoded.png" id="269" name="Google Shape;269;p28"/>
          <p:cNvPicPr preferRelativeResize="0"/>
          <p:nvPr/>
        </p:nvPicPr>
        <p:blipFill rotWithShape="1">
          <a:blip r:embed="rId3">
            <a:alphaModFix/>
          </a:blip>
          <a:srcRect b="0" l="0" r="0" t="0"/>
          <a:stretch/>
        </p:blipFill>
        <p:spPr>
          <a:xfrm>
            <a:off x="7838694" y="274320"/>
            <a:ext cx="925830" cy="152029"/>
          </a:xfrm>
          <a:prstGeom prst="rect">
            <a:avLst/>
          </a:prstGeom>
          <a:noFill/>
          <a:ln>
            <a:noFill/>
          </a:ln>
        </p:spPr>
      </p:pic>
      <p:sp>
        <p:nvSpPr>
          <p:cNvPr id="270" name="Google Shape;270;p28"/>
          <p:cNvSpPr/>
          <p:nvPr/>
        </p:nvSpPr>
        <p:spPr>
          <a:xfrm>
            <a:off x="480060" y="315468"/>
            <a:ext cx="6172200" cy="219456"/>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428FF"/>
              </a:buClr>
              <a:buSzPts val="800"/>
              <a:buFont typeface="Calibri"/>
              <a:buNone/>
            </a:pPr>
            <a:r>
              <a:rPr b="1" i="0" lang="fr" sz="800" u="none" cap="none" strike="noStrike">
                <a:solidFill>
                  <a:srgbClr val="1428FF"/>
                </a:solidFill>
                <a:latin typeface="Calibri"/>
                <a:ea typeface="Calibri"/>
                <a:cs typeface="Calibri"/>
                <a:sym typeface="Calibri"/>
              </a:rPr>
              <a:t>6 · ADVANCED MODELS</a:t>
            </a:r>
            <a:endParaRPr b="0" i="0" sz="800" u="none" cap="none" strike="noStrike">
              <a:solidFill>
                <a:schemeClr val="dk1"/>
              </a:solidFill>
              <a:latin typeface="Calibri"/>
              <a:ea typeface="Calibri"/>
              <a:cs typeface="Calibri"/>
              <a:sym typeface="Calibri"/>
            </a:endParaRPr>
          </a:p>
        </p:txBody>
      </p:sp>
      <p:sp>
        <p:nvSpPr>
          <p:cNvPr id="271" name="Google Shape;271;p28"/>
          <p:cNvSpPr/>
          <p:nvPr/>
        </p:nvSpPr>
        <p:spPr>
          <a:xfrm>
            <a:off x="480060" y="651510"/>
            <a:ext cx="8023860" cy="51435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7181C"/>
              </a:buClr>
              <a:buSzPts val="2000"/>
              <a:buFont typeface="Cambria"/>
              <a:buNone/>
            </a:pPr>
            <a:r>
              <a:rPr b="1" i="0" lang="fr" sz="2000" u="none" cap="none" strike="noStrike">
                <a:solidFill>
                  <a:srgbClr val="17181C"/>
                </a:solidFill>
                <a:latin typeface="Cambria"/>
                <a:ea typeface="Cambria"/>
                <a:cs typeface="Cambria"/>
                <a:sym typeface="Cambria"/>
              </a:rPr>
              <a:t>Random Forest wins on every metric </a:t>
            </a:r>
            <a:endParaRPr b="0" i="0" sz="2000" u="none" cap="none" strike="noStrike">
              <a:solidFill>
                <a:schemeClr val="dk1"/>
              </a:solidFill>
              <a:latin typeface="Calibri"/>
              <a:ea typeface="Calibri"/>
              <a:cs typeface="Calibri"/>
              <a:sym typeface="Calibri"/>
            </a:endParaRPr>
          </a:p>
        </p:txBody>
      </p:sp>
      <p:sp>
        <p:nvSpPr>
          <p:cNvPr id="272" name="Google Shape;272;p28"/>
          <p:cNvSpPr/>
          <p:nvPr/>
        </p:nvSpPr>
        <p:spPr>
          <a:xfrm>
            <a:off x="8558784" y="4855464"/>
            <a:ext cx="274320"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9CA0A8"/>
              </a:buClr>
              <a:buSzPts val="800"/>
              <a:buFont typeface="Calibri"/>
              <a:buNone/>
            </a:pPr>
            <a:r>
              <a:rPr lang="fr" sz="800">
                <a:solidFill>
                  <a:srgbClr val="9CA0A8"/>
                </a:solidFill>
                <a:latin typeface="Calibri"/>
                <a:ea typeface="Calibri"/>
                <a:cs typeface="Calibri"/>
                <a:sym typeface="Calibri"/>
              </a:rPr>
              <a:t>14</a:t>
            </a:r>
            <a:endParaRPr b="0" i="0" sz="800" u="none" cap="none" strike="noStrike">
              <a:solidFill>
                <a:schemeClr val="dk1"/>
              </a:solidFill>
              <a:latin typeface="Calibri"/>
              <a:ea typeface="Calibri"/>
              <a:cs typeface="Calibri"/>
              <a:sym typeface="Calibri"/>
            </a:endParaRPr>
          </a:p>
        </p:txBody>
      </p:sp>
      <p:pic>
        <p:nvPicPr>
          <p:cNvPr id="273" name="Google Shape;273;p28"/>
          <p:cNvPicPr preferRelativeResize="0"/>
          <p:nvPr/>
        </p:nvPicPr>
        <p:blipFill>
          <a:blip r:embed="rId4">
            <a:alphaModFix/>
          </a:blip>
          <a:stretch>
            <a:fillRect/>
          </a:stretch>
        </p:blipFill>
        <p:spPr>
          <a:xfrm>
            <a:off x="517925" y="1282435"/>
            <a:ext cx="5133975" cy="1647825"/>
          </a:xfrm>
          <a:prstGeom prst="rect">
            <a:avLst/>
          </a:prstGeom>
          <a:noFill/>
          <a:ln>
            <a:noFill/>
          </a:ln>
        </p:spPr>
      </p:pic>
      <p:sp>
        <p:nvSpPr>
          <p:cNvPr id="274" name="Google Shape;274;p28"/>
          <p:cNvSpPr txBox="1"/>
          <p:nvPr/>
        </p:nvSpPr>
        <p:spPr>
          <a:xfrm>
            <a:off x="480050" y="3140975"/>
            <a:ext cx="8078700" cy="1522200"/>
          </a:xfrm>
          <a:prstGeom prst="rect">
            <a:avLst/>
          </a:prstGeom>
          <a:noFill/>
          <a:ln>
            <a:noFill/>
          </a:ln>
        </p:spPr>
        <p:txBody>
          <a:bodyPr anchorCtr="0" anchor="t" bIns="91425" lIns="91425" spcFirstLastPara="1" rIns="91425" wrap="square" tIns="91425">
            <a:spAutoFit/>
          </a:bodyPr>
          <a:lstStyle/>
          <a:p>
            <a:pPr indent="-298450" lvl="0" marL="457200" rtl="0" algn="l">
              <a:lnSpc>
                <a:spcPct val="115000"/>
              </a:lnSpc>
              <a:spcBef>
                <a:spcPts val="1200"/>
              </a:spcBef>
              <a:spcAft>
                <a:spcPts val="0"/>
              </a:spcAft>
              <a:buClr>
                <a:srgbClr val="1428FF"/>
              </a:buClr>
              <a:buSzPts val="1100"/>
              <a:buFont typeface="Calibri"/>
              <a:buChar char="●"/>
            </a:pPr>
            <a:r>
              <a:rPr lang="fr" sz="1100">
                <a:latin typeface="Calibri"/>
                <a:ea typeface="Calibri"/>
                <a:cs typeface="Calibri"/>
                <a:sym typeface="Calibri"/>
              </a:rPr>
              <a:t>T</a:t>
            </a:r>
            <a:r>
              <a:rPr lang="fr" sz="1100">
                <a:latin typeface="Calibri"/>
                <a:ea typeface="Calibri"/>
                <a:cs typeface="Calibri"/>
                <a:sym typeface="Calibri"/>
              </a:rPr>
              <a:t>hat makes sense because L</a:t>
            </a:r>
            <a:r>
              <a:rPr b="1" lang="fr" sz="1100">
                <a:latin typeface="Calibri"/>
                <a:ea typeface="Calibri"/>
                <a:cs typeface="Calibri"/>
                <a:sym typeface="Calibri"/>
              </a:rPr>
              <a:t>inear Regression, Lasso, and Ridge</a:t>
            </a:r>
            <a:r>
              <a:rPr lang="fr" sz="1100">
                <a:latin typeface="Calibri"/>
                <a:ea typeface="Calibri"/>
                <a:cs typeface="Calibri"/>
                <a:sym typeface="Calibri"/>
              </a:rPr>
              <a:t> are all still just drawing a straight line through the data. They differ a bit in how they handle overfitting, but it's still a straight line trying to predict price </a:t>
            </a:r>
            <a:r>
              <a:rPr b="1" lang="fr" sz="1100">
                <a:latin typeface="Calibri"/>
                <a:ea typeface="Calibri"/>
                <a:cs typeface="Calibri"/>
                <a:sym typeface="Calibri"/>
              </a:rPr>
              <a:t>and price doesn't really work that way</a:t>
            </a:r>
            <a:endParaRPr b="1" sz="1100">
              <a:latin typeface="Calibri"/>
              <a:ea typeface="Calibri"/>
              <a:cs typeface="Calibri"/>
              <a:sym typeface="Calibri"/>
            </a:endParaRPr>
          </a:p>
          <a:p>
            <a:pPr indent="-298450" lvl="0" marL="457200" rtl="0" algn="l">
              <a:lnSpc>
                <a:spcPct val="115000"/>
              </a:lnSpc>
              <a:spcBef>
                <a:spcPts val="0"/>
              </a:spcBef>
              <a:spcAft>
                <a:spcPts val="0"/>
              </a:spcAft>
              <a:buClr>
                <a:srgbClr val="1428FF"/>
              </a:buClr>
              <a:buSzPts val="1100"/>
              <a:buFont typeface="Calibri"/>
              <a:buChar char="●"/>
            </a:pPr>
            <a:r>
              <a:rPr lang="fr" sz="1100">
                <a:latin typeface="Calibri"/>
                <a:ea typeface="Calibri"/>
                <a:cs typeface="Calibri"/>
                <a:sym typeface="Calibri"/>
              </a:rPr>
              <a:t>Location, size, and amenities interact with each other in ways a straight line can't capture, and</a:t>
            </a:r>
            <a:r>
              <a:rPr b="1" lang="fr" sz="1100">
                <a:latin typeface="Calibri"/>
                <a:ea typeface="Calibri"/>
                <a:cs typeface="Calibri"/>
                <a:sym typeface="Calibri"/>
              </a:rPr>
              <a:t> tree based models are built to pick up exactly </a:t>
            </a:r>
            <a:r>
              <a:rPr b="1" lang="fr" sz="1100">
                <a:latin typeface="Calibri"/>
                <a:ea typeface="Calibri"/>
                <a:cs typeface="Calibri"/>
                <a:sym typeface="Calibri"/>
              </a:rPr>
              <a:t>that</a:t>
            </a:r>
            <a:r>
              <a:rPr b="1" lang="fr" sz="1100">
                <a:latin typeface="Calibri"/>
                <a:ea typeface="Calibri"/>
                <a:cs typeface="Calibri"/>
                <a:sym typeface="Calibri"/>
              </a:rPr>
              <a:t> kind of pattern.</a:t>
            </a:r>
            <a:endParaRPr b="1" sz="1100">
              <a:latin typeface="Calibri"/>
              <a:ea typeface="Calibri"/>
              <a:cs typeface="Calibri"/>
              <a:sym typeface="Calibri"/>
            </a:endParaRPr>
          </a:p>
          <a:p>
            <a:pPr indent="-298450" lvl="0" marL="457200" rtl="0" algn="l">
              <a:lnSpc>
                <a:spcPct val="115000"/>
              </a:lnSpc>
              <a:spcBef>
                <a:spcPts val="0"/>
              </a:spcBef>
              <a:spcAft>
                <a:spcPts val="0"/>
              </a:spcAft>
              <a:buClr>
                <a:srgbClr val="1428FF"/>
              </a:buClr>
              <a:buSzPts val="1100"/>
              <a:buFont typeface="Calibri"/>
              <a:buChar char="●"/>
            </a:pPr>
            <a:r>
              <a:rPr b="1" lang="fr" sz="1100">
                <a:latin typeface="Calibri"/>
                <a:ea typeface="Calibri"/>
                <a:cs typeface="Calibri"/>
                <a:sym typeface="Calibri"/>
              </a:rPr>
              <a:t>Random Forest edges out XGBoost and Gradient Boosting </a:t>
            </a:r>
            <a:r>
              <a:rPr lang="fr" sz="1100">
                <a:latin typeface="Calibri"/>
                <a:ea typeface="Calibri"/>
                <a:cs typeface="Calibri"/>
                <a:sym typeface="Calibri"/>
              </a:rPr>
              <a:t>too, because it averages many independent trees rather than building them one after another, which makes it a bit more stable on this dataset. </a:t>
            </a:r>
            <a:endParaRPr sz="1100">
              <a:latin typeface="Calibri"/>
              <a:ea typeface="Calibri"/>
              <a:cs typeface="Calibri"/>
              <a:sym typeface="Calibri"/>
            </a:endParaRPr>
          </a:p>
          <a:p>
            <a:pPr indent="-298450" lvl="0" marL="457200" rtl="0" algn="l">
              <a:lnSpc>
                <a:spcPct val="115000"/>
              </a:lnSpc>
              <a:spcBef>
                <a:spcPts val="0"/>
              </a:spcBef>
              <a:spcAft>
                <a:spcPts val="0"/>
              </a:spcAft>
              <a:buClr>
                <a:srgbClr val="1428FF"/>
              </a:buClr>
              <a:buSzPts val="1100"/>
              <a:buFont typeface="Calibri"/>
              <a:buChar char="●"/>
            </a:pPr>
            <a:r>
              <a:rPr b="1" lang="fr" sz="1100">
                <a:solidFill>
                  <a:srgbClr val="1428FF"/>
                </a:solidFill>
                <a:latin typeface="Calibri"/>
                <a:ea typeface="Calibri"/>
                <a:cs typeface="Calibri"/>
                <a:sym typeface="Calibri"/>
              </a:rPr>
              <a:t>That's why we picked it as the final model</a:t>
            </a:r>
            <a:endParaRPr b="1" sz="1100">
              <a:solidFill>
                <a:srgbClr val="1428FF"/>
              </a:solidFill>
              <a:latin typeface="Calibri"/>
              <a:ea typeface="Calibri"/>
              <a:cs typeface="Calibri"/>
              <a:sym typeface="Calibri"/>
            </a:endParaRPr>
          </a:p>
        </p:txBody>
      </p:sp>
      <p:sp>
        <p:nvSpPr>
          <p:cNvPr id="275" name="Google Shape;275;p28"/>
          <p:cNvSpPr txBox="1"/>
          <p:nvPr/>
        </p:nvSpPr>
        <p:spPr>
          <a:xfrm>
            <a:off x="5833100" y="1282425"/>
            <a:ext cx="3000000" cy="1481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fr" sz="1100">
                <a:solidFill>
                  <a:srgbClr val="1428FF"/>
                </a:solidFill>
                <a:latin typeface="Calibri"/>
                <a:ea typeface="Calibri"/>
                <a:cs typeface="Calibri"/>
                <a:sym typeface="Calibri"/>
              </a:rPr>
              <a:t>Random Forest comes out ahead by a wide margin</a:t>
            </a:r>
            <a:endParaRPr b="1" sz="1100">
              <a:solidFill>
                <a:srgbClr val="1428FF"/>
              </a:solidFill>
              <a:latin typeface="Calibri"/>
              <a:ea typeface="Calibri"/>
              <a:cs typeface="Calibri"/>
              <a:sym typeface="Calibri"/>
            </a:endParaRPr>
          </a:p>
          <a:p>
            <a:pPr indent="0" lvl="0" marL="0" rtl="0" algn="l">
              <a:lnSpc>
                <a:spcPct val="115000"/>
              </a:lnSpc>
              <a:spcBef>
                <a:spcPts val="1200"/>
              </a:spcBef>
              <a:spcAft>
                <a:spcPts val="1200"/>
              </a:spcAft>
              <a:buNone/>
            </a:pPr>
            <a:r>
              <a:rPr b="1" lang="fr" sz="1100">
                <a:solidFill>
                  <a:srgbClr val="1428FF"/>
                </a:solidFill>
                <a:latin typeface="Calibri"/>
                <a:ea typeface="Calibri"/>
                <a:cs typeface="Calibri"/>
                <a:sym typeface="Calibri"/>
              </a:rPr>
              <a:t>The three tree based models, Random Forest, XGBoost, and Gradient Boosting, all outperform the three linear ones, Linear Regression, Lasso, and Ridge.</a:t>
            </a:r>
            <a:endParaRPr b="1" sz="1100">
              <a:solidFill>
                <a:srgbClr val="1428FF"/>
              </a:solidFill>
              <a:latin typeface="Calibri"/>
              <a:ea typeface="Calibri"/>
              <a:cs typeface="Calibri"/>
              <a:sym typeface="Calibri"/>
            </a:endParaRPr>
          </a:p>
        </p:txBody>
      </p:sp>
      <p:sp>
        <p:nvSpPr>
          <p:cNvPr id="276" name="Google Shape;276;p28"/>
          <p:cNvSpPr/>
          <p:nvPr/>
        </p:nvSpPr>
        <p:spPr>
          <a:xfrm>
            <a:off x="303450" y="1559400"/>
            <a:ext cx="5529600" cy="152100"/>
          </a:xfrm>
          <a:prstGeom prst="rect">
            <a:avLst/>
          </a:prstGeom>
          <a:noFill/>
          <a:ln cap="flat" cmpd="sng" w="38100">
            <a:solidFill>
              <a:srgbClr val="1428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7181C"/>
        </a:solidFill>
      </p:bgPr>
    </p:bg>
    <p:spTree>
      <p:nvGrpSpPr>
        <p:cNvPr id="281" name="Shape 281"/>
        <p:cNvGrpSpPr/>
        <p:nvPr/>
      </p:nvGrpSpPr>
      <p:grpSpPr>
        <a:xfrm>
          <a:off x="0" y="0"/>
          <a:ext cx="0" cy="0"/>
          <a:chOff x="0" y="0"/>
          <a:chExt cx="0" cy="0"/>
        </a:xfrm>
      </p:grpSpPr>
      <p:pic>
        <p:nvPicPr>
          <p:cNvPr descr="preencoded.png" id="282" name="Google Shape;282;p29"/>
          <p:cNvPicPr preferRelativeResize="0"/>
          <p:nvPr/>
        </p:nvPicPr>
        <p:blipFill rotWithShape="1">
          <a:blip r:embed="rId3">
            <a:alphaModFix/>
          </a:blip>
          <a:srcRect b="0" l="0" r="0" t="0"/>
          <a:stretch/>
        </p:blipFill>
        <p:spPr>
          <a:xfrm>
            <a:off x="7838694" y="274320"/>
            <a:ext cx="925832" cy="152029"/>
          </a:xfrm>
          <a:prstGeom prst="rect">
            <a:avLst/>
          </a:prstGeom>
          <a:noFill/>
          <a:ln>
            <a:noFill/>
          </a:ln>
        </p:spPr>
      </p:pic>
      <p:sp>
        <p:nvSpPr>
          <p:cNvPr id="283" name="Google Shape;283;p29"/>
          <p:cNvSpPr/>
          <p:nvPr/>
        </p:nvSpPr>
        <p:spPr>
          <a:xfrm>
            <a:off x="480060" y="315468"/>
            <a:ext cx="6172200" cy="219456"/>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428FF"/>
              </a:buClr>
              <a:buSzPts val="800"/>
              <a:buFont typeface="Calibri"/>
              <a:buNone/>
            </a:pPr>
            <a:r>
              <a:rPr b="1" i="0" lang="fr" sz="800" u="none" cap="none" strike="noStrike">
                <a:solidFill>
                  <a:srgbClr val="1428FF"/>
                </a:solidFill>
                <a:latin typeface="Calibri"/>
                <a:ea typeface="Calibri"/>
                <a:cs typeface="Calibri"/>
                <a:sym typeface="Calibri"/>
              </a:rPr>
              <a:t>7 · MODEL INTERPRETATION</a:t>
            </a:r>
            <a:endParaRPr b="0" i="0" sz="800" u="none" cap="none" strike="noStrike">
              <a:solidFill>
                <a:schemeClr val="dk1"/>
              </a:solidFill>
              <a:latin typeface="Calibri"/>
              <a:ea typeface="Calibri"/>
              <a:cs typeface="Calibri"/>
              <a:sym typeface="Calibri"/>
            </a:endParaRPr>
          </a:p>
        </p:txBody>
      </p:sp>
      <p:sp>
        <p:nvSpPr>
          <p:cNvPr id="284" name="Google Shape;284;p29"/>
          <p:cNvSpPr/>
          <p:nvPr/>
        </p:nvSpPr>
        <p:spPr>
          <a:xfrm>
            <a:off x="480060" y="651510"/>
            <a:ext cx="8092440" cy="5829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7181C"/>
              </a:buClr>
              <a:buSzPts val="1800"/>
              <a:buFont typeface="Cambria"/>
              <a:buNone/>
            </a:pPr>
            <a:r>
              <a:rPr b="1" lang="fr" sz="2200">
                <a:solidFill>
                  <a:schemeClr val="lt1"/>
                </a:solidFill>
                <a:latin typeface="Calibri"/>
                <a:ea typeface="Calibri"/>
                <a:cs typeface="Calibri"/>
                <a:sym typeface="Calibri"/>
              </a:rPr>
              <a:t>Feature Importance</a:t>
            </a:r>
            <a:endParaRPr b="1" i="0" sz="2200" u="none" cap="none" strike="noStrike">
              <a:solidFill>
                <a:schemeClr val="lt1"/>
              </a:solidFill>
              <a:latin typeface="Calibri"/>
              <a:ea typeface="Calibri"/>
              <a:cs typeface="Calibri"/>
              <a:sym typeface="Calibri"/>
            </a:endParaRPr>
          </a:p>
        </p:txBody>
      </p:sp>
      <p:pic>
        <p:nvPicPr>
          <p:cNvPr descr="preencoded.png" id="285" name="Google Shape;285;p29"/>
          <p:cNvPicPr preferRelativeResize="0"/>
          <p:nvPr/>
        </p:nvPicPr>
        <p:blipFill rotWithShape="1">
          <a:blip r:embed="rId4">
            <a:alphaModFix/>
          </a:blip>
          <a:srcRect b="0" l="0" r="0" t="0"/>
          <a:stretch/>
        </p:blipFill>
        <p:spPr>
          <a:xfrm>
            <a:off x="480060" y="1337310"/>
            <a:ext cx="4417943" cy="3429000"/>
          </a:xfrm>
          <a:prstGeom prst="rect">
            <a:avLst/>
          </a:prstGeom>
          <a:noFill/>
          <a:ln>
            <a:noFill/>
          </a:ln>
        </p:spPr>
      </p:pic>
      <p:sp>
        <p:nvSpPr>
          <p:cNvPr id="286" name="Google Shape;286;p29"/>
          <p:cNvSpPr/>
          <p:nvPr/>
        </p:nvSpPr>
        <p:spPr>
          <a:xfrm>
            <a:off x="8558784" y="4855464"/>
            <a:ext cx="274320"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9CA0A8"/>
              </a:buClr>
              <a:buSzPts val="800"/>
              <a:buFont typeface="Calibri"/>
              <a:buNone/>
            </a:pPr>
            <a:r>
              <a:rPr lang="fr" sz="800">
                <a:solidFill>
                  <a:srgbClr val="9CA0A8"/>
                </a:solidFill>
                <a:latin typeface="Calibri"/>
                <a:ea typeface="Calibri"/>
                <a:cs typeface="Calibri"/>
                <a:sym typeface="Calibri"/>
              </a:rPr>
              <a:t>15</a:t>
            </a:r>
            <a:endParaRPr b="0" i="0" sz="800" u="none" cap="none" strike="noStrike">
              <a:solidFill>
                <a:schemeClr val="dk1"/>
              </a:solidFill>
              <a:latin typeface="Calibri"/>
              <a:ea typeface="Calibri"/>
              <a:cs typeface="Calibri"/>
              <a:sym typeface="Calibri"/>
            </a:endParaRPr>
          </a:p>
        </p:txBody>
      </p:sp>
      <p:sp>
        <p:nvSpPr>
          <p:cNvPr id="287" name="Google Shape;287;p29"/>
          <p:cNvSpPr txBox="1"/>
          <p:nvPr/>
        </p:nvSpPr>
        <p:spPr>
          <a:xfrm>
            <a:off x="5074375" y="1159775"/>
            <a:ext cx="3690300" cy="3501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fr" sz="1100">
                <a:solidFill>
                  <a:schemeClr val="lt1"/>
                </a:solidFill>
                <a:latin typeface="Calibri"/>
                <a:ea typeface="Calibri"/>
                <a:cs typeface="Calibri"/>
                <a:sym typeface="Calibri"/>
              </a:rPr>
              <a:t>Ar</a:t>
            </a:r>
            <a:r>
              <a:rPr b="1" lang="fr" sz="1100">
                <a:solidFill>
                  <a:schemeClr val="lt1"/>
                </a:solidFill>
                <a:latin typeface="Calibri"/>
                <a:ea typeface="Calibri"/>
                <a:cs typeface="Calibri"/>
                <a:sym typeface="Calibri"/>
              </a:rPr>
              <a:t>ea is the most important feature in our prediction : </a:t>
            </a:r>
            <a:r>
              <a:rPr lang="fr" sz="1100">
                <a:solidFill>
                  <a:schemeClr val="lt1"/>
                </a:solidFill>
                <a:latin typeface="Calibri"/>
                <a:ea typeface="Calibri"/>
                <a:cs typeface="Calibri"/>
                <a:sym typeface="Calibri"/>
              </a:rPr>
              <a:t> about 90% of what the model relies on how big the listing is</a:t>
            </a:r>
            <a:endParaRPr sz="1100">
              <a:solidFill>
                <a:schemeClr val="lt1"/>
              </a:solidFill>
              <a:latin typeface="Calibri"/>
              <a:ea typeface="Calibri"/>
              <a:cs typeface="Calibri"/>
              <a:sym typeface="Calibri"/>
            </a:endParaRPr>
          </a:p>
          <a:p>
            <a:pPr indent="0" lvl="0" marL="0" rtl="0" algn="l">
              <a:lnSpc>
                <a:spcPct val="115000"/>
              </a:lnSpc>
              <a:spcBef>
                <a:spcPts val="1200"/>
              </a:spcBef>
              <a:spcAft>
                <a:spcPts val="0"/>
              </a:spcAft>
              <a:buNone/>
            </a:pPr>
            <a:r>
              <a:rPr lang="fr" sz="1100">
                <a:solidFill>
                  <a:schemeClr val="lt1"/>
                </a:solidFill>
                <a:latin typeface="Calibri"/>
                <a:ea typeface="Calibri"/>
                <a:cs typeface="Calibri"/>
                <a:sym typeface="Calibri"/>
              </a:rPr>
              <a:t>After that, l</a:t>
            </a:r>
            <a:r>
              <a:rPr b="1" lang="fr" sz="1100">
                <a:solidFill>
                  <a:schemeClr val="lt1"/>
                </a:solidFill>
                <a:latin typeface="Calibri"/>
                <a:ea typeface="Calibri"/>
                <a:cs typeface="Calibri"/>
                <a:sym typeface="Calibri"/>
              </a:rPr>
              <a:t>ocation impacts too, arrondissement </a:t>
            </a:r>
            <a:r>
              <a:rPr lang="fr" sz="1100">
                <a:solidFill>
                  <a:schemeClr val="lt1"/>
                </a:solidFill>
                <a:latin typeface="Calibri"/>
                <a:ea typeface="Calibri"/>
                <a:cs typeface="Calibri"/>
                <a:sym typeface="Calibri"/>
              </a:rPr>
              <a:t>and being in one of the prime districts both show up, which makes sense, we already saw that in the correlation and geography slides. </a:t>
            </a:r>
            <a:endParaRPr sz="1100">
              <a:solidFill>
                <a:schemeClr val="lt1"/>
              </a:solidFill>
              <a:latin typeface="Calibri"/>
              <a:ea typeface="Calibri"/>
              <a:cs typeface="Calibri"/>
              <a:sym typeface="Calibri"/>
            </a:endParaRPr>
          </a:p>
          <a:p>
            <a:pPr indent="0" lvl="0" marL="0" rtl="0" algn="l">
              <a:lnSpc>
                <a:spcPct val="115000"/>
              </a:lnSpc>
              <a:spcBef>
                <a:spcPts val="1200"/>
              </a:spcBef>
              <a:spcAft>
                <a:spcPts val="0"/>
              </a:spcAft>
              <a:buNone/>
            </a:pPr>
            <a:r>
              <a:rPr lang="fr" sz="1100">
                <a:solidFill>
                  <a:schemeClr val="lt1"/>
                </a:solidFill>
                <a:latin typeface="Calibri"/>
                <a:ea typeface="Calibri"/>
                <a:cs typeface="Calibri"/>
                <a:sym typeface="Calibri"/>
              </a:rPr>
              <a:t>Then we find features like </a:t>
            </a:r>
            <a:r>
              <a:rPr b="1" lang="fr" sz="1100">
                <a:solidFill>
                  <a:schemeClr val="lt1"/>
                </a:solidFill>
                <a:latin typeface="Calibri"/>
                <a:ea typeface="Calibri"/>
                <a:cs typeface="Calibri"/>
                <a:sym typeface="Calibri"/>
              </a:rPr>
              <a:t>outdoor space and having a lift </a:t>
            </a:r>
            <a:r>
              <a:rPr lang="fr" sz="1100">
                <a:solidFill>
                  <a:schemeClr val="lt1"/>
                </a:solidFill>
                <a:latin typeface="Calibri"/>
                <a:ea typeface="Calibri"/>
                <a:cs typeface="Calibri"/>
                <a:sym typeface="Calibri"/>
              </a:rPr>
              <a:t>they also have a smaller impact </a:t>
            </a:r>
            <a:endParaRPr sz="1100">
              <a:solidFill>
                <a:schemeClr val="lt1"/>
              </a:solidFill>
              <a:latin typeface="Calibri"/>
              <a:ea typeface="Calibri"/>
              <a:cs typeface="Calibri"/>
              <a:sym typeface="Calibri"/>
            </a:endParaRPr>
          </a:p>
          <a:p>
            <a:pPr indent="0" lvl="0" marL="0" rtl="0" algn="l">
              <a:lnSpc>
                <a:spcPct val="115000"/>
              </a:lnSpc>
              <a:spcBef>
                <a:spcPts val="1200"/>
              </a:spcBef>
              <a:spcAft>
                <a:spcPts val="0"/>
              </a:spcAft>
              <a:buNone/>
            </a:pPr>
            <a:r>
              <a:rPr b="1" lang="fr" sz="1100">
                <a:solidFill>
                  <a:schemeClr val="lt1"/>
                </a:solidFill>
                <a:latin typeface="Calibri"/>
                <a:ea typeface="Calibri"/>
                <a:cs typeface="Calibri"/>
                <a:sym typeface="Calibri"/>
              </a:rPr>
              <a:t>What's kind of surprising is that energy rating and the type of</a:t>
            </a:r>
            <a:r>
              <a:rPr lang="fr" sz="1100">
                <a:solidFill>
                  <a:schemeClr val="lt1"/>
                </a:solidFill>
                <a:latin typeface="Calibri"/>
                <a:ea typeface="Calibri"/>
                <a:cs typeface="Calibri"/>
                <a:sym typeface="Calibri"/>
              </a:rPr>
              <a:t> property : whether it's a duplex or a loft barely matter to the model</a:t>
            </a:r>
            <a:endParaRPr sz="1100">
              <a:solidFill>
                <a:schemeClr val="lt1"/>
              </a:solidFill>
              <a:latin typeface="Calibri"/>
              <a:ea typeface="Calibri"/>
              <a:cs typeface="Calibri"/>
              <a:sym typeface="Calibri"/>
            </a:endParaRPr>
          </a:p>
          <a:p>
            <a:pPr indent="0" lvl="0" marL="0" rtl="0" algn="l">
              <a:lnSpc>
                <a:spcPct val="115000"/>
              </a:lnSpc>
              <a:spcBef>
                <a:spcPts val="1200"/>
              </a:spcBef>
              <a:spcAft>
                <a:spcPts val="1200"/>
              </a:spcAft>
              <a:buNone/>
            </a:pPr>
            <a:r>
              <a:rPr lang="fr" sz="1100">
                <a:solidFill>
                  <a:schemeClr val="lt1"/>
                </a:solidFill>
                <a:latin typeface="Calibri"/>
                <a:ea typeface="Calibri"/>
                <a:cs typeface="Calibri"/>
                <a:sym typeface="Calibri"/>
              </a:rPr>
              <a:t>Logically energy rating should count for more given the energy consumption but once the model already knows the size and the location, it just doesn't add much extra information</a:t>
            </a:r>
            <a:endParaRPr sz="1100">
              <a:solidFill>
                <a:schemeClr val="lt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292" name="Shape 292"/>
        <p:cNvGrpSpPr/>
        <p:nvPr/>
      </p:nvGrpSpPr>
      <p:grpSpPr>
        <a:xfrm>
          <a:off x="0" y="0"/>
          <a:ext cx="0" cy="0"/>
          <a:chOff x="0" y="0"/>
          <a:chExt cx="0" cy="0"/>
        </a:xfrm>
      </p:grpSpPr>
      <p:pic>
        <p:nvPicPr>
          <p:cNvPr descr="preencoded.png" id="293" name="Google Shape;293;p30"/>
          <p:cNvPicPr preferRelativeResize="0"/>
          <p:nvPr/>
        </p:nvPicPr>
        <p:blipFill rotWithShape="1">
          <a:blip r:embed="rId3">
            <a:alphaModFix/>
          </a:blip>
          <a:srcRect b="0" l="0" r="0" t="0"/>
          <a:stretch/>
        </p:blipFill>
        <p:spPr>
          <a:xfrm>
            <a:off x="7838694" y="274320"/>
            <a:ext cx="925830" cy="152029"/>
          </a:xfrm>
          <a:prstGeom prst="rect">
            <a:avLst/>
          </a:prstGeom>
          <a:noFill/>
          <a:ln>
            <a:noFill/>
          </a:ln>
        </p:spPr>
      </p:pic>
      <p:sp>
        <p:nvSpPr>
          <p:cNvPr id="294" name="Google Shape;294;p30"/>
          <p:cNvSpPr/>
          <p:nvPr/>
        </p:nvSpPr>
        <p:spPr>
          <a:xfrm>
            <a:off x="480060" y="315468"/>
            <a:ext cx="6172200" cy="219456"/>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000FF"/>
              </a:buClr>
              <a:buSzPts val="800"/>
              <a:buFont typeface="Calibri"/>
              <a:buNone/>
            </a:pPr>
            <a:r>
              <a:rPr b="1" i="0" lang="fr" sz="800" u="none" cap="none" strike="noStrike">
                <a:solidFill>
                  <a:srgbClr val="0000FF"/>
                </a:solidFill>
                <a:latin typeface="Calibri"/>
                <a:ea typeface="Calibri"/>
                <a:cs typeface="Calibri"/>
                <a:sym typeface="Calibri"/>
              </a:rPr>
              <a:t>8 · DEPLOYMENT SCENARIO</a:t>
            </a:r>
            <a:endParaRPr b="0" i="0" sz="800" u="none" cap="none" strike="noStrike">
              <a:solidFill>
                <a:schemeClr val="dk1"/>
              </a:solidFill>
              <a:latin typeface="Calibri"/>
              <a:ea typeface="Calibri"/>
              <a:cs typeface="Calibri"/>
              <a:sym typeface="Calibri"/>
            </a:endParaRPr>
          </a:p>
        </p:txBody>
      </p:sp>
      <p:sp>
        <p:nvSpPr>
          <p:cNvPr id="295" name="Google Shape;295;p30"/>
          <p:cNvSpPr/>
          <p:nvPr/>
        </p:nvSpPr>
        <p:spPr>
          <a:xfrm>
            <a:off x="480060" y="651510"/>
            <a:ext cx="8023860" cy="5486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2000"/>
              <a:buFont typeface="Cambria"/>
              <a:buNone/>
            </a:pPr>
            <a:r>
              <a:rPr b="1" lang="fr" sz="2000">
                <a:solidFill>
                  <a:srgbClr val="FFFFFF"/>
                </a:solidFill>
                <a:latin typeface="Cambria"/>
                <a:ea typeface="Cambria"/>
                <a:cs typeface="Cambria"/>
                <a:sym typeface="Cambria"/>
              </a:rPr>
              <a:t>Potential User Experience </a:t>
            </a:r>
            <a:endParaRPr b="0" i="0" sz="2000" u="none" cap="none" strike="noStrike">
              <a:solidFill>
                <a:schemeClr val="dk1"/>
              </a:solidFill>
              <a:latin typeface="Calibri"/>
              <a:ea typeface="Calibri"/>
              <a:cs typeface="Calibri"/>
              <a:sym typeface="Calibri"/>
            </a:endParaRPr>
          </a:p>
        </p:txBody>
      </p:sp>
      <p:sp>
        <p:nvSpPr>
          <p:cNvPr id="296" name="Google Shape;296;p30"/>
          <p:cNvSpPr/>
          <p:nvPr/>
        </p:nvSpPr>
        <p:spPr>
          <a:xfrm>
            <a:off x="480060" y="1405890"/>
            <a:ext cx="34290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000FF"/>
              </a:buClr>
              <a:buSzPts val="1500"/>
              <a:buFont typeface="Cambria"/>
              <a:buNone/>
            </a:pPr>
            <a:r>
              <a:rPr b="1" i="0" lang="fr" sz="1500" u="none" cap="none" strike="noStrike">
                <a:solidFill>
                  <a:schemeClr val="lt1"/>
                </a:solidFill>
                <a:latin typeface="Cambria"/>
                <a:ea typeface="Cambria"/>
                <a:cs typeface="Cambria"/>
                <a:sym typeface="Cambria"/>
              </a:rPr>
              <a:t>1</a:t>
            </a:r>
            <a:endParaRPr b="0" i="0" sz="1500" u="none" cap="none" strike="noStrike">
              <a:solidFill>
                <a:schemeClr val="lt1"/>
              </a:solidFill>
              <a:latin typeface="Calibri"/>
              <a:ea typeface="Calibri"/>
              <a:cs typeface="Calibri"/>
              <a:sym typeface="Calibri"/>
            </a:endParaRPr>
          </a:p>
        </p:txBody>
      </p:sp>
      <p:sp>
        <p:nvSpPr>
          <p:cNvPr id="297" name="Google Shape;297;p30"/>
          <p:cNvSpPr/>
          <p:nvPr/>
        </p:nvSpPr>
        <p:spPr>
          <a:xfrm>
            <a:off x="480054" y="1748800"/>
            <a:ext cx="1222800" cy="480000"/>
          </a:xfrm>
          <a:prstGeom prst="rect">
            <a:avLst/>
          </a:prstGeom>
          <a:noFill/>
          <a:ln>
            <a:noFill/>
          </a:ln>
        </p:spPr>
        <p:txBody>
          <a:bodyPr anchorCtr="0" anchor="ctr" bIns="34275" lIns="68575" spcFirstLastPara="1" rIns="68575" wrap="square" tIns="34275">
            <a:noAutofit/>
          </a:bodyPr>
          <a:lstStyle/>
          <a:p>
            <a:pPr indent="0" lvl="0" marL="0" marR="0" rtl="0" algn="l">
              <a:lnSpc>
                <a:spcPct val="115000"/>
              </a:lnSpc>
              <a:spcBef>
                <a:spcPts val="0"/>
              </a:spcBef>
              <a:spcAft>
                <a:spcPts val="0"/>
              </a:spcAft>
              <a:buClr>
                <a:srgbClr val="FFFFFF"/>
              </a:buClr>
              <a:buSzPts val="1000"/>
              <a:buFont typeface="Calibri"/>
              <a:buNone/>
            </a:pPr>
            <a:r>
              <a:rPr b="1" i="0" lang="fr" sz="1300" u="none" cap="none" strike="noStrike">
                <a:solidFill>
                  <a:srgbClr val="FFFFFF"/>
                </a:solidFill>
                <a:latin typeface="Calibri"/>
                <a:ea typeface="Calibri"/>
                <a:cs typeface="Calibri"/>
                <a:sym typeface="Calibri"/>
              </a:rPr>
              <a:t>Listing created</a:t>
            </a:r>
            <a:endParaRPr i="0" sz="1300" u="none" cap="none" strike="noStrike">
              <a:solidFill>
                <a:schemeClr val="dk1"/>
              </a:solidFill>
              <a:latin typeface="Calibri"/>
              <a:ea typeface="Calibri"/>
              <a:cs typeface="Calibri"/>
              <a:sym typeface="Calibri"/>
            </a:endParaRPr>
          </a:p>
        </p:txBody>
      </p:sp>
      <p:sp>
        <p:nvSpPr>
          <p:cNvPr id="298" name="Google Shape;298;p30"/>
          <p:cNvSpPr/>
          <p:nvPr/>
        </p:nvSpPr>
        <p:spPr>
          <a:xfrm>
            <a:off x="2606040" y="1405890"/>
            <a:ext cx="34290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000FF"/>
              </a:buClr>
              <a:buSzPts val="1500"/>
              <a:buFont typeface="Cambria"/>
              <a:buNone/>
            </a:pPr>
            <a:r>
              <a:rPr b="1" i="0" lang="fr" sz="1500" u="none" cap="none" strike="noStrike">
                <a:solidFill>
                  <a:schemeClr val="lt1"/>
                </a:solidFill>
                <a:latin typeface="Cambria"/>
                <a:ea typeface="Cambria"/>
                <a:cs typeface="Cambria"/>
                <a:sym typeface="Cambria"/>
              </a:rPr>
              <a:t>2</a:t>
            </a:r>
            <a:endParaRPr b="0" i="0" sz="1500" u="none" cap="none" strike="noStrike">
              <a:solidFill>
                <a:schemeClr val="lt1"/>
              </a:solidFill>
              <a:latin typeface="Calibri"/>
              <a:ea typeface="Calibri"/>
              <a:cs typeface="Calibri"/>
              <a:sym typeface="Calibri"/>
            </a:endParaRPr>
          </a:p>
        </p:txBody>
      </p:sp>
      <p:sp>
        <p:nvSpPr>
          <p:cNvPr id="299" name="Google Shape;299;p30"/>
          <p:cNvSpPr/>
          <p:nvPr/>
        </p:nvSpPr>
        <p:spPr>
          <a:xfrm>
            <a:off x="2606040" y="1748790"/>
            <a:ext cx="1885950" cy="480060"/>
          </a:xfrm>
          <a:prstGeom prst="rect">
            <a:avLst/>
          </a:prstGeom>
          <a:noFill/>
          <a:ln>
            <a:noFill/>
          </a:ln>
        </p:spPr>
        <p:txBody>
          <a:bodyPr anchorCtr="0" anchor="ctr" bIns="34275" lIns="68575" spcFirstLastPara="1" rIns="68575" wrap="square" tIns="34275">
            <a:noAutofit/>
          </a:bodyPr>
          <a:lstStyle/>
          <a:p>
            <a:pPr indent="0" lvl="0" marL="0" marR="0" rtl="0" algn="l">
              <a:lnSpc>
                <a:spcPct val="115000"/>
              </a:lnSpc>
              <a:spcBef>
                <a:spcPts val="0"/>
              </a:spcBef>
              <a:spcAft>
                <a:spcPts val="0"/>
              </a:spcAft>
              <a:buClr>
                <a:srgbClr val="FFFFFF"/>
              </a:buClr>
              <a:buSzPts val="1000"/>
              <a:buFont typeface="Calibri"/>
              <a:buNone/>
            </a:pPr>
            <a:r>
              <a:rPr b="1" i="0" lang="fr" sz="1300" u="none" cap="none" strike="noStrike">
                <a:solidFill>
                  <a:srgbClr val="FFFFFF"/>
                </a:solidFill>
                <a:latin typeface="Calibri"/>
                <a:ea typeface="Calibri"/>
                <a:cs typeface="Calibri"/>
                <a:sym typeface="Calibri"/>
              </a:rPr>
              <a:t>Data enriched</a:t>
            </a:r>
            <a:endParaRPr i="0" sz="13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FFFFFF"/>
              </a:buClr>
              <a:buSzPts val="1000"/>
              <a:buFont typeface="Calibri"/>
              <a:buNone/>
            </a:pPr>
            <a:r>
              <a:rPr b="1" i="0" lang="fr" sz="1300" u="none" cap="none" strike="noStrike">
                <a:solidFill>
                  <a:srgbClr val="FFFFFF"/>
                </a:solidFill>
                <a:latin typeface="Calibri"/>
                <a:ea typeface="Calibri"/>
                <a:cs typeface="Calibri"/>
                <a:sym typeface="Calibri"/>
              </a:rPr>
              <a:t>automatically</a:t>
            </a:r>
            <a:endParaRPr i="0" sz="1300" u="none" cap="none" strike="noStrike">
              <a:solidFill>
                <a:schemeClr val="dk1"/>
              </a:solidFill>
              <a:latin typeface="Calibri"/>
              <a:ea typeface="Calibri"/>
              <a:cs typeface="Calibri"/>
              <a:sym typeface="Calibri"/>
            </a:endParaRPr>
          </a:p>
        </p:txBody>
      </p:sp>
      <p:sp>
        <p:nvSpPr>
          <p:cNvPr id="300" name="Google Shape;300;p30"/>
          <p:cNvSpPr/>
          <p:nvPr/>
        </p:nvSpPr>
        <p:spPr>
          <a:xfrm>
            <a:off x="4732020" y="1405890"/>
            <a:ext cx="34290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000FF"/>
              </a:buClr>
              <a:buSzPts val="1500"/>
              <a:buFont typeface="Cambria"/>
              <a:buNone/>
            </a:pPr>
            <a:r>
              <a:rPr b="1" i="0" lang="fr" sz="1500" u="none" cap="none" strike="noStrike">
                <a:solidFill>
                  <a:schemeClr val="lt1"/>
                </a:solidFill>
                <a:latin typeface="Cambria"/>
                <a:ea typeface="Cambria"/>
                <a:cs typeface="Cambria"/>
                <a:sym typeface="Cambria"/>
              </a:rPr>
              <a:t>3</a:t>
            </a:r>
            <a:endParaRPr b="0" i="0" sz="1500" u="none" cap="none" strike="noStrike">
              <a:solidFill>
                <a:schemeClr val="lt1"/>
              </a:solidFill>
              <a:latin typeface="Calibri"/>
              <a:ea typeface="Calibri"/>
              <a:cs typeface="Calibri"/>
              <a:sym typeface="Calibri"/>
            </a:endParaRPr>
          </a:p>
        </p:txBody>
      </p:sp>
      <p:sp>
        <p:nvSpPr>
          <p:cNvPr id="301" name="Google Shape;301;p30"/>
          <p:cNvSpPr/>
          <p:nvPr/>
        </p:nvSpPr>
        <p:spPr>
          <a:xfrm>
            <a:off x="4732020" y="1748790"/>
            <a:ext cx="1885950" cy="480060"/>
          </a:xfrm>
          <a:prstGeom prst="rect">
            <a:avLst/>
          </a:prstGeom>
          <a:noFill/>
          <a:ln>
            <a:noFill/>
          </a:ln>
        </p:spPr>
        <p:txBody>
          <a:bodyPr anchorCtr="0" anchor="ctr" bIns="34275" lIns="68575" spcFirstLastPara="1" rIns="68575" wrap="square" tIns="34275">
            <a:noAutofit/>
          </a:bodyPr>
          <a:lstStyle/>
          <a:p>
            <a:pPr indent="0" lvl="0" marL="0" marR="0" rtl="0" algn="l">
              <a:lnSpc>
                <a:spcPct val="115000"/>
              </a:lnSpc>
              <a:spcBef>
                <a:spcPts val="0"/>
              </a:spcBef>
              <a:spcAft>
                <a:spcPts val="0"/>
              </a:spcAft>
              <a:buClr>
                <a:srgbClr val="FFFFFF"/>
              </a:buClr>
              <a:buSzPts val="1000"/>
              <a:buFont typeface="Calibri"/>
              <a:buNone/>
            </a:pPr>
            <a:r>
              <a:rPr b="1" i="0" lang="fr" sz="1300" u="none" cap="none" strike="noStrike">
                <a:solidFill>
                  <a:srgbClr val="FFFFFF"/>
                </a:solidFill>
                <a:latin typeface="Calibri"/>
                <a:ea typeface="Calibri"/>
                <a:cs typeface="Calibri"/>
                <a:sym typeface="Calibri"/>
              </a:rPr>
              <a:t>Model runs</a:t>
            </a:r>
            <a:endParaRPr i="0" sz="13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FFFFFF"/>
              </a:buClr>
              <a:buSzPts val="1000"/>
              <a:buFont typeface="Calibri"/>
              <a:buNone/>
            </a:pPr>
            <a:r>
              <a:rPr b="1" i="0" lang="fr" sz="1300" u="none" cap="none" strike="noStrike">
                <a:solidFill>
                  <a:srgbClr val="FFFFFF"/>
                </a:solidFill>
                <a:latin typeface="Calibri"/>
                <a:ea typeface="Calibri"/>
                <a:cs typeface="Calibri"/>
                <a:sym typeface="Calibri"/>
              </a:rPr>
              <a:t>automatically</a:t>
            </a:r>
            <a:endParaRPr i="0" sz="1300" u="none" cap="none" strike="noStrike">
              <a:solidFill>
                <a:schemeClr val="dk1"/>
              </a:solidFill>
              <a:latin typeface="Calibri"/>
              <a:ea typeface="Calibri"/>
              <a:cs typeface="Calibri"/>
              <a:sym typeface="Calibri"/>
            </a:endParaRPr>
          </a:p>
        </p:txBody>
      </p:sp>
      <p:sp>
        <p:nvSpPr>
          <p:cNvPr id="302" name="Google Shape;302;p30"/>
          <p:cNvSpPr/>
          <p:nvPr/>
        </p:nvSpPr>
        <p:spPr>
          <a:xfrm>
            <a:off x="6858000" y="1405890"/>
            <a:ext cx="34290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0000FF"/>
              </a:buClr>
              <a:buSzPts val="1500"/>
              <a:buFont typeface="Cambria"/>
              <a:buNone/>
            </a:pPr>
            <a:r>
              <a:rPr b="1" i="0" lang="fr" sz="1500" u="none" cap="none" strike="noStrike">
                <a:solidFill>
                  <a:schemeClr val="lt1"/>
                </a:solidFill>
                <a:latin typeface="Cambria"/>
                <a:ea typeface="Cambria"/>
                <a:cs typeface="Cambria"/>
                <a:sym typeface="Cambria"/>
              </a:rPr>
              <a:t>4</a:t>
            </a:r>
            <a:endParaRPr b="0" i="0" sz="1500" u="none" cap="none" strike="noStrike">
              <a:solidFill>
                <a:schemeClr val="lt1"/>
              </a:solidFill>
              <a:latin typeface="Calibri"/>
              <a:ea typeface="Calibri"/>
              <a:cs typeface="Calibri"/>
              <a:sym typeface="Calibri"/>
            </a:endParaRPr>
          </a:p>
        </p:txBody>
      </p:sp>
      <p:sp>
        <p:nvSpPr>
          <p:cNvPr id="303" name="Google Shape;303;p30"/>
          <p:cNvSpPr/>
          <p:nvPr/>
        </p:nvSpPr>
        <p:spPr>
          <a:xfrm>
            <a:off x="6858000" y="1748790"/>
            <a:ext cx="1885950" cy="480060"/>
          </a:xfrm>
          <a:prstGeom prst="rect">
            <a:avLst/>
          </a:prstGeom>
          <a:noFill/>
          <a:ln>
            <a:noFill/>
          </a:ln>
        </p:spPr>
        <p:txBody>
          <a:bodyPr anchorCtr="0" anchor="ctr" bIns="34275" lIns="68575" spcFirstLastPara="1" rIns="68575" wrap="square" tIns="34275">
            <a:noAutofit/>
          </a:bodyPr>
          <a:lstStyle/>
          <a:p>
            <a:pPr indent="0" lvl="0" marL="0" marR="0" rtl="0" algn="l">
              <a:lnSpc>
                <a:spcPct val="115000"/>
              </a:lnSpc>
              <a:spcBef>
                <a:spcPts val="0"/>
              </a:spcBef>
              <a:spcAft>
                <a:spcPts val="0"/>
              </a:spcAft>
              <a:buClr>
                <a:srgbClr val="FFFFFF"/>
              </a:buClr>
              <a:buSzPts val="1000"/>
              <a:buFont typeface="Calibri"/>
              <a:buNone/>
            </a:pPr>
            <a:r>
              <a:rPr b="1" i="0" lang="fr" sz="1300" u="none" cap="none" strike="noStrike">
                <a:solidFill>
                  <a:srgbClr val="FFFFFF"/>
                </a:solidFill>
                <a:latin typeface="Calibri"/>
                <a:ea typeface="Calibri"/>
                <a:cs typeface="Calibri"/>
                <a:sym typeface="Calibri"/>
              </a:rPr>
              <a:t>Estimate</a:t>
            </a:r>
            <a:endParaRPr i="0" sz="13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FFFFFF"/>
              </a:buClr>
              <a:buSzPts val="1000"/>
              <a:buFont typeface="Calibri"/>
              <a:buNone/>
            </a:pPr>
            <a:r>
              <a:rPr b="1" i="0" lang="fr" sz="1300" u="none" cap="none" strike="noStrike">
                <a:solidFill>
                  <a:srgbClr val="FFFFFF"/>
                </a:solidFill>
                <a:latin typeface="Calibri"/>
                <a:ea typeface="Calibri"/>
                <a:cs typeface="Calibri"/>
                <a:sym typeface="Calibri"/>
              </a:rPr>
              <a:t>appears</a:t>
            </a:r>
            <a:endParaRPr i="0" sz="1300" u="none" cap="none" strike="noStrike">
              <a:solidFill>
                <a:schemeClr val="dk1"/>
              </a:solidFill>
              <a:latin typeface="Calibri"/>
              <a:ea typeface="Calibri"/>
              <a:cs typeface="Calibri"/>
              <a:sym typeface="Calibri"/>
            </a:endParaRPr>
          </a:p>
        </p:txBody>
      </p:sp>
      <p:cxnSp>
        <p:nvCxnSpPr>
          <p:cNvPr id="304" name="Google Shape;304;p30"/>
          <p:cNvCxnSpPr/>
          <p:nvPr/>
        </p:nvCxnSpPr>
        <p:spPr>
          <a:xfrm>
            <a:off x="480060" y="2434590"/>
            <a:ext cx="8161020" cy="0"/>
          </a:xfrm>
          <a:prstGeom prst="straightConnector1">
            <a:avLst/>
          </a:prstGeom>
          <a:noFill/>
          <a:ln cap="flat" cmpd="sng" w="12700">
            <a:solidFill>
              <a:srgbClr val="2A2A2A"/>
            </a:solidFill>
            <a:prstDash val="solid"/>
            <a:round/>
            <a:headEnd len="sm" w="sm" type="none"/>
            <a:tailEnd len="sm" w="sm" type="none"/>
          </a:ln>
        </p:spPr>
      </p:cxnSp>
      <p:sp>
        <p:nvSpPr>
          <p:cNvPr id="305" name="Google Shape;305;p30"/>
          <p:cNvSpPr/>
          <p:nvPr/>
        </p:nvSpPr>
        <p:spPr>
          <a:xfrm>
            <a:off x="480060" y="2640330"/>
            <a:ext cx="8160900" cy="2057400"/>
          </a:xfrm>
          <a:prstGeom prst="rect">
            <a:avLst/>
          </a:prstGeom>
          <a:noFill/>
          <a:ln>
            <a:noFill/>
          </a:ln>
        </p:spPr>
        <p:txBody>
          <a:bodyPr anchorCtr="0" anchor="ctr" bIns="34275" lIns="68575" spcFirstLastPara="1" rIns="68575" wrap="square" tIns="34275">
            <a:noAutofit/>
          </a:bodyPr>
          <a:lstStyle/>
          <a:p>
            <a:pPr indent="0" lvl="0" marL="0" marR="0" rtl="0" algn="l">
              <a:lnSpc>
                <a:spcPct val="130000"/>
              </a:lnSpc>
              <a:spcBef>
                <a:spcPts val="0"/>
              </a:spcBef>
              <a:spcAft>
                <a:spcPts val="0"/>
              </a:spcAft>
              <a:buClr>
                <a:srgbClr val="0000FF"/>
              </a:buClr>
              <a:buSzPts val="1100"/>
              <a:buFont typeface="Calibri"/>
              <a:buNone/>
            </a:pPr>
            <a:r>
              <a:rPr b="1" i="0" lang="fr" sz="1100" u="none" cap="none" strike="noStrike">
                <a:solidFill>
                  <a:srgbClr val="0000FF"/>
                </a:solidFill>
                <a:latin typeface="Calibri"/>
                <a:ea typeface="Calibri"/>
                <a:cs typeface="Calibri"/>
                <a:sym typeface="Calibri"/>
              </a:rPr>
              <a:t>1  </a:t>
            </a:r>
            <a:r>
              <a:rPr b="0" i="0" lang="fr" sz="1100" u="none" cap="none" strike="noStrike">
                <a:solidFill>
                  <a:srgbClr val="D9D9D9"/>
                </a:solidFill>
                <a:latin typeface="Calibri"/>
                <a:ea typeface="Calibri"/>
                <a:cs typeface="Calibri"/>
                <a:sym typeface="Calibri"/>
              </a:rPr>
              <a:t>The seller enters</a:t>
            </a:r>
            <a:r>
              <a:rPr lang="fr" sz="1100">
                <a:solidFill>
                  <a:srgbClr val="D9D9D9"/>
                </a:solidFill>
                <a:latin typeface="Calibri"/>
                <a:ea typeface="Calibri"/>
                <a:cs typeface="Calibri"/>
                <a:sym typeface="Calibri"/>
              </a:rPr>
              <a:t> a new listing  : </a:t>
            </a:r>
            <a:r>
              <a:rPr b="0" i="0" lang="fr" sz="1100" u="none" cap="none" strike="noStrike">
                <a:solidFill>
                  <a:srgbClr val="D9D9D9"/>
                </a:solidFill>
                <a:latin typeface="Calibri"/>
                <a:ea typeface="Calibri"/>
                <a:cs typeface="Calibri"/>
                <a:sym typeface="Calibri"/>
              </a:rPr>
              <a:t>area, year built, arrondissement, rooms, amenities</a:t>
            </a:r>
            <a:r>
              <a:rPr lang="fr" sz="1100">
                <a:solidFill>
                  <a:srgbClr val="D9D9D9"/>
                </a:solidFill>
                <a:latin typeface="Calibri"/>
                <a:ea typeface="Calibri"/>
                <a:cs typeface="Calibri"/>
                <a:sym typeface="Calibri"/>
              </a:rPr>
              <a:t>…</a:t>
            </a:r>
            <a:br>
              <a:rPr b="0" i="0" lang="fr" sz="1100" u="none" cap="none" strike="noStrike">
                <a:solidFill>
                  <a:srgbClr val="D9D9D9"/>
                </a:solidFill>
                <a:latin typeface="Calibri"/>
                <a:ea typeface="Calibri"/>
                <a:cs typeface="Calibri"/>
                <a:sym typeface="Calibri"/>
              </a:rPr>
            </a:br>
            <a:br>
              <a:rPr b="0" i="0" lang="fr" sz="1100" u="none" cap="none" strike="noStrike">
                <a:solidFill>
                  <a:srgbClr val="D9D9D9"/>
                </a:solidFill>
                <a:latin typeface="Calibri"/>
                <a:ea typeface="Calibri"/>
                <a:cs typeface="Calibri"/>
                <a:sym typeface="Calibri"/>
              </a:rPr>
            </a:br>
            <a:endParaRPr b="0" i="0" sz="11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FF"/>
              </a:buClr>
              <a:buSzPts val="1100"/>
              <a:buFont typeface="Calibri"/>
              <a:buNone/>
            </a:pPr>
            <a:r>
              <a:rPr b="1" i="0" lang="fr" sz="1100" u="none" cap="none" strike="noStrike">
                <a:solidFill>
                  <a:srgbClr val="0000FF"/>
                </a:solidFill>
                <a:latin typeface="Calibri"/>
                <a:ea typeface="Calibri"/>
                <a:cs typeface="Calibri"/>
                <a:sym typeface="Calibri"/>
              </a:rPr>
              <a:t>2  </a:t>
            </a:r>
            <a:r>
              <a:rPr b="0" i="0" lang="fr" sz="1100" u="none" cap="none" strike="noStrike">
                <a:solidFill>
                  <a:srgbClr val="D9D9D9"/>
                </a:solidFill>
                <a:latin typeface="Calibri"/>
                <a:ea typeface="Calibri"/>
                <a:cs typeface="Calibri"/>
                <a:sym typeface="Calibri"/>
              </a:rPr>
              <a:t>Before they've typed an asking price, the platform already has an estimate ready.</a:t>
            </a:r>
            <a:br>
              <a:rPr b="0" i="0" lang="fr" sz="1100" u="none" cap="none" strike="noStrike">
                <a:solidFill>
                  <a:srgbClr val="D9D9D9"/>
                </a:solidFill>
                <a:latin typeface="Calibri"/>
                <a:ea typeface="Calibri"/>
                <a:cs typeface="Calibri"/>
                <a:sym typeface="Calibri"/>
              </a:rPr>
            </a:br>
            <a:br>
              <a:rPr b="0" i="0" lang="fr" sz="1100" u="none" cap="none" strike="noStrike">
                <a:solidFill>
                  <a:srgbClr val="D9D9D9"/>
                </a:solidFill>
                <a:latin typeface="Calibri"/>
                <a:ea typeface="Calibri"/>
                <a:cs typeface="Calibri"/>
                <a:sym typeface="Calibri"/>
              </a:rPr>
            </a:br>
            <a:endParaRPr b="0" i="0" sz="11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FF"/>
              </a:buClr>
              <a:buSzPts val="1100"/>
              <a:buFont typeface="Calibri"/>
              <a:buNone/>
            </a:pPr>
            <a:r>
              <a:rPr b="1" i="0" lang="fr" sz="1100" u="none" cap="none" strike="noStrike">
                <a:solidFill>
                  <a:srgbClr val="0000FF"/>
                </a:solidFill>
                <a:latin typeface="Calibri"/>
                <a:ea typeface="Calibri"/>
                <a:cs typeface="Calibri"/>
                <a:sym typeface="Calibri"/>
              </a:rPr>
              <a:t>3  </a:t>
            </a:r>
            <a:r>
              <a:rPr b="0" i="0" lang="fr" sz="1100" u="none" cap="none" strike="noStrike">
                <a:solidFill>
                  <a:srgbClr val="D9D9D9"/>
                </a:solidFill>
                <a:latin typeface="Calibri"/>
                <a:ea typeface="Calibri"/>
                <a:cs typeface="Calibri"/>
                <a:sym typeface="Calibri"/>
              </a:rPr>
              <a:t>It's shown as a range </a:t>
            </a:r>
            <a:r>
              <a:rPr lang="fr" sz="1100">
                <a:solidFill>
                  <a:srgbClr val="D9D9D9"/>
                </a:solidFill>
                <a:latin typeface="Calibri"/>
                <a:ea typeface="Calibri"/>
                <a:cs typeface="Calibri"/>
                <a:sym typeface="Calibri"/>
              </a:rPr>
              <a:t> (</a:t>
            </a:r>
            <a:r>
              <a:rPr b="0" i="0" lang="fr" sz="1100" u="none" cap="none" strike="noStrike">
                <a:solidFill>
                  <a:srgbClr val="D9D9D9"/>
                </a:solidFill>
                <a:latin typeface="Calibri"/>
                <a:ea typeface="Calibri"/>
                <a:cs typeface="Calibri"/>
                <a:sym typeface="Calibri"/>
              </a:rPr>
              <a:t>€630k to €670k </a:t>
            </a:r>
            <a:r>
              <a:rPr lang="fr" sz="1100">
                <a:solidFill>
                  <a:srgbClr val="D9D9D9"/>
                </a:solidFill>
                <a:latin typeface="Calibri"/>
                <a:ea typeface="Calibri"/>
                <a:cs typeface="Calibri"/>
                <a:sym typeface="Calibri"/>
              </a:rPr>
              <a:t>)</a:t>
            </a:r>
            <a:r>
              <a:rPr b="0" i="0" lang="fr" sz="1100" u="none" cap="none" strike="noStrike">
                <a:solidFill>
                  <a:srgbClr val="D9D9D9"/>
                </a:solidFill>
                <a:latin typeface="Calibri"/>
                <a:ea typeface="Calibri"/>
                <a:cs typeface="Calibri"/>
                <a:sym typeface="Calibri"/>
              </a:rPr>
              <a:t> not a single numbe</a:t>
            </a:r>
            <a:r>
              <a:rPr lang="fr" sz="1100">
                <a:solidFill>
                  <a:srgbClr val="D9D9D9"/>
                </a:solidFill>
                <a:latin typeface="Calibri"/>
                <a:ea typeface="Calibri"/>
                <a:cs typeface="Calibri"/>
                <a:sym typeface="Calibri"/>
              </a:rPr>
              <a:t>r</a:t>
            </a:r>
            <a:br>
              <a:rPr b="0" i="0" lang="fr" sz="1100" u="none" cap="none" strike="noStrike">
                <a:solidFill>
                  <a:srgbClr val="D9D9D9"/>
                </a:solidFill>
                <a:latin typeface="Calibri"/>
                <a:ea typeface="Calibri"/>
                <a:cs typeface="Calibri"/>
                <a:sym typeface="Calibri"/>
              </a:rPr>
            </a:br>
            <a:br>
              <a:rPr b="0" i="0" lang="fr" sz="1100" u="none" cap="none" strike="noStrike">
                <a:solidFill>
                  <a:srgbClr val="D9D9D9"/>
                </a:solidFill>
                <a:latin typeface="Calibri"/>
                <a:ea typeface="Calibri"/>
                <a:cs typeface="Calibri"/>
                <a:sym typeface="Calibri"/>
              </a:rPr>
            </a:br>
            <a:endParaRPr b="0" i="0" sz="11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0000FF"/>
              </a:buClr>
              <a:buSzPts val="1100"/>
              <a:buFont typeface="Calibri"/>
              <a:buNone/>
            </a:pPr>
            <a:r>
              <a:rPr b="1" i="0" lang="fr" sz="1100" u="none" cap="none" strike="noStrike">
                <a:solidFill>
                  <a:srgbClr val="0000FF"/>
                </a:solidFill>
                <a:latin typeface="Calibri"/>
                <a:ea typeface="Calibri"/>
                <a:cs typeface="Calibri"/>
                <a:sym typeface="Calibri"/>
              </a:rPr>
              <a:t>4  </a:t>
            </a:r>
            <a:r>
              <a:rPr b="0" i="0" lang="fr" sz="1100" u="none" cap="none" strike="noStrike">
                <a:solidFill>
                  <a:srgbClr val="D9D9D9"/>
                </a:solidFill>
                <a:latin typeface="Calibri"/>
                <a:ea typeface="Calibri"/>
                <a:cs typeface="Calibri"/>
                <a:sym typeface="Calibri"/>
              </a:rPr>
              <a:t>The seller prices with real market context, drawn from roughly comparable transactions.</a:t>
            </a:r>
            <a:endParaRPr b="0" i="0" sz="1100" u="none" cap="none" strike="noStrike">
              <a:solidFill>
                <a:schemeClr val="dk1"/>
              </a:solidFill>
              <a:latin typeface="Calibri"/>
              <a:ea typeface="Calibri"/>
              <a:cs typeface="Calibri"/>
              <a:sym typeface="Calibri"/>
            </a:endParaRPr>
          </a:p>
        </p:txBody>
      </p:sp>
      <p:sp>
        <p:nvSpPr>
          <p:cNvPr id="306" name="Google Shape;306;p30"/>
          <p:cNvSpPr/>
          <p:nvPr/>
        </p:nvSpPr>
        <p:spPr>
          <a:xfrm>
            <a:off x="8558784" y="4855464"/>
            <a:ext cx="274320"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55575C"/>
              </a:buClr>
              <a:buSzPts val="800"/>
              <a:buFont typeface="Calibri"/>
              <a:buNone/>
            </a:pPr>
            <a:r>
              <a:rPr lang="fr" sz="800">
                <a:solidFill>
                  <a:srgbClr val="55575C"/>
                </a:solidFill>
                <a:latin typeface="Calibri"/>
                <a:ea typeface="Calibri"/>
                <a:cs typeface="Calibri"/>
                <a:sym typeface="Calibri"/>
              </a:rPr>
              <a:t>16</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1" name="Shape 311"/>
        <p:cNvGrpSpPr/>
        <p:nvPr/>
      </p:nvGrpSpPr>
      <p:grpSpPr>
        <a:xfrm>
          <a:off x="0" y="0"/>
          <a:ext cx="0" cy="0"/>
          <a:chOff x="0" y="0"/>
          <a:chExt cx="0" cy="0"/>
        </a:xfrm>
      </p:grpSpPr>
      <p:pic>
        <p:nvPicPr>
          <p:cNvPr descr="preencoded.png" id="312" name="Google Shape;312;p31"/>
          <p:cNvPicPr preferRelativeResize="0"/>
          <p:nvPr/>
        </p:nvPicPr>
        <p:blipFill rotWithShape="1">
          <a:blip r:embed="rId3">
            <a:alphaModFix/>
          </a:blip>
          <a:srcRect b="0" l="0" r="0" t="0"/>
          <a:stretch/>
        </p:blipFill>
        <p:spPr>
          <a:xfrm>
            <a:off x="7838694" y="274320"/>
            <a:ext cx="925830" cy="152029"/>
          </a:xfrm>
          <a:prstGeom prst="rect">
            <a:avLst/>
          </a:prstGeom>
          <a:noFill/>
          <a:ln>
            <a:noFill/>
          </a:ln>
        </p:spPr>
      </p:pic>
      <p:sp>
        <p:nvSpPr>
          <p:cNvPr id="313" name="Google Shape;313;p31"/>
          <p:cNvSpPr/>
          <p:nvPr/>
        </p:nvSpPr>
        <p:spPr>
          <a:xfrm>
            <a:off x="480060" y="315468"/>
            <a:ext cx="6172200" cy="219456"/>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428FF"/>
              </a:buClr>
              <a:buSzPts val="800"/>
              <a:buFont typeface="Calibri"/>
              <a:buNone/>
            </a:pPr>
            <a:r>
              <a:rPr b="1" i="0" lang="fr" sz="800" u="none" cap="none" strike="noStrike">
                <a:solidFill>
                  <a:srgbClr val="1428FF"/>
                </a:solidFill>
                <a:latin typeface="Calibri"/>
                <a:ea typeface="Calibri"/>
                <a:cs typeface="Calibri"/>
                <a:sym typeface="Calibri"/>
              </a:rPr>
              <a:t>8 · DEPLOYMENT SCENARIO</a:t>
            </a:r>
            <a:endParaRPr b="0" i="0" sz="800" u="none" cap="none" strike="noStrike">
              <a:solidFill>
                <a:schemeClr val="dk1"/>
              </a:solidFill>
              <a:latin typeface="Calibri"/>
              <a:ea typeface="Calibri"/>
              <a:cs typeface="Calibri"/>
              <a:sym typeface="Calibri"/>
            </a:endParaRPr>
          </a:p>
        </p:txBody>
      </p:sp>
      <p:sp>
        <p:nvSpPr>
          <p:cNvPr id="314" name="Google Shape;314;p31"/>
          <p:cNvSpPr/>
          <p:nvPr/>
        </p:nvSpPr>
        <p:spPr>
          <a:xfrm>
            <a:off x="480060" y="651510"/>
            <a:ext cx="8023860" cy="51435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7181C"/>
              </a:buClr>
              <a:buSzPts val="1900"/>
              <a:buFont typeface="Cambria"/>
              <a:buNone/>
            </a:pPr>
            <a:r>
              <a:rPr b="1" lang="fr" sz="1900">
                <a:solidFill>
                  <a:srgbClr val="17181C"/>
                </a:solidFill>
                <a:latin typeface="Cambria"/>
                <a:ea typeface="Cambria"/>
                <a:cs typeface="Cambria"/>
                <a:sym typeface="Cambria"/>
              </a:rPr>
              <a:t>Potential Product </a:t>
            </a:r>
            <a:endParaRPr b="0" i="0" sz="1900" u="none" cap="none" strike="noStrike">
              <a:solidFill>
                <a:schemeClr val="dk1"/>
              </a:solidFill>
              <a:latin typeface="Calibri"/>
              <a:ea typeface="Calibri"/>
              <a:cs typeface="Calibri"/>
              <a:sym typeface="Calibri"/>
            </a:endParaRPr>
          </a:p>
        </p:txBody>
      </p:sp>
      <p:sp>
        <p:nvSpPr>
          <p:cNvPr id="315" name="Google Shape;315;p31"/>
          <p:cNvSpPr/>
          <p:nvPr/>
        </p:nvSpPr>
        <p:spPr>
          <a:xfrm>
            <a:off x="480060" y="1577340"/>
            <a:ext cx="617220" cy="4114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D8D7D2"/>
              </a:buClr>
              <a:buSzPts val="1700"/>
              <a:buFont typeface="Cambria"/>
              <a:buNone/>
            </a:pPr>
            <a:r>
              <a:rPr b="1" i="0" lang="fr" sz="1700" u="none" cap="none" strike="noStrike">
                <a:solidFill>
                  <a:srgbClr val="1428FF"/>
                </a:solidFill>
                <a:latin typeface="Cambria"/>
                <a:ea typeface="Cambria"/>
                <a:cs typeface="Cambria"/>
                <a:sym typeface="Cambria"/>
              </a:rPr>
              <a:t>01</a:t>
            </a:r>
            <a:endParaRPr b="0" i="0" sz="1700" u="none" cap="none" strike="noStrike">
              <a:solidFill>
                <a:srgbClr val="1428FF"/>
              </a:solidFill>
              <a:latin typeface="Calibri"/>
              <a:ea typeface="Calibri"/>
              <a:cs typeface="Calibri"/>
              <a:sym typeface="Calibri"/>
            </a:endParaRPr>
          </a:p>
        </p:txBody>
      </p:sp>
      <p:sp>
        <p:nvSpPr>
          <p:cNvPr id="316" name="Google Shape;316;p31"/>
          <p:cNvSpPr/>
          <p:nvPr/>
        </p:nvSpPr>
        <p:spPr>
          <a:xfrm>
            <a:off x="1097280" y="1611630"/>
            <a:ext cx="3017520" cy="41148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17181C"/>
              </a:buClr>
              <a:buSzPts val="1100"/>
              <a:buFont typeface="Calibri"/>
              <a:buNone/>
            </a:pPr>
            <a:r>
              <a:rPr b="1" i="0" lang="fr" sz="1300" u="none" cap="none" strike="noStrike">
                <a:solidFill>
                  <a:srgbClr val="17181C"/>
                </a:solidFill>
                <a:latin typeface="Calibri"/>
                <a:ea typeface="Calibri"/>
                <a:cs typeface="Calibri"/>
                <a:sym typeface="Calibri"/>
              </a:rPr>
              <a:t>Flag it if it's overpriced.</a:t>
            </a:r>
            <a:endParaRPr b="0" i="0" sz="1300" u="none" cap="none" strike="noStrike">
              <a:solidFill>
                <a:schemeClr val="dk1"/>
              </a:solidFill>
              <a:latin typeface="Calibri"/>
              <a:ea typeface="Calibri"/>
              <a:cs typeface="Calibri"/>
              <a:sym typeface="Calibri"/>
            </a:endParaRPr>
          </a:p>
        </p:txBody>
      </p:sp>
      <p:sp>
        <p:nvSpPr>
          <p:cNvPr id="317" name="Google Shape;317;p31"/>
          <p:cNvSpPr/>
          <p:nvPr/>
        </p:nvSpPr>
        <p:spPr>
          <a:xfrm>
            <a:off x="4251960" y="1611630"/>
            <a:ext cx="4389120" cy="685800"/>
          </a:xfrm>
          <a:prstGeom prst="rect">
            <a:avLst/>
          </a:prstGeom>
          <a:noFill/>
          <a:ln>
            <a:noFill/>
          </a:ln>
        </p:spPr>
        <p:txBody>
          <a:bodyPr anchorCtr="0" anchor="t" bIns="34275" lIns="68575" spcFirstLastPara="1" rIns="68575" wrap="square" tIns="34275">
            <a:noAutofit/>
          </a:bodyPr>
          <a:lstStyle/>
          <a:p>
            <a:pPr indent="0" lvl="0" marL="0" marR="0" rtl="0" algn="l">
              <a:lnSpc>
                <a:spcPct val="130000"/>
              </a:lnSpc>
              <a:spcBef>
                <a:spcPts val="0"/>
              </a:spcBef>
              <a:spcAft>
                <a:spcPts val="0"/>
              </a:spcAft>
              <a:buClr>
                <a:srgbClr val="6B6F76"/>
              </a:buClr>
              <a:buSzPts val="1000"/>
              <a:buFont typeface="Calibri"/>
              <a:buNone/>
            </a:pPr>
            <a:r>
              <a:rPr b="0" i="0" lang="fr" sz="1100" u="none" cap="none" strike="noStrike">
                <a:solidFill>
                  <a:srgbClr val="6B6F76"/>
                </a:solidFill>
                <a:latin typeface="Calibri"/>
                <a:ea typeface="Calibri"/>
                <a:cs typeface="Calibri"/>
                <a:sym typeface="Calibri"/>
              </a:rPr>
              <a:t>A listing well above the model's estimate is a candidate for a seller nudge before it stalls on the market.</a:t>
            </a:r>
            <a:endParaRPr b="0" i="0" sz="1100" u="none" cap="none" strike="noStrike">
              <a:solidFill>
                <a:schemeClr val="dk1"/>
              </a:solidFill>
              <a:latin typeface="Calibri"/>
              <a:ea typeface="Calibri"/>
              <a:cs typeface="Calibri"/>
              <a:sym typeface="Calibri"/>
            </a:endParaRPr>
          </a:p>
        </p:txBody>
      </p:sp>
      <p:cxnSp>
        <p:nvCxnSpPr>
          <p:cNvPr id="318" name="Google Shape;318;p31"/>
          <p:cNvCxnSpPr/>
          <p:nvPr/>
        </p:nvCxnSpPr>
        <p:spPr>
          <a:xfrm>
            <a:off x="480060" y="2400300"/>
            <a:ext cx="8161020" cy="0"/>
          </a:xfrm>
          <a:prstGeom prst="straightConnector1">
            <a:avLst/>
          </a:prstGeom>
          <a:noFill/>
          <a:ln cap="flat" cmpd="sng" w="12700">
            <a:solidFill>
              <a:srgbClr val="1428FF"/>
            </a:solidFill>
            <a:prstDash val="solid"/>
            <a:round/>
            <a:headEnd len="sm" w="sm" type="none"/>
            <a:tailEnd len="sm" w="sm" type="none"/>
          </a:ln>
        </p:spPr>
      </p:cxnSp>
      <p:sp>
        <p:nvSpPr>
          <p:cNvPr id="319" name="Google Shape;319;p31"/>
          <p:cNvSpPr/>
          <p:nvPr/>
        </p:nvSpPr>
        <p:spPr>
          <a:xfrm>
            <a:off x="480060" y="2503170"/>
            <a:ext cx="617220" cy="4114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D8D7D2"/>
              </a:buClr>
              <a:buSzPts val="1700"/>
              <a:buFont typeface="Cambria"/>
              <a:buNone/>
            </a:pPr>
            <a:r>
              <a:rPr b="1" i="0" lang="fr" sz="1700" u="none" cap="none" strike="noStrike">
                <a:solidFill>
                  <a:srgbClr val="1428FF"/>
                </a:solidFill>
                <a:latin typeface="Cambria"/>
                <a:ea typeface="Cambria"/>
                <a:cs typeface="Cambria"/>
                <a:sym typeface="Cambria"/>
              </a:rPr>
              <a:t>02</a:t>
            </a:r>
            <a:endParaRPr b="0" i="0" sz="1700" u="none" cap="none" strike="noStrike">
              <a:solidFill>
                <a:srgbClr val="1428FF"/>
              </a:solidFill>
              <a:latin typeface="Calibri"/>
              <a:ea typeface="Calibri"/>
              <a:cs typeface="Calibri"/>
              <a:sym typeface="Calibri"/>
            </a:endParaRPr>
          </a:p>
        </p:txBody>
      </p:sp>
      <p:sp>
        <p:nvSpPr>
          <p:cNvPr id="320" name="Google Shape;320;p31"/>
          <p:cNvSpPr/>
          <p:nvPr/>
        </p:nvSpPr>
        <p:spPr>
          <a:xfrm>
            <a:off x="1097280" y="2537460"/>
            <a:ext cx="3017520" cy="41148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17181C"/>
              </a:buClr>
              <a:buSzPts val="1100"/>
              <a:buFont typeface="Calibri"/>
              <a:buNone/>
            </a:pPr>
            <a:r>
              <a:rPr b="1" i="0" lang="fr" sz="1300" u="none" cap="none" strike="noStrike">
                <a:solidFill>
                  <a:srgbClr val="17181C"/>
                </a:solidFill>
                <a:latin typeface="Calibri"/>
                <a:ea typeface="Calibri"/>
                <a:cs typeface="Calibri"/>
                <a:sym typeface="Calibri"/>
              </a:rPr>
              <a:t>Flag it if it's underpriced.</a:t>
            </a:r>
            <a:endParaRPr b="0" i="0" sz="1300" u="none" cap="none" strike="noStrike">
              <a:solidFill>
                <a:schemeClr val="dk1"/>
              </a:solidFill>
              <a:latin typeface="Calibri"/>
              <a:ea typeface="Calibri"/>
              <a:cs typeface="Calibri"/>
              <a:sym typeface="Calibri"/>
            </a:endParaRPr>
          </a:p>
        </p:txBody>
      </p:sp>
      <p:sp>
        <p:nvSpPr>
          <p:cNvPr id="321" name="Google Shape;321;p31"/>
          <p:cNvSpPr/>
          <p:nvPr/>
        </p:nvSpPr>
        <p:spPr>
          <a:xfrm>
            <a:off x="4251960" y="2537460"/>
            <a:ext cx="4389120" cy="685800"/>
          </a:xfrm>
          <a:prstGeom prst="rect">
            <a:avLst/>
          </a:prstGeom>
          <a:noFill/>
          <a:ln>
            <a:noFill/>
          </a:ln>
        </p:spPr>
        <p:txBody>
          <a:bodyPr anchorCtr="0" anchor="t" bIns="34275" lIns="68575" spcFirstLastPara="1" rIns="68575" wrap="square" tIns="34275">
            <a:noAutofit/>
          </a:bodyPr>
          <a:lstStyle/>
          <a:p>
            <a:pPr indent="0" lvl="0" marL="0" marR="0" rtl="0" algn="l">
              <a:lnSpc>
                <a:spcPct val="130000"/>
              </a:lnSpc>
              <a:spcBef>
                <a:spcPts val="0"/>
              </a:spcBef>
              <a:spcAft>
                <a:spcPts val="0"/>
              </a:spcAft>
              <a:buClr>
                <a:srgbClr val="6B6F76"/>
              </a:buClr>
              <a:buSzPts val="1000"/>
              <a:buFont typeface="Calibri"/>
              <a:buNone/>
            </a:pPr>
            <a:r>
              <a:rPr b="0" i="0" lang="fr" sz="1100" u="none" cap="none" strike="noStrike">
                <a:solidFill>
                  <a:srgbClr val="6B6F76"/>
                </a:solidFill>
                <a:latin typeface="Calibri"/>
                <a:ea typeface="Calibri"/>
                <a:cs typeface="Calibri"/>
                <a:sym typeface="Calibri"/>
              </a:rPr>
              <a:t>The inverse </a:t>
            </a:r>
            <a:r>
              <a:rPr lang="fr" sz="1100">
                <a:solidFill>
                  <a:srgbClr val="6B6F76"/>
                </a:solidFill>
                <a:latin typeface="Calibri"/>
                <a:ea typeface="Calibri"/>
                <a:cs typeface="Calibri"/>
                <a:sym typeface="Calibri"/>
              </a:rPr>
              <a:t> : </a:t>
            </a:r>
            <a:r>
              <a:rPr b="0" i="0" lang="fr" sz="1100" u="none" cap="none" strike="noStrike">
                <a:solidFill>
                  <a:srgbClr val="6B6F76"/>
                </a:solidFill>
                <a:latin typeface="Calibri"/>
                <a:ea typeface="Calibri"/>
                <a:cs typeface="Calibri"/>
                <a:sym typeface="Calibri"/>
              </a:rPr>
              <a:t>useful signal for buyers and investors scanning for value.</a:t>
            </a:r>
            <a:endParaRPr b="0" i="0" sz="1100" u="none" cap="none" strike="noStrike">
              <a:solidFill>
                <a:schemeClr val="dk1"/>
              </a:solidFill>
              <a:latin typeface="Calibri"/>
              <a:ea typeface="Calibri"/>
              <a:cs typeface="Calibri"/>
              <a:sym typeface="Calibri"/>
            </a:endParaRPr>
          </a:p>
        </p:txBody>
      </p:sp>
      <p:cxnSp>
        <p:nvCxnSpPr>
          <p:cNvPr id="322" name="Google Shape;322;p31"/>
          <p:cNvCxnSpPr/>
          <p:nvPr/>
        </p:nvCxnSpPr>
        <p:spPr>
          <a:xfrm>
            <a:off x="480060" y="3326130"/>
            <a:ext cx="8161020" cy="0"/>
          </a:xfrm>
          <a:prstGeom prst="straightConnector1">
            <a:avLst/>
          </a:prstGeom>
          <a:noFill/>
          <a:ln cap="flat" cmpd="sng" w="12700">
            <a:solidFill>
              <a:srgbClr val="1428FF"/>
            </a:solidFill>
            <a:prstDash val="solid"/>
            <a:round/>
            <a:headEnd len="sm" w="sm" type="none"/>
            <a:tailEnd len="sm" w="sm" type="none"/>
          </a:ln>
        </p:spPr>
      </p:cxnSp>
      <p:sp>
        <p:nvSpPr>
          <p:cNvPr id="323" name="Google Shape;323;p31"/>
          <p:cNvSpPr/>
          <p:nvPr/>
        </p:nvSpPr>
        <p:spPr>
          <a:xfrm>
            <a:off x="480060" y="3429000"/>
            <a:ext cx="617220" cy="4114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D8D7D2"/>
              </a:buClr>
              <a:buSzPts val="1700"/>
              <a:buFont typeface="Cambria"/>
              <a:buNone/>
            </a:pPr>
            <a:r>
              <a:rPr b="1" i="0" lang="fr" sz="1700" u="none" cap="none" strike="noStrike">
                <a:solidFill>
                  <a:srgbClr val="1428FF"/>
                </a:solidFill>
                <a:latin typeface="Cambria"/>
                <a:ea typeface="Cambria"/>
                <a:cs typeface="Cambria"/>
                <a:sym typeface="Cambria"/>
              </a:rPr>
              <a:t>03</a:t>
            </a:r>
            <a:endParaRPr b="0" i="0" sz="1700" u="none" cap="none" strike="noStrike">
              <a:solidFill>
                <a:srgbClr val="1428FF"/>
              </a:solidFill>
              <a:latin typeface="Calibri"/>
              <a:ea typeface="Calibri"/>
              <a:cs typeface="Calibri"/>
              <a:sym typeface="Calibri"/>
            </a:endParaRPr>
          </a:p>
        </p:txBody>
      </p:sp>
      <p:sp>
        <p:nvSpPr>
          <p:cNvPr id="324" name="Google Shape;324;p31"/>
          <p:cNvSpPr/>
          <p:nvPr/>
        </p:nvSpPr>
        <p:spPr>
          <a:xfrm>
            <a:off x="1097280" y="3463290"/>
            <a:ext cx="3017520" cy="41148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17181C"/>
              </a:buClr>
              <a:buSzPts val="1100"/>
              <a:buFont typeface="Calibri"/>
              <a:buNone/>
            </a:pPr>
            <a:r>
              <a:rPr b="1" i="0" lang="fr" sz="1300" u="none" cap="none" strike="noStrike">
                <a:solidFill>
                  <a:srgbClr val="17181C"/>
                </a:solidFill>
                <a:latin typeface="Calibri"/>
                <a:ea typeface="Calibri"/>
                <a:cs typeface="Calibri"/>
                <a:sym typeface="Calibri"/>
              </a:rPr>
              <a:t>Rank listings by the gap.</a:t>
            </a:r>
            <a:endParaRPr b="0" i="0" sz="1300" u="none" cap="none" strike="noStrike">
              <a:solidFill>
                <a:schemeClr val="dk1"/>
              </a:solidFill>
              <a:latin typeface="Calibri"/>
              <a:ea typeface="Calibri"/>
              <a:cs typeface="Calibri"/>
              <a:sym typeface="Calibri"/>
            </a:endParaRPr>
          </a:p>
        </p:txBody>
      </p:sp>
      <p:sp>
        <p:nvSpPr>
          <p:cNvPr id="325" name="Google Shape;325;p31"/>
          <p:cNvSpPr/>
          <p:nvPr/>
        </p:nvSpPr>
        <p:spPr>
          <a:xfrm>
            <a:off x="4251960" y="3463290"/>
            <a:ext cx="4389120" cy="685800"/>
          </a:xfrm>
          <a:prstGeom prst="rect">
            <a:avLst/>
          </a:prstGeom>
          <a:noFill/>
          <a:ln>
            <a:noFill/>
          </a:ln>
        </p:spPr>
        <p:txBody>
          <a:bodyPr anchorCtr="0" anchor="t" bIns="34275" lIns="68575" spcFirstLastPara="1" rIns="68575" wrap="square" tIns="34275">
            <a:noAutofit/>
          </a:bodyPr>
          <a:lstStyle/>
          <a:p>
            <a:pPr indent="0" lvl="0" marL="0" marR="0" rtl="0" algn="l">
              <a:lnSpc>
                <a:spcPct val="130000"/>
              </a:lnSpc>
              <a:spcBef>
                <a:spcPts val="0"/>
              </a:spcBef>
              <a:spcAft>
                <a:spcPts val="0"/>
              </a:spcAft>
              <a:buClr>
                <a:srgbClr val="6B6F76"/>
              </a:buClr>
              <a:buSzPts val="1000"/>
              <a:buFont typeface="Calibri"/>
              <a:buNone/>
            </a:pPr>
            <a:r>
              <a:rPr b="0" i="0" lang="fr" sz="1100" u="none" cap="none" strike="noStrike">
                <a:solidFill>
                  <a:srgbClr val="6B6F76"/>
                </a:solidFill>
                <a:latin typeface="Calibri"/>
                <a:ea typeface="Calibri"/>
                <a:cs typeface="Calibri"/>
                <a:sym typeface="Calibri"/>
              </a:rPr>
              <a:t>Sort search results by predicted-versus-asking difference, surfacing the most interesting listings first and potentially </a:t>
            </a:r>
            <a:r>
              <a:rPr lang="fr" sz="1100">
                <a:solidFill>
                  <a:srgbClr val="6B6F76"/>
                </a:solidFill>
                <a:latin typeface="Calibri"/>
                <a:ea typeface="Calibri"/>
                <a:cs typeface="Calibri"/>
                <a:sym typeface="Calibri"/>
              </a:rPr>
              <a:t>c</a:t>
            </a:r>
            <a:r>
              <a:rPr b="0" i="0" lang="fr" sz="1100" u="none" cap="none" strike="noStrike">
                <a:solidFill>
                  <a:srgbClr val="6B6F76"/>
                </a:solidFill>
                <a:latin typeface="Calibri"/>
                <a:ea typeface="Calibri"/>
                <a:cs typeface="Calibri"/>
                <a:sym typeface="Calibri"/>
              </a:rPr>
              <a:t>atch what looks like a scam</a:t>
            </a:r>
            <a:r>
              <a:rPr lang="fr" sz="1100">
                <a:solidFill>
                  <a:srgbClr val="6B6F76"/>
                </a:solidFill>
                <a:latin typeface="Calibri"/>
                <a:ea typeface="Calibri"/>
                <a:cs typeface="Calibri"/>
                <a:sym typeface="Calibri"/>
              </a:rPr>
              <a:t>, p</a:t>
            </a:r>
            <a:r>
              <a:rPr b="0" i="0" lang="fr" sz="1100" u="none" cap="none" strike="noStrike">
                <a:solidFill>
                  <a:srgbClr val="6B6F76"/>
                </a:solidFill>
                <a:latin typeface="Calibri"/>
                <a:ea typeface="Calibri"/>
                <a:cs typeface="Calibri"/>
                <a:sym typeface="Calibri"/>
              </a:rPr>
              <a:t>romote the fair deals</a:t>
            </a:r>
            <a:endParaRPr b="0" i="0" sz="1100" u="none" cap="none" strike="noStrike">
              <a:solidFill>
                <a:srgbClr val="6B6F76"/>
              </a:solidFill>
              <a:latin typeface="Calibri"/>
              <a:ea typeface="Calibri"/>
              <a:cs typeface="Calibri"/>
              <a:sym typeface="Calibri"/>
            </a:endParaRPr>
          </a:p>
          <a:p>
            <a:pPr indent="0" lvl="0" marL="0" marR="0" rtl="0" algn="l">
              <a:lnSpc>
                <a:spcPct val="130000"/>
              </a:lnSpc>
              <a:spcBef>
                <a:spcPts val="0"/>
              </a:spcBef>
              <a:spcAft>
                <a:spcPts val="0"/>
              </a:spcAft>
              <a:buClr>
                <a:srgbClr val="6B6F76"/>
              </a:buClr>
              <a:buSzPts val="1000"/>
              <a:buFont typeface="Calibri"/>
              <a:buNone/>
            </a:pPr>
            <a:r>
              <a:t/>
            </a:r>
            <a:endParaRPr sz="1100">
              <a:solidFill>
                <a:srgbClr val="6B6F76"/>
              </a:solidFill>
              <a:latin typeface="Calibri"/>
              <a:ea typeface="Calibri"/>
              <a:cs typeface="Calibri"/>
              <a:sym typeface="Calibri"/>
            </a:endParaRPr>
          </a:p>
          <a:p>
            <a:pPr indent="0" lvl="0" marL="0" marR="0" rtl="0" algn="l">
              <a:lnSpc>
                <a:spcPct val="130000"/>
              </a:lnSpc>
              <a:spcBef>
                <a:spcPts val="0"/>
              </a:spcBef>
              <a:spcAft>
                <a:spcPts val="0"/>
              </a:spcAft>
              <a:buClr>
                <a:srgbClr val="6B6F76"/>
              </a:buClr>
              <a:buSzPts val="1000"/>
              <a:buFont typeface="Calibri"/>
              <a:buNone/>
            </a:pPr>
            <a:r>
              <a:t/>
            </a:r>
            <a:endParaRPr sz="1100">
              <a:solidFill>
                <a:srgbClr val="6B6F76"/>
              </a:solidFill>
              <a:latin typeface="Calibri"/>
              <a:ea typeface="Calibri"/>
              <a:cs typeface="Calibri"/>
              <a:sym typeface="Calibri"/>
            </a:endParaRPr>
          </a:p>
        </p:txBody>
      </p:sp>
      <p:sp>
        <p:nvSpPr>
          <p:cNvPr id="326" name="Google Shape;326;p31"/>
          <p:cNvSpPr/>
          <p:nvPr/>
        </p:nvSpPr>
        <p:spPr>
          <a:xfrm>
            <a:off x="8558784" y="4855464"/>
            <a:ext cx="274320"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9CA0A8"/>
              </a:buClr>
              <a:buSzPts val="800"/>
              <a:buFont typeface="Calibri"/>
              <a:buNone/>
            </a:pPr>
            <a:r>
              <a:rPr lang="fr" sz="800">
                <a:solidFill>
                  <a:srgbClr val="9CA0A8"/>
                </a:solidFill>
                <a:latin typeface="Calibri"/>
                <a:ea typeface="Calibri"/>
                <a:cs typeface="Calibri"/>
                <a:sym typeface="Calibri"/>
              </a:rPr>
              <a:t>17</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1" name="Shape 331"/>
        <p:cNvGrpSpPr/>
        <p:nvPr/>
      </p:nvGrpSpPr>
      <p:grpSpPr>
        <a:xfrm>
          <a:off x="0" y="0"/>
          <a:ext cx="0" cy="0"/>
          <a:chOff x="0" y="0"/>
          <a:chExt cx="0" cy="0"/>
        </a:xfrm>
      </p:grpSpPr>
      <p:pic>
        <p:nvPicPr>
          <p:cNvPr descr="preencoded.png" id="332" name="Google Shape;332;p32"/>
          <p:cNvPicPr preferRelativeResize="0"/>
          <p:nvPr/>
        </p:nvPicPr>
        <p:blipFill rotWithShape="1">
          <a:blip r:embed="rId3">
            <a:alphaModFix/>
          </a:blip>
          <a:srcRect b="0" l="0" r="0" t="0"/>
          <a:stretch/>
        </p:blipFill>
        <p:spPr>
          <a:xfrm>
            <a:off x="7838694" y="274320"/>
            <a:ext cx="925830" cy="152029"/>
          </a:xfrm>
          <a:prstGeom prst="rect">
            <a:avLst/>
          </a:prstGeom>
          <a:noFill/>
          <a:ln>
            <a:noFill/>
          </a:ln>
        </p:spPr>
      </p:pic>
      <p:sp>
        <p:nvSpPr>
          <p:cNvPr id="333" name="Google Shape;333;p32"/>
          <p:cNvSpPr/>
          <p:nvPr/>
        </p:nvSpPr>
        <p:spPr>
          <a:xfrm>
            <a:off x="480060" y="315468"/>
            <a:ext cx="6172200" cy="219456"/>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428FF"/>
              </a:buClr>
              <a:buSzPts val="800"/>
              <a:buFont typeface="Calibri"/>
              <a:buNone/>
            </a:pPr>
            <a:r>
              <a:rPr b="1" i="0" lang="fr" sz="800" u="none" cap="none" strike="noStrike">
                <a:solidFill>
                  <a:srgbClr val="1428FF"/>
                </a:solidFill>
                <a:latin typeface="Calibri"/>
                <a:ea typeface="Calibri"/>
                <a:cs typeface="Calibri"/>
                <a:sym typeface="Calibri"/>
              </a:rPr>
              <a:t>9 · RISKS &amp; LIMITATIONS</a:t>
            </a:r>
            <a:endParaRPr b="0" i="0" sz="800" u="none" cap="none" strike="noStrike">
              <a:solidFill>
                <a:schemeClr val="dk1"/>
              </a:solidFill>
              <a:latin typeface="Calibri"/>
              <a:ea typeface="Calibri"/>
              <a:cs typeface="Calibri"/>
              <a:sym typeface="Calibri"/>
            </a:endParaRPr>
          </a:p>
        </p:txBody>
      </p:sp>
      <p:sp>
        <p:nvSpPr>
          <p:cNvPr id="334" name="Google Shape;334;p32"/>
          <p:cNvSpPr/>
          <p:nvPr/>
        </p:nvSpPr>
        <p:spPr>
          <a:xfrm>
            <a:off x="480060" y="651510"/>
            <a:ext cx="8092440" cy="5829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7181C"/>
              </a:buClr>
              <a:buSzPts val="1800"/>
              <a:buFont typeface="Cambria"/>
              <a:buNone/>
            </a:pPr>
            <a:r>
              <a:rPr b="1" lang="fr" sz="1800">
                <a:solidFill>
                  <a:srgbClr val="17181C"/>
                </a:solidFill>
                <a:latin typeface="Cambria"/>
                <a:ea typeface="Cambria"/>
                <a:cs typeface="Cambria"/>
                <a:sym typeface="Cambria"/>
              </a:rPr>
              <a:t>Potential Risks &amp; Limitations</a:t>
            </a:r>
            <a:endParaRPr b="0" i="0" sz="1800" u="none" cap="none" strike="noStrike">
              <a:solidFill>
                <a:schemeClr val="dk1"/>
              </a:solidFill>
              <a:latin typeface="Calibri"/>
              <a:ea typeface="Calibri"/>
              <a:cs typeface="Calibri"/>
              <a:sym typeface="Calibri"/>
            </a:endParaRPr>
          </a:p>
        </p:txBody>
      </p:sp>
      <p:sp>
        <p:nvSpPr>
          <p:cNvPr id="335" name="Google Shape;335;p32"/>
          <p:cNvSpPr/>
          <p:nvPr/>
        </p:nvSpPr>
        <p:spPr>
          <a:xfrm>
            <a:off x="480060" y="1474470"/>
            <a:ext cx="617220" cy="51435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D8D7D2"/>
              </a:buClr>
              <a:buSzPts val="2300"/>
              <a:buFont typeface="Cambria"/>
              <a:buNone/>
            </a:pPr>
            <a:r>
              <a:rPr b="1" i="0" lang="fr" sz="2300" u="none" cap="none" strike="noStrike">
                <a:solidFill>
                  <a:srgbClr val="1428FF"/>
                </a:solidFill>
                <a:latin typeface="Cambria"/>
                <a:ea typeface="Cambria"/>
                <a:cs typeface="Cambria"/>
                <a:sym typeface="Cambria"/>
              </a:rPr>
              <a:t>01</a:t>
            </a:r>
            <a:endParaRPr b="0" i="0" sz="2300" u="none" cap="none" strike="noStrike">
              <a:solidFill>
                <a:srgbClr val="1428FF"/>
              </a:solidFill>
              <a:latin typeface="Calibri"/>
              <a:ea typeface="Calibri"/>
              <a:cs typeface="Calibri"/>
              <a:sym typeface="Calibri"/>
            </a:endParaRPr>
          </a:p>
        </p:txBody>
      </p:sp>
      <p:sp>
        <p:nvSpPr>
          <p:cNvPr id="336" name="Google Shape;336;p32"/>
          <p:cNvSpPr/>
          <p:nvPr/>
        </p:nvSpPr>
        <p:spPr>
          <a:xfrm>
            <a:off x="480072" y="1988825"/>
            <a:ext cx="390900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7181C"/>
              </a:buClr>
              <a:buSzPts val="1100"/>
              <a:buFont typeface="Calibri"/>
              <a:buNone/>
            </a:pPr>
            <a:r>
              <a:rPr b="1" lang="fr" sz="1300">
                <a:solidFill>
                  <a:srgbClr val="17181C"/>
                </a:solidFill>
                <a:latin typeface="Calibri"/>
                <a:ea typeface="Calibri"/>
                <a:cs typeface="Calibri"/>
                <a:sym typeface="Calibri"/>
              </a:rPr>
              <a:t>The final output should be an interval not a single value</a:t>
            </a:r>
            <a:endParaRPr b="0" i="0" sz="1300" u="none" cap="none" strike="noStrike">
              <a:solidFill>
                <a:schemeClr val="dk1"/>
              </a:solidFill>
              <a:latin typeface="Calibri"/>
              <a:ea typeface="Calibri"/>
              <a:cs typeface="Calibri"/>
              <a:sym typeface="Calibri"/>
            </a:endParaRPr>
          </a:p>
        </p:txBody>
      </p:sp>
      <p:sp>
        <p:nvSpPr>
          <p:cNvPr id="337" name="Google Shape;337;p32"/>
          <p:cNvSpPr/>
          <p:nvPr/>
        </p:nvSpPr>
        <p:spPr>
          <a:xfrm>
            <a:off x="480097" y="2331838"/>
            <a:ext cx="3909000" cy="617100"/>
          </a:xfrm>
          <a:prstGeom prst="rect">
            <a:avLst/>
          </a:prstGeom>
          <a:noFill/>
          <a:ln>
            <a:noFill/>
          </a:ln>
        </p:spPr>
        <p:txBody>
          <a:bodyPr anchorCtr="0" anchor="ctr" bIns="34275" lIns="68575" spcFirstLastPara="1" rIns="68575" wrap="square" tIns="34275">
            <a:noAutofit/>
          </a:bodyPr>
          <a:lstStyle/>
          <a:p>
            <a:pPr indent="0" lvl="0" marL="0" marR="0" rtl="0" algn="l">
              <a:lnSpc>
                <a:spcPct val="125000"/>
              </a:lnSpc>
              <a:spcBef>
                <a:spcPts val="0"/>
              </a:spcBef>
              <a:spcAft>
                <a:spcPts val="0"/>
              </a:spcAft>
              <a:buClr>
                <a:srgbClr val="6B6F76"/>
              </a:buClr>
              <a:buSzPts val="900"/>
              <a:buFont typeface="Calibri"/>
              <a:buNone/>
            </a:pPr>
            <a:r>
              <a:rPr b="0" i="0" lang="fr" sz="1100" u="none" cap="none" strike="noStrike">
                <a:solidFill>
                  <a:srgbClr val="6B6F76"/>
                </a:solidFill>
                <a:latin typeface="Calibri"/>
                <a:ea typeface="Calibri"/>
                <a:cs typeface="Calibri"/>
                <a:sym typeface="Calibri"/>
              </a:rPr>
              <a:t>A bare number implies false precision the model doesn't have.</a:t>
            </a:r>
            <a:endParaRPr b="0" i="0" sz="1100" u="none" cap="none" strike="noStrike">
              <a:solidFill>
                <a:schemeClr val="dk1"/>
              </a:solidFill>
              <a:latin typeface="Calibri"/>
              <a:ea typeface="Calibri"/>
              <a:cs typeface="Calibri"/>
              <a:sym typeface="Calibri"/>
            </a:endParaRPr>
          </a:p>
        </p:txBody>
      </p:sp>
      <p:sp>
        <p:nvSpPr>
          <p:cNvPr id="338" name="Google Shape;338;p32"/>
          <p:cNvSpPr/>
          <p:nvPr/>
        </p:nvSpPr>
        <p:spPr>
          <a:xfrm>
            <a:off x="4732020" y="1474470"/>
            <a:ext cx="617220" cy="51435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D8D7D2"/>
              </a:buClr>
              <a:buSzPts val="2300"/>
              <a:buFont typeface="Cambria"/>
              <a:buNone/>
            </a:pPr>
            <a:r>
              <a:rPr b="1" i="0" lang="fr" sz="2300" u="none" cap="none" strike="noStrike">
                <a:solidFill>
                  <a:srgbClr val="1428FF"/>
                </a:solidFill>
                <a:latin typeface="Cambria"/>
                <a:ea typeface="Cambria"/>
                <a:cs typeface="Cambria"/>
                <a:sym typeface="Cambria"/>
              </a:rPr>
              <a:t>02</a:t>
            </a:r>
            <a:endParaRPr b="0" i="0" sz="2300" u="none" cap="none" strike="noStrike">
              <a:solidFill>
                <a:srgbClr val="1428FF"/>
              </a:solidFill>
              <a:latin typeface="Calibri"/>
              <a:ea typeface="Calibri"/>
              <a:cs typeface="Calibri"/>
              <a:sym typeface="Calibri"/>
            </a:endParaRPr>
          </a:p>
        </p:txBody>
      </p:sp>
      <p:sp>
        <p:nvSpPr>
          <p:cNvPr id="339" name="Google Shape;339;p32"/>
          <p:cNvSpPr/>
          <p:nvPr/>
        </p:nvSpPr>
        <p:spPr>
          <a:xfrm>
            <a:off x="4732020" y="1885950"/>
            <a:ext cx="390906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7181C"/>
              </a:buClr>
              <a:buSzPts val="1100"/>
              <a:buFont typeface="Calibri"/>
              <a:buNone/>
            </a:pPr>
            <a:r>
              <a:rPr b="1" i="0" lang="fr" sz="1300" u="none" cap="none" strike="noStrike">
                <a:solidFill>
                  <a:srgbClr val="17181C"/>
                </a:solidFill>
                <a:latin typeface="Calibri"/>
                <a:ea typeface="Calibri"/>
                <a:cs typeface="Calibri"/>
                <a:sym typeface="Calibri"/>
              </a:rPr>
              <a:t>Flag low-confidence listings</a:t>
            </a:r>
            <a:endParaRPr b="0" i="0" sz="1300" u="none" cap="none" strike="noStrike">
              <a:solidFill>
                <a:schemeClr val="dk1"/>
              </a:solidFill>
              <a:latin typeface="Calibri"/>
              <a:ea typeface="Calibri"/>
              <a:cs typeface="Calibri"/>
              <a:sym typeface="Calibri"/>
            </a:endParaRPr>
          </a:p>
        </p:txBody>
      </p:sp>
      <p:sp>
        <p:nvSpPr>
          <p:cNvPr id="340" name="Google Shape;340;p32"/>
          <p:cNvSpPr/>
          <p:nvPr/>
        </p:nvSpPr>
        <p:spPr>
          <a:xfrm>
            <a:off x="4732020" y="2228850"/>
            <a:ext cx="3909060" cy="617220"/>
          </a:xfrm>
          <a:prstGeom prst="rect">
            <a:avLst/>
          </a:prstGeom>
          <a:noFill/>
          <a:ln>
            <a:noFill/>
          </a:ln>
        </p:spPr>
        <p:txBody>
          <a:bodyPr anchorCtr="0" anchor="ctr" bIns="34275" lIns="68575" spcFirstLastPara="1" rIns="68575" wrap="square" tIns="34275">
            <a:noAutofit/>
          </a:bodyPr>
          <a:lstStyle/>
          <a:p>
            <a:pPr indent="0" lvl="0" marL="0" marR="0" rtl="0" algn="l">
              <a:lnSpc>
                <a:spcPct val="125000"/>
              </a:lnSpc>
              <a:spcBef>
                <a:spcPts val="0"/>
              </a:spcBef>
              <a:spcAft>
                <a:spcPts val="0"/>
              </a:spcAft>
              <a:buClr>
                <a:srgbClr val="6B6F76"/>
              </a:buClr>
              <a:buSzPts val="900"/>
              <a:buFont typeface="Calibri"/>
              <a:buNone/>
            </a:pPr>
            <a:r>
              <a:rPr b="0" i="0" lang="fr" sz="1100" u="none" cap="none" strike="noStrike">
                <a:solidFill>
                  <a:srgbClr val="6B6F76"/>
                </a:solidFill>
                <a:latin typeface="Calibri"/>
                <a:ea typeface="Calibri"/>
                <a:cs typeface="Calibri"/>
                <a:sym typeface="Calibri"/>
              </a:rPr>
              <a:t>Properties missing a lot of information should come with a visibly weaker estimate.</a:t>
            </a:r>
            <a:endParaRPr b="0" i="0" sz="1100" u="none" cap="none" strike="noStrike">
              <a:solidFill>
                <a:schemeClr val="dk1"/>
              </a:solidFill>
              <a:latin typeface="Calibri"/>
              <a:ea typeface="Calibri"/>
              <a:cs typeface="Calibri"/>
              <a:sym typeface="Calibri"/>
            </a:endParaRPr>
          </a:p>
        </p:txBody>
      </p:sp>
      <p:sp>
        <p:nvSpPr>
          <p:cNvPr id="341" name="Google Shape;341;p32"/>
          <p:cNvSpPr/>
          <p:nvPr/>
        </p:nvSpPr>
        <p:spPr>
          <a:xfrm>
            <a:off x="4732020" y="2948940"/>
            <a:ext cx="617220" cy="51435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D8D7D2"/>
              </a:buClr>
              <a:buSzPts val="2300"/>
              <a:buFont typeface="Cambria"/>
              <a:buNone/>
            </a:pPr>
            <a:r>
              <a:rPr b="1" i="0" lang="fr" sz="2300" u="none" cap="none" strike="noStrike">
                <a:solidFill>
                  <a:srgbClr val="1428FF"/>
                </a:solidFill>
                <a:latin typeface="Cambria"/>
                <a:ea typeface="Cambria"/>
                <a:cs typeface="Cambria"/>
                <a:sym typeface="Cambria"/>
              </a:rPr>
              <a:t>0</a:t>
            </a:r>
            <a:r>
              <a:rPr b="1" lang="fr" sz="2300">
                <a:solidFill>
                  <a:srgbClr val="1428FF"/>
                </a:solidFill>
                <a:latin typeface="Cambria"/>
                <a:ea typeface="Cambria"/>
                <a:cs typeface="Cambria"/>
                <a:sym typeface="Cambria"/>
              </a:rPr>
              <a:t>3</a:t>
            </a:r>
            <a:endParaRPr b="0" i="0" sz="2300" u="none" cap="none" strike="noStrike">
              <a:solidFill>
                <a:srgbClr val="1428FF"/>
              </a:solidFill>
              <a:latin typeface="Calibri"/>
              <a:ea typeface="Calibri"/>
              <a:cs typeface="Calibri"/>
              <a:sym typeface="Calibri"/>
            </a:endParaRPr>
          </a:p>
        </p:txBody>
      </p:sp>
      <p:sp>
        <p:nvSpPr>
          <p:cNvPr id="342" name="Google Shape;342;p32"/>
          <p:cNvSpPr/>
          <p:nvPr/>
        </p:nvSpPr>
        <p:spPr>
          <a:xfrm>
            <a:off x="4732020" y="3360420"/>
            <a:ext cx="390906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7181C"/>
              </a:buClr>
              <a:buSzPts val="1100"/>
              <a:buFont typeface="Calibri"/>
              <a:buNone/>
            </a:pPr>
            <a:r>
              <a:rPr b="1" lang="fr" sz="1300">
                <a:solidFill>
                  <a:srgbClr val="17181C"/>
                </a:solidFill>
                <a:latin typeface="Calibri"/>
                <a:ea typeface="Calibri"/>
                <a:cs typeface="Calibri"/>
                <a:sym typeface="Calibri"/>
              </a:rPr>
              <a:t>L</a:t>
            </a:r>
            <a:r>
              <a:rPr b="1" i="0" lang="fr" sz="1300" u="none" cap="none" strike="noStrike">
                <a:solidFill>
                  <a:srgbClr val="17181C"/>
                </a:solidFill>
                <a:latin typeface="Calibri"/>
                <a:ea typeface="Calibri"/>
                <a:cs typeface="Calibri"/>
                <a:sym typeface="Calibri"/>
              </a:rPr>
              <a:t>ess accuracy on the unusual</a:t>
            </a:r>
            <a:r>
              <a:rPr b="1" lang="fr" sz="1300">
                <a:solidFill>
                  <a:srgbClr val="17181C"/>
                </a:solidFill>
                <a:latin typeface="Calibri"/>
                <a:ea typeface="Calibri"/>
                <a:cs typeface="Calibri"/>
                <a:sym typeface="Calibri"/>
              </a:rPr>
              <a:t> listings</a:t>
            </a:r>
            <a:endParaRPr b="0" i="0" sz="1300" u="none" cap="none" strike="noStrike">
              <a:solidFill>
                <a:schemeClr val="dk1"/>
              </a:solidFill>
              <a:latin typeface="Calibri"/>
              <a:ea typeface="Calibri"/>
              <a:cs typeface="Calibri"/>
              <a:sym typeface="Calibri"/>
            </a:endParaRPr>
          </a:p>
        </p:txBody>
      </p:sp>
      <p:sp>
        <p:nvSpPr>
          <p:cNvPr id="343" name="Google Shape;343;p32"/>
          <p:cNvSpPr/>
          <p:nvPr/>
        </p:nvSpPr>
        <p:spPr>
          <a:xfrm>
            <a:off x="4732020" y="3703320"/>
            <a:ext cx="3909060" cy="617220"/>
          </a:xfrm>
          <a:prstGeom prst="rect">
            <a:avLst/>
          </a:prstGeom>
          <a:noFill/>
          <a:ln>
            <a:noFill/>
          </a:ln>
        </p:spPr>
        <p:txBody>
          <a:bodyPr anchorCtr="0" anchor="ctr" bIns="34275" lIns="68575" spcFirstLastPara="1" rIns="68575" wrap="square" tIns="34275">
            <a:noAutofit/>
          </a:bodyPr>
          <a:lstStyle/>
          <a:p>
            <a:pPr indent="0" lvl="0" marL="0" marR="0" rtl="0" algn="l">
              <a:lnSpc>
                <a:spcPct val="125000"/>
              </a:lnSpc>
              <a:spcBef>
                <a:spcPts val="0"/>
              </a:spcBef>
              <a:spcAft>
                <a:spcPts val="0"/>
              </a:spcAft>
              <a:buClr>
                <a:srgbClr val="6B6F76"/>
              </a:buClr>
              <a:buSzPts val="900"/>
              <a:buFont typeface="Calibri"/>
              <a:buNone/>
            </a:pPr>
            <a:r>
              <a:rPr b="0" i="0" lang="fr" sz="1100" u="none" cap="none" strike="noStrike">
                <a:solidFill>
                  <a:srgbClr val="6B6F76"/>
                </a:solidFill>
                <a:latin typeface="Calibri"/>
                <a:ea typeface="Calibri"/>
                <a:cs typeface="Calibri"/>
                <a:sym typeface="Calibri"/>
              </a:rPr>
              <a:t>Rare or exceptional properties have fewer comparables to learn from.</a:t>
            </a:r>
            <a:endParaRPr b="0" i="0" sz="1100" u="none" cap="none" strike="noStrike">
              <a:solidFill>
                <a:schemeClr val="dk1"/>
              </a:solidFill>
              <a:latin typeface="Calibri"/>
              <a:ea typeface="Calibri"/>
              <a:cs typeface="Calibri"/>
              <a:sym typeface="Calibri"/>
            </a:endParaRPr>
          </a:p>
        </p:txBody>
      </p:sp>
      <p:sp>
        <p:nvSpPr>
          <p:cNvPr id="344" name="Google Shape;344;p32"/>
          <p:cNvSpPr/>
          <p:nvPr/>
        </p:nvSpPr>
        <p:spPr>
          <a:xfrm>
            <a:off x="8558784" y="4855464"/>
            <a:ext cx="274320"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9CA0A8"/>
              </a:buClr>
              <a:buSzPts val="800"/>
              <a:buFont typeface="Calibri"/>
              <a:buNone/>
            </a:pPr>
            <a:r>
              <a:rPr lang="fr" sz="800">
                <a:solidFill>
                  <a:srgbClr val="9CA0A8"/>
                </a:solidFill>
                <a:latin typeface="Calibri"/>
                <a:ea typeface="Calibri"/>
                <a:cs typeface="Calibri"/>
                <a:sym typeface="Calibri"/>
              </a:rPr>
              <a:t>18</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9" name="Shape 349"/>
        <p:cNvGrpSpPr/>
        <p:nvPr/>
      </p:nvGrpSpPr>
      <p:grpSpPr>
        <a:xfrm>
          <a:off x="0" y="0"/>
          <a:ext cx="0" cy="0"/>
          <a:chOff x="0" y="0"/>
          <a:chExt cx="0" cy="0"/>
        </a:xfrm>
      </p:grpSpPr>
      <p:pic>
        <p:nvPicPr>
          <p:cNvPr descr="preencoded.png" id="350" name="Google Shape;350;p33"/>
          <p:cNvPicPr preferRelativeResize="0"/>
          <p:nvPr/>
        </p:nvPicPr>
        <p:blipFill rotWithShape="1">
          <a:blip r:embed="rId3">
            <a:alphaModFix/>
          </a:blip>
          <a:srcRect b="0" l="0" r="0" t="0"/>
          <a:stretch/>
        </p:blipFill>
        <p:spPr>
          <a:xfrm>
            <a:off x="7838694" y="274320"/>
            <a:ext cx="925830" cy="152029"/>
          </a:xfrm>
          <a:prstGeom prst="rect">
            <a:avLst/>
          </a:prstGeom>
          <a:noFill/>
          <a:ln>
            <a:noFill/>
          </a:ln>
        </p:spPr>
      </p:pic>
      <p:sp>
        <p:nvSpPr>
          <p:cNvPr id="351" name="Google Shape;351;p33"/>
          <p:cNvSpPr/>
          <p:nvPr/>
        </p:nvSpPr>
        <p:spPr>
          <a:xfrm>
            <a:off x="480060" y="315468"/>
            <a:ext cx="6172200" cy="219456"/>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428FF"/>
              </a:buClr>
              <a:buSzPts val="800"/>
              <a:buFont typeface="Calibri"/>
              <a:buNone/>
            </a:pPr>
            <a:r>
              <a:rPr b="1" i="0" lang="fr" sz="800" u="none" cap="none" strike="noStrike">
                <a:solidFill>
                  <a:srgbClr val="1428FF"/>
                </a:solidFill>
                <a:latin typeface="Calibri"/>
                <a:ea typeface="Calibri"/>
                <a:cs typeface="Calibri"/>
                <a:sym typeface="Calibri"/>
              </a:rPr>
              <a:t>9 · RISKS &amp; LIMITATIONS</a:t>
            </a:r>
            <a:endParaRPr b="0" i="0" sz="800" u="none" cap="none" strike="noStrike">
              <a:solidFill>
                <a:schemeClr val="dk1"/>
              </a:solidFill>
              <a:latin typeface="Calibri"/>
              <a:ea typeface="Calibri"/>
              <a:cs typeface="Calibri"/>
              <a:sym typeface="Calibri"/>
            </a:endParaRPr>
          </a:p>
        </p:txBody>
      </p:sp>
      <p:sp>
        <p:nvSpPr>
          <p:cNvPr id="352" name="Google Shape;352;p33"/>
          <p:cNvSpPr/>
          <p:nvPr/>
        </p:nvSpPr>
        <p:spPr>
          <a:xfrm>
            <a:off x="480060" y="651510"/>
            <a:ext cx="8092440" cy="5486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7181C"/>
              </a:buClr>
              <a:buSzPts val="1900"/>
              <a:buFont typeface="Cambria"/>
              <a:buNone/>
            </a:pPr>
            <a:r>
              <a:rPr b="1" lang="fr" sz="1900">
                <a:solidFill>
                  <a:srgbClr val="17181C"/>
                </a:solidFill>
                <a:latin typeface="Cambria"/>
                <a:ea typeface="Cambria"/>
                <a:cs typeface="Cambria"/>
                <a:sym typeface="Cambria"/>
              </a:rPr>
              <a:t>Potential features to add to the model</a:t>
            </a:r>
            <a:endParaRPr b="0" i="0" sz="1900" u="none" cap="none" strike="noStrike">
              <a:solidFill>
                <a:schemeClr val="dk1"/>
              </a:solidFill>
              <a:latin typeface="Calibri"/>
              <a:ea typeface="Calibri"/>
              <a:cs typeface="Calibri"/>
              <a:sym typeface="Calibri"/>
            </a:endParaRPr>
          </a:p>
        </p:txBody>
      </p:sp>
      <p:sp>
        <p:nvSpPr>
          <p:cNvPr id="353" name="Google Shape;353;p33"/>
          <p:cNvSpPr/>
          <p:nvPr/>
        </p:nvSpPr>
        <p:spPr>
          <a:xfrm>
            <a:off x="480060" y="1714500"/>
            <a:ext cx="8161020" cy="37719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17181C"/>
              </a:buClr>
              <a:buSzPts val="1200"/>
              <a:buFont typeface="Calibri"/>
              <a:buNone/>
            </a:pPr>
            <a:r>
              <a:rPr b="1" lang="fr">
                <a:solidFill>
                  <a:srgbClr val="17181C"/>
                </a:solidFill>
                <a:latin typeface="Calibri"/>
                <a:ea typeface="Calibri"/>
                <a:cs typeface="Calibri"/>
                <a:sym typeface="Calibri"/>
              </a:rPr>
              <a:t>Available means of transport nearby</a:t>
            </a:r>
            <a:r>
              <a:rPr b="1" i="0" lang="fr" u="none" cap="none" strike="noStrike">
                <a:solidFill>
                  <a:srgbClr val="17181C"/>
                </a:solidFill>
                <a:latin typeface="Calibri"/>
                <a:ea typeface="Calibri"/>
                <a:cs typeface="Calibri"/>
                <a:sym typeface="Calibri"/>
              </a:rPr>
              <a:t>, schools, neighborhood quality</a:t>
            </a:r>
            <a:endParaRPr b="0" i="0" u="none" cap="none" strike="noStrike">
              <a:solidFill>
                <a:schemeClr val="dk1"/>
              </a:solidFill>
              <a:latin typeface="Calibri"/>
              <a:ea typeface="Calibri"/>
              <a:cs typeface="Calibri"/>
              <a:sym typeface="Calibri"/>
            </a:endParaRPr>
          </a:p>
        </p:txBody>
      </p:sp>
      <p:sp>
        <p:nvSpPr>
          <p:cNvPr id="354" name="Google Shape;354;p33"/>
          <p:cNvSpPr/>
          <p:nvPr/>
        </p:nvSpPr>
        <p:spPr>
          <a:xfrm>
            <a:off x="480060" y="2125980"/>
            <a:ext cx="8161020" cy="617220"/>
          </a:xfrm>
          <a:prstGeom prst="rect">
            <a:avLst/>
          </a:prstGeom>
          <a:noFill/>
          <a:ln>
            <a:noFill/>
          </a:ln>
        </p:spPr>
        <p:txBody>
          <a:bodyPr anchorCtr="0" anchor="t" bIns="34275" lIns="68575" spcFirstLastPara="1" rIns="68575" wrap="square" tIns="34275">
            <a:noAutofit/>
          </a:bodyPr>
          <a:lstStyle/>
          <a:p>
            <a:pPr indent="0" lvl="0" marL="0" marR="0" rtl="0" algn="l">
              <a:lnSpc>
                <a:spcPct val="130000"/>
              </a:lnSpc>
              <a:spcBef>
                <a:spcPts val="0"/>
              </a:spcBef>
              <a:spcAft>
                <a:spcPts val="0"/>
              </a:spcAft>
              <a:buClr>
                <a:srgbClr val="6B6F76"/>
              </a:buClr>
              <a:buSzPts val="1000"/>
              <a:buFont typeface="Calibri"/>
              <a:buNone/>
            </a:pPr>
            <a:r>
              <a:rPr b="0" i="0" lang="fr" sz="1200" u="none" cap="none" strike="noStrike">
                <a:solidFill>
                  <a:srgbClr val="6B6F76"/>
                </a:solidFill>
                <a:latin typeface="Calibri"/>
                <a:ea typeface="Calibri"/>
                <a:cs typeface="Calibri"/>
                <a:sym typeface="Calibri"/>
              </a:rPr>
              <a:t>All known drivers of what a buyer is willing to pay in Paris </a:t>
            </a:r>
            <a:r>
              <a:rPr lang="fr" sz="1200">
                <a:solidFill>
                  <a:srgbClr val="6B6F76"/>
                </a:solidFill>
                <a:latin typeface="Calibri"/>
                <a:ea typeface="Calibri"/>
                <a:cs typeface="Calibri"/>
                <a:sym typeface="Calibri"/>
              </a:rPr>
              <a:t>(</a:t>
            </a:r>
            <a:r>
              <a:rPr b="0" i="0" lang="fr" sz="1200" u="none" cap="none" strike="noStrike">
                <a:solidFill>
                  <a:srgbClr val="6B6F76"/>
                </a:solidFill>
                <a:latin typeface="Calibri"/>
                <a:ea typeface="Calibri"/>
                <a:cs typeface="Calibri"/>
                <a:sym typeface="Calibri"/>
              </a:rPr>
              <a:t>none of them present in this dataset today</a:t>
            </a:r>
            <a:r>
              <a:rPr lang="fr" sz="1200">
                <a:solidFill>
                  <a:srgbClr val="6B6F76"/>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cxnSp>
        <p:nvCxnSpPr>
          <p:cNvPr id="355" name="Google Shape;355;p33"/>
          <p:cNvCxnSpPr/>
          <p:nvPr/>
        </p:nvCxnSpPr>
        <p:spPr>
          <a:xfrm>
            <a:off x="480060" y="2777490"/>
            <a:ext cx="8161020" cy="0"/>
          </a:xfrm>
          <a:prstGeom prst="straightConnector1">
            <a:avLst/>
          </a:prstGeom>
          <a:noFill/>
          <a:ln cap="flat" cmpd="sng" w="12700">
            <a:solidFill>
              <a:srgbClr val="1428FF"/>
            </a:solidFill>
            <a:prstDash val="solid"/>
            <a:round/>
            <a:headEnd len="sm" w="sm" type="none"/>
            <a:tailEnd len="sm" w="sm" type="none"/>
          </a:ln>
        </p:spPr>
      </p:cxnSp>
      <p:sp>
        <p:nvSpPr>
          <p:cNvPr id="356" name="Google Shape;356;p33"/>
          <p:cNvSpPr/>
          <p:nvPr/>
        </p:nvSpPr>
        <p:spPr>
          <a:xfrm>
            <a:off x="480060" y="2914650"/>
            <a:ext cx="8161020" cy="37719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17181C"/>
              </a:buClr>
              <a:buSzPts val="1200"/>
              <a:buFont typeface="Calibri"/>
              <a:buNone/>
            </a:pPr>
            <a:r>
              <a:rPr b="1" i="0" lang="fr" u="none" cap="none" strike="noStrike">
                <a:solidFill>
                  <a:srgbClr val="17181C"/>
                </a:solidFill>
                <a:latin typeface="Calibri"/>
                <a:ea typeface="Calibri"/>
                <a:cs typeface="Calibri"/>
                <a:sym typeface="Calibri"/>
              </a:rPr>
              <a:t>Multiple years of listings</a:t>
            </a:r>
            <a:endParaRPr b="0" i="0" u="none" cap="none" strike="noStrike">
              <a:solidFill>
                <a:schemeClr val="dk1"/>
              </a:solidFill>
              <a:latin typeface="Calibri"/>
              <a:ea typeface="Calibri"/>
              <a:cs typeface="Calibri"/>
              <a:sym typeface="Calibri"/>
            </a:endParaRPr>
          </a:p>
        </p:txBody>
      </p:sp>
      <p:sp>
        <p:nvSpPr>
          <p:cNvPr id="357" name="Google Shape;357;p33"/>
          <p:cNvSpPr/>
          <p:nvPr/>
        </p:nvSpPr>
        <p:spPr>
          <a:xfrm>
            <a:off x="480060" y="3326130"/>
            <a:ext cx="8161020" cy="617220"/>
          </a:xfrm>
          <a:prstGeom prst="rect">
            <a:avLst/>
          </a:prstGeom>
          <a:noFill/>
          <a:ln>
            <a:noFill/>
          </a:ln>
        </p:spPr>
        <p:txBody>
          <a:bodyPr anchorCtr="0" anchor="t" bIns="34275" lIns="68575" spcFirstLastPara="1" rIns="68575" wrap="square" tIns="34275">
            <a:noAutofit/>
          </a:bodyPr>
          <a:lstStyle/>
          <a:p>
            <a:pPr indent="0" lvl="0" marL="0" marR="0" rtl="0" algn="l">
              <a:lnSpc>
                <a:spcPct val="130000"/>
              </a:lnSpc>
              <a:spcBef>
                <a:spcPts val="0"/>
              </a:spcBef>
              <a:spcAft>
                <a:spcPts val="0"/>
              </a:spcAft>
              <a:buClr>
                <a:srgbClr val="6B6F76"/>
              </a:buClr>
              <a:buSzPts val="1000"/>
              <a:buFont typeface="Calibri"/>
              <a:buNone/>
            </a:pPr>
            <a:r>
              <a:rPr lang="fr" sz="1200">
                <a:solidFill>
                  <a:srgbClr val="6B6F76"/>
                </a:solidFill>
                <a:latin typeface="Calibri"/>
                <a:ea typeface="Calibri"/>
                <a:cs typeface="Calibri"/>
                <a:sym typeface="Calibri"/>
              </a:rPr>
              <a:t>All the listing are from 2025 year so the results may not hold beyond that year </a:t>
            </a:r>
            <a:endParaRPr b="0" i="0" sz="1200" u="none" cap="none" strike="noStrike">
              <a:solidFill>
                <a:schemeClr val="dk1"/>
              </a:solidFill>
              <a:latin typeface="Calibri"/>
              <a:ea typeface="Calibri"/>
              <a:cs typeface="Calibri"/>
              <a:sym typeface="Calibri"/>
            </a:endParaRPr>
          </a:p>
        </p:txBody>
      </p:sp>
      <p:sp>
        <p:nvSpPr>
          <p:cNvPr id="358" name="Google Shape;358;p33"/>
          <p:cNvSpPr/>
          <p:nvPr/>
        </p:nvSpPr>
        <p:spPr>
          <a:xfrm>
            <a:off x="8558784" y="4855464"/>
            <a:ext cx="274320"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9CA0A8"/>
              </a:buClr>
              <a:buSzPts val="800"/>
              <a:buFont typeface="Calibri"/>
              <a:buNone/>
            </a:pPr>
            <a:r>
              <a:rPr lang="fr" sz="800">
                <a:solidFill>
                  <a:srgbClr val="9CA0A8"/>
                </a:solidFill>
                <a:latin typeface="Calibri"/>
                <a:ea typeface="Calibri"/>
                <a:cs typeface="Calibri"/>
                <a:sym typeface="Calibri"/>
              </a:rPr>
              <a:t>19</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363" name="Shape 363"/>
        <p:cNvGrpSpPr/>
        <p:nvPr/>
      </p:nvGrpSpPr>
      <p:grpSpPr>
        <a:xfrm>
          <a:off x="0" y="0"/>
          <a:ext cx="0" cy="0"/>
          <a:chOff x="0" y="0"/>
          <a:chExt cx="0" cy="0"/>
        </a:xfrm>
      </p:grpSpPr>
      <p:pic>
        <p:nvPicPr>
          <p:cNvPr descr="preencoded.png" id="364" name="Google Shape;364;p34"/>
          <p:cNvPicPr preferRelativeResize="0"/>
          <p:nvPr/>
        </p:nvPicPr>
        <p:blipFill rotWithShape="1">
          <a:blip r:embed="rId3">
            <a:alphaModFix/>
          </a:blip>
          <a:srcRect b="0" l="0" r="0" t="0"/>
          <a:stretch/>
        </p:blipFill>
        <p:spPr>
          <a:xfrm>
            <a:off x="7838694" y="274320"/>
            <a:ext cx="925830" cy="152029"/>
          </a:xfrm>
          <a:prstGeom prst="rect">
            <a:avLst/>
          </a:prstGeom>
          <a:noFill/>
          <a:ln>
            <a:noFill/>
          </a:ln>
        </p:spPr>
      </p:pic>
      <p:sp>
        <p:nvSpPr>
          <p:cNvPr id="365" name="Google Shape;365;p34"/>
          <p:cNvSpPr/>
          <p:nvPr/>
        </p:nvSpPr>
        <p:spPr>
          <a:xfrm>
            <a:off x="-42150" y="1993650"/>
            <a:ext cx="9144000" cy="11562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8B8E94"/>
              </a:buClr>
              <a:buSzPts val="1400"/>
              <a:buFont typeface="Cambria"/>
              <a:buNone/>
            </a:pPr>
            <a:r>
              <a:rPr b="0" i="1" lang="fr" sz="6000" u="none" cap="none" strike="noStrike">
                <a:solidFill>
                  <a:srgbClr val="8B8E94"/>
                </a:solidFill>
                <a:latin typeface="Cambria"/>
                <a:ea typeface="Cambria"/>
                <a:cs typeface="Cambria"/>
                <a:sym typeface="Cambria"/>
              </a:rPr>
              <a:t>Thank you</a:t>
            </a:r>
            <a:endParaRPr b="0" i="0" sz="6000" u="none" cap="none" strike="noStrike">
              <a:solidFill>
                <a:schemeClr val="dk1"/>
              </a:solidFill>
              <a:latin typeface="Calibri"/>
              <a:ea typeface="Calibri"/>
              <a:cs typeface="Calibri"/>
              <a:sym typeface="Calibri"/>
            </a:endParaRPr>
          </a:p>
        </p:txBody>
      </p:sp>
      <p:sp>
        <p:nvSpPr>
          <p:cNvPr id="366" name="Google Shape;366;p34"/>
          <p:cNvSpPr/>
          <p:nvPr/>
        </p:nvSpPr>
        <p:spPr>
          <a:xfrm>
            <a:off x="8558784" y="4855464"/>
            <a:ext cx="274320"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55575C"/>
              </a:buClr>
              <a:buSzPts val="800"/>
              <a:buFont typeface="Calibri"/>
              <a:buNone/>
            </a:pPr>
            <a:r>
              <a:rPr lang="fr" sz="800">
                <a:solidFill>
                  <a:srgbClr val="55575C"/>
                </a:solidFill>
                <a:latin typeface="Calibri"/>
                <a:ea typeface="Calibri"/>
                <a:cs typeface="Calibri"/>
                <a:sym typeface="Calibri"/>
              </a:rPr>
              <a:t>20</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